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 session for developers coming from SQL Server, PostgreSQL, MySQL.
Mapping what you know to MongoDB concepts. 2 hours, demos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blocks over 2 hours. Demos woven throughout — not saved for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HISTORY FRAMING — spend 2-3 minutes here. This slide earns you credibility with relational developers.
Era 1 — WHY normalization was brilliant (not wrong, just solving a different problem):
  • Disk was genuinely expensive. IBM charged per MB. Storing the same string 10,000 times was a real cost.
  • One source of truth meant no inconsistency: change a city name in one row, not thousands.
  • Codd published 12 rules in 1970 — mathematical proofs, not opinions. Hard to argue with math.
  • Internal enterprise apps (banking, ERP, HR) had stable schemas and predictable, low concurrency.
Era 2 — WHY it was tried AND why it was dropped for OLTP:
  • Amazon (2003-2007) publicly described JOIN bottlenecks. They started denormalizing. But their engineers were brilliant and had bespoke tooling.
  • Data warehouses DID successfully denormalize (star schema, Kimball) — but that's analytics, not OLTP.
  • Without tooling: if you embed a customer's name in every order row and they change their name, you write 50,000 rows. That's an update anomaly — exactly what normalization was designed to prevent.
  • So the industry concluded: "denormalization for OLTP = bad idea." That conclusion was RIGHT for that era.
Era 3 — WHY the constraint changed and why NOW is different:
  • You cannot JOIN across shards. If customer 123's data is on shard A and order data is on shard B, there is no JOIN. Period. Embedding is not optional — it's forced.
  • Read/write asymmetry flipped: modern web apps do 100:1 reads to writes. Design for the 99 reads, not the 1 write.
  • JSON IS your API. Your Node/Python app receives a nested object. Storing it shredded into 3 tables and reassembling it on every request is wasted work.
  • MongoDB provides the tooling: atomic updates to nested arrays (no update anomalies), document validation (schema enforcement), transactions for when you genuinely need them.
Punchline — say it out loud:
  "Normalization solved the constraints of 1975. Embedding solves the constraints of 2025."
  The constraints changed. The answer changed. That's not fashion — that's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Data Modeling — the biggest mental shift. Design for ACCESS PATTERNS, not normalization.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SQL concept maps directly. Documents hold arrays + nested objects natively — no junction tables.
ObjectId = auto-generated primary key (_id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 builds credibility. Atlas SQL interface covers analytics use cases.
Ask: "What's your biggest pain point with your relational DB?" — answers map to MongoDB strengths.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SETUP — spend ~2 minutes here to anchor the audience.
Three entities from a familiar domain — e-commerce order management.
Walk through each entity:
• Customer: who buys. Region (APAC/EMEA/AMER) and tier (gold/silver/bronze).
• Order: what was purchased. Belongs to one customer (1:N). Status + total amount.
• Order Item: line items inside an order (1:N). SKU, quantity, unit price.
Point to relationship arrows:
  Customer places many Orders.
  Each Order contains many Order Items.
Preview what's coming:
  01 — SQL: 3 normalized tables, foreign keys, JOIN query just to display one order
  02 — MongoDB: collapses into ONE document — items embedded inside the order, customer referenced by ID
  03 — Every query, index, and transaction demo uses these exact entities — SQL vs MongoDB side by side
Say: "Keep these three entities in your head. By the end of this section you will have seen the same data modeled two completely different ways — and understand WHY MongoDB makes the choices it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Sets up the "why embedding matters" story.
Walk through the three tables — classic 3NF normalization.
Point to the JOIN query: "To display ONE order with its items and customer, you need 3 tables, 2 JOINs."
Then say: "In MongoDB, this entire result is stored as ONE document. One read. No joins."
This leads directly into the next slide — Embedding vs Referencing.
Key insight: normalization was invented to save disk space in the 1970s.
MongoDB trades some redundancy for dramatically simpler reads — usually the right trade for modern apps.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Replaces the normalization conversation. Design for ACCESS PATTERNS, not normalization.
Embed: data accessed together, one-to-few, read performance priority.
Reference: independent access, one-to-many-large, many-to-many.
From the scenario: items EMBED (always with order). Customer REFERENCE (queried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migration scripts. No downtime windows. No ALTER TABLE locking 500M rows.
v1 (3 fields) and v2 (7 fields) coexist in the same collection. Your new code writes new fields, old code still reads old docs.
$jsonSchema: validationAction:"warn" during migration, then "error" once all docs updated.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Every SQL clause has a MongoDB equivalent. You will be writing queries in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card — keep this visible during the first Compass demo.
ALWAYS use $set in updateOne — without it you REPLACE the entire document.
findOneAndUpdate(): atomic find+modify, great for counters and state machines.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Filters are JSON objects — no SQL injection, composable as variables.
$gt+$lt combined = BETWEEN. $in array built dynamically. $exists great during schema migrations.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tags:"mongodb" } replaces a full SQL junction table JOIN — one line.
$elemMatch: both conditions on the SAME array element.
$slice in projection: return only first N array elements.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stage transforms data and passes to the next — a Unix pipe for data.
Always put $match first. $unwind flattens $lookup array. $group uses $sum, $avg, $addToSet.
Other: $addFields, $bucket (ranges), $facet (parallel), $out (write to collection).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 centerpiece. 10-12 minutes.
Compass Aggregation Builder: add one stage at a time. Preview updates live after each stage.
After building: Export to Language → Node.js → free driver code.
Note: this query uses the SAME entities from our scenario — customers, orders, order_items.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Indexes — same concept as SQL, with extra power for arrays and TTL.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ESR Rule: Equality fields first, Sort fields second, Range fields last.
TTL: { expireAfterSeconds:3600 } — auto-expire sessions, temp data, logs.
Sparse: only indexes docs where field exists — saves space for optional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Identical to EXPLAIN ANALYZE in PostgreSQL. COLLSCAN = alarm. IXSCAN = good.
totalDocsExamined &gt;&gt; nReturned → missing or wrong index.
In Compass: visual tree view, color-coded. Atlas Performance Advisor: automatic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500,000 doc orders collection. Do NOT pre-create index.
1. Run explain → COLLSCAN, 500K examined, ~890ms
2. createIndex({ customerId:1 })
3. Same query → IXSCAN, 12 examined, 2ms
"Same query. Same data. One line. 445x faster."
Atlas Performance Advisor finds these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Address the #1 misconception — "MongoDB doesn't have transactions." It does, since v4.0.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"Best transaction is the one you don't need." Embedding often makes transactions unnecessary.
When you DO need them: money transfers, seat booking, inventory reservation + order +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The ecosystem around MongoDB that makes daily developer life easy.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Compass: visual Aggregation Builder exports to driver code. Atlas free tier: 2 min to live cluster.
Change Streams: db.orders.watch([{ $match:{"fullDocument.status":"shipped"} }]) — event-driven.
TypeScript: full type inference with typed collections.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mistake: mapping SQL tables 1:1 to MongoDB collections without rethinking the model.
Strangler Fig: keep SQL alive in parallel, shift reads incrementally, decommission only after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path: Atlas free account → M001 → M121. Homework: redesign a 2-3 table SQL schema as MongoDB docs. That exercise solidifies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Compass → connect to Atlas or localhost. Demos: Dataset setup · CRUD · Aggregation · Indexes · Node.js · Transactions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Customer → Order → Order Item entities from the scenario slide.
Notice: NO order_items collection. Items are EMBEDDED inside orders.
customers collection + orders collection = 2 collections instead of 3 SQL tables.
Run db.orders.findOne() to show the full document with embedded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"items.sku":"A1" — replaces the SQL JOIN query shown in the SQL Normalized slide. One line.
$set REQUIRED for partial update — without it you replace the entire document.
Positional $ — updates ONLY the matched array element.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in Compass Aggregation Builder one stage at a time. Show live preview after each stage.
$addToSet: collect unique tiers per region. $round: expression operator.
After: Export to Language → Node.js → free driver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COLLSCAN visible. "On 5M docs this is your 3am incident."
Step 4: Confirm IXSCAN, totalDocsExamined=nReturned — perfect selectivity.
Step 5: TTL only for pending — shipped/completed kept forever (partialFilterExpression).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$setOnInsert: only runs on INSERT path of upsert — createdAt never overwritten on update.
Change Streams: event-driven, no poll interval. fullDocument:"updateLookup" returns full doc on update.
TypeScript: db.collection&lt;Order&gt;("orders") → full type inference.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insert inventory qty:2 for "A1". Try order qty:3 → thrown, abortTransaction, inventory unchanged. Order qty:1 → succeeds.
Design insight: "If order embeds items, creating an order IS one atomic write — no transaction needed. Embed first, transact when necessary."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2B"/>
        </a:solidFill>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00ED64"/>
          </a:solidFill>
          <a:ln w="12700">
            <a:solidFill>
              <a:srgbClr val="00ED64"/>
            </a:solidFill>
            <a:prstDash val="solid"/>
          </a:ln>
        </p:spPr>
      </p:sp>
      <p:sp>
        <p:nvSpPr>
          <p:cNvPr id="3" name="Shape 1"/>
          <p:cNvSpPr/>
          <p:nvPr/>
        </p:nvSpPr>
        <p:spPr>
          <a:xfrm>
            <a:off x="8412480" y="-1097280"/>
            <a:ext cx="5943600" cy="5943600"/>
          </a:xfrm>
          <a:prstGeom prst="ellipse">
            <a:avLst/>
          </a:prstGeom>
          <a:solidFill>
            <a:srgbClr val="023430">
              <a:alpha val="65000"/>
            </a:srgbClr>
          </a:solidFill>
          <a:ln w="12700">
            <a:solidFill>
              <a:srgbClr val="023430"/>
            </a:solidFill>
            <a:prstDash val="solid"/>
          </a:ln>
        </p:spPr>
      </p:sp>
      <p:sp>
        <p:nvSpPr>
          <p:cNvPr id="4" name="Shape 2"/>
          <p:cNvSpPr/>
          <p:nvPr/>
        </p:nvSpPr>
        <p:spPr>
          <a:xfrm>
            <a:off x="10241280" y="3474720"/>
            <a:ext cx="3200400" cy="3200400"/>
          </a:xfrm>
          <a:prstGeom prst="ellipse">
            <a:avLst/>
          </a:prstGeom>
          <a:solidFill>
            <a:srgbClr val="00ED64">
              <a:alpha val="18000"/>
            </a:srgbClr>
          </a:solidFill>
          <a:ln w="12700">
            <a:solidFill>
              <a:srgbClr val="00ED64"/>
            </a:solidFill>
            <a:prstDash val="solid"/>
          </a:ln>
        </p:spPr>
      </p:sp>
      <p:sp>
        <p:nvSpPr>
          <p:cNvPr id="5" name="Text 3"/>
          <p:cNvSpPr/>
          <p:nvPr/>
        </p:nvSpPr>
        <p:spPr>
          <a:xfrm>
            <a:off x="777240" y="1005840"/>
            <a:ext cx="9144000" cy="2743200"/>
          </a:xfrm>
          <a:prstGeom prst="rect">
            <a:avLst/>
          </a:prstGeom>
          <a:noFill/>
          <a:ln/>
        </p:spPr>
        <p:txBody>
          <a:bodyPr wrap="square" lIns="0" tIns="0" rIns="0" bIns="0" rtlCol="0" anchor="ctr"/>
          <a:lstStyle/>
          <a:p>
            <a:pPr indent="0" marL="0">
              <a:buNone/>
            </a:pPr>
            <a:r>
              <a:rPr lang="en-US" sz="5800" b="1" dirty="0">
                <a:solidFill>
                  <a:srgbClr val="FFFFFF"/>
                </a:solidFill>
                <a:latin typeface="Lexend Deca" pitchFamily="34" charset="0"/>
                <a:ea typeface="Lexend Deca" pitchFamily="34" charset="-122"/>
                <a:cs typeface="Lexend Deca" pitchFamily="34" charset="-120"/>
              </a:rPr>
              <a:t>MongoDB for</a:t>
            </a:r>
            <a:endParaRPr lang="en-US" sz="5800" dirty="0"/>
          </a:p>
          <a:p>
            <a:pPr indent="0" marL="0">
              <a:buNone/>
            </a:pPr>
            <a:r>
              <a:rPr lang="en-US" sz="5800" b="1" dirty="0">
                <a:solidFill>
                  <a:srgbClr val="FFFFFF"/>
                </a:solidFill>
                <a:latin typeface="Lexend Deca" pitchFamily="34" charset="0"/>
                <a:ea typeface="Lexend Deca" pitchFamily="34" charset="-122"/>
                <a:cs typeface="Lexend Deca" pitchFamily="34" charset="-120"/>
              </a:rPr>
              <a:t>Relational Developers</a:t>
            </a:r>
            <a:endParaRPr lang="en-US" sz="5800" dirty="0"/>
          </a:p>
        </p:txBody>
      </p:sp>
      <p:sp>
        <p:nvSpPr>
          <p:cNvPr id="6" name="Text 4"/>
          <p:cNvSpPr/>
          <p:nvPr/>
        </p:nvSpPr>
        <p:spPr>
          <a:xfrm>
            <a:off x="777240" y="3886200"/>
            <a:ext cx="8229600" cy="777240"/>
          </a:xfrm>
          <a:prstGeom prst="rect">
            <a:avLst/>
          </a:prstGeom>
          <a:noFill/>
          <a:ln/>
        </p:spPr>
        <p:txBody>
          <a:bodyPr wrap="square" lIns="0" tIns="0" rIns="0" bIns="0" rtlCol="0" anchor="ctr"/>
          <a:lstStyle/>
          <a:p>
            <a:pPr indent="0" marL="0">
              <a:buNone/>
            </a:pPr>
            <a:r>
              <a:rPr lang="en-US" sz="2600" i="1" dirty="0">
                <a:solidFill>
                  <a:srgbClr val="00ED64"/>
                </a:solidFill>
                <a:latin typeface="Lexend Deca" pitchFamily="34" charset="0"/>
                <a:ea typeface="Lexend Deca" pitchFamily="34" charset="-122"/>
                <a:cs typeface="Lexend Deca" pitchFamily="34" charset="-120"/>
              </a:rPr>
              <a:t>Think Documents, Not Rows</a:t>
            </a:r>
            <a:endParaRPr lang="en-US" sz="2600" dirty="0"/>
          </a:p>
        </p:txBody>
      </p:sp>
      <p:sp>
        <p:nvSpPr>
          <p:cNvPr id="7" name="Text 5"/>
          <p:cNvSpPr/>
          <p:nvPr/>
        </p:nvSpPr>
        <p:spPr>
          <a:xfrm>
            <a:off x="777240" y="4754880"/>
            <a:ext cx="7315200" cy="502920"/>
          </a:xfrm>
          <a:prstGeom prst="rect">
            <a:avLst/>
          </a:prstGeom>
          <a:noFill/>
          <a:ln/>
        </p:spPr>
        <p:txBody>
          <a:bodyPr wrap="square" lIns="0" tIns="0" rIns="0" bIns="0" rtlCol="0" anchor="ctr"/>
          <a:lstStyle/>
          <a:p>
            <a:pPr indent="0" marL="0">
              <a:buNone/>
            </a:pPr>
            <a:r>
              <a:rPr lang="en-US" sz="1600" dirty="0">
                <a:solidFill>
                  <a:srgbClr val="B8C4C2"/>
                </a:solidFill>
                <a:latin typeface="Lexend Deca" pitchFamily="34" charset="0"/>
                <a:ea typeface="Lexend Deca" pitchFamily="34" charset="-122"/>
                <a:cs typeface="Lexend Deca" pitchFamily="34" charset="-120"/>
              </a:rPr>
              <a:t>A 2-Hour Hands-On Session  ·  Developer Track</a:t>
            </a:r>
            <a:endParaRPr lang="en-US" sz="1600" dirty="0"/>
          </a:p>
        </p:txBody>
      </p:sp>
      <p:sp>
        <p:nvSpPr>
          <p:cNvPr id="8" name="Shape 6"/>
          <p:cNvSpPr/>
          <p:nvPr/>
        </p:nvSpPr>
        <p:spPr>
          <a:xfrm>
            <a:off x="0" y="6656832"/>
            <a:ext cx="12188952" cy="201168"/>
          </a:xfrm>
          <a:prstGeom prst="rect">
            <a:avLst/>
          </a:prstGeom>
          <a:solidFill>
            <a:srgbClr val="00ED64"/>
          </a:solidFill>
          <a:ln w="12700">
            <a:solidFill>
              <a:srgbClr val="00ED64"/>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1E2B"/>
        </a:solidFill>
      </p:bgPr>
    </p:bg>
    <p:spTree>
      <p:nvGrpSpPr>
        <p:cNvPr id="1" name=""/>
        <p:cNvGrpSpPr/>
        <p:nvPr/>
      </p:nvGrpSpPr>
      <p:grpSpPr>
        <a:xfrm>
          <a:off x="0" y="0"/>
          <a:ext cx="0" cy="0"/>
          <a:chOff x="0" y="0"/>
          <a:chExt cx="0" cy="0"/>
        </a:xfrm>
      </p:grpSpPr>
      <p:sp>
        <p:nvSpPr>
          <p:cNvPr id="2" name="Shape 0"/>
          <p:cNvSpPr/>
          <p:nvPr/>
        </p:nvSpPr>
        <p:spPr>
          <a:xfrm>
            <a:off x="0" y="6656832"/>
            <a:ext cx="12188952" cy="201168"/>
          </a:xfrm>
          <a:prstGeom prst="rect">
            <a:avLst/>
          </a:prstGeom>
          <a:solidFill>
            <a:srgbClr val="00ED64"/>
          </a:solidFill>
          <a:ln w="12700">
            <a:solidFill>
              <a:srgbClr val="00ED64"/>
            </a:solidFill>
            <a:prstDash val="solid"/>
          </a:ln>
        </p:spPr>
      </p:sp>
      <p:sp>
        <p:nvSpPr>
          <p:cNvPr id="3" name="Text 1"/>
          <p:cNvSpPr/>
          <p:nvPr/>
        </p:nvSpPr>
        <p:spPr>
          <a:xfrm>
            <a:off x="566928" y="201168"/>
            <a:ext cx="11055096" cy="594360"/>
          </a:xfrm>
          <a:prstGeom prst="rect">
            <a:avLst/>
          </a:prstGeom>
          <a:noFill/>
          <a:ln/>
        </p:spPr>
        <p:txBody>
          <a:bodyPr wrap="square" lIns="0" tIns="0" rIns="0" bIns="0" rtlCol="0" anchor="ctr"/>
          <a:lstStyle/>
          <a:p>
            <a:pPr indent="0" marL="0">
              <a:buNone/>
            </a:pPr>
            <a:r>
              <a:rPr lang="en-US" sz="3000" b="1" dirty="0">
                <a:solidFill>
                  <a:srgbClr val="FFFFFF"/>
                </a:solidFill>
                <a:latin typeface="Lexend Deca" pitchFamily="34" charset="0"/>
                <a:ea typeface="Lexend Deca" pitchFamily="34" charset="-122"/>
                <a:cs typeface="Lexend Deca" pitchFamily="34" charset="-120"/>
              </a:rPr>
              <a:t>Agenda</a:t>
            </a:r>
            <a:endParaRPr lang="en-US" sz="3000" dirty="0"/>
          </a:p>
        </p:txBody>
      </p:sp>
      <p:sp>
        <p:nvSpPr>
          <p:cNvPr id="4" name="Shape 2"/>
          <p:cNvSpPr/>
          <p:nvPr/>
        </p:nvSpPr>
        <p:spPr>
          <a:xfrm>
            <a:off x="566928" y="822960"/>
            <a:ext cx="1280160" cy="54864"/>
          </a:xfrm>
          <a:prstGeom prst="rect">
            <a:avLst/>
          </a:prstGeom>
          <a:solidFill>
            <a:srgbClr val="00ED64"/>
          </a:solidFill>
          <a:ln w="12700">
            <a:solidFill>
              <a:srgbClr val="00ED64"/>
            </a:solidFill>
            <a:prstDash val="solid"/>
          </a:ln>
        </p:spPr>
      </p:sp>
      <p:sp>
        <p:nvSpPr>
          <p:cNvPr id="5" name="Shape 3"/>
          <p:cNvSpPr/>
          <p:nvPr/>
        </p:nvSpPr>
        <p:spPr>
          <a:xfrm>
            <a:off x="566928" y="960120"/>
            <a:ext cx="2084832" cy="5303520"/>
          </a:xfrm>
          <a:prstGeom prst="rect">
            <a:avLst/>
          </a:prstGeom>
          <a:solidFill>
            <a:srgbClr val="023430"/>
          </a:solidFill>
          <a:ln w="19050">
            <a:solidFill>
              <a:srgbClr val="00ED64"/>
            </a:solidFill>
            <a:prstDash val="solid"/>
          </a:ln>
          <a:effectLst>
            <a:outerShdw sx="100000" sy="100000" kx="0" ky="0" algn="bl" rotWithShape="0" blurRad="127000" dist="38100" dir="8100000">
              <a:srgbClr val="000000">
                <a:alpha val="28000"/>
              </a:srgbClr>
            </a:outerShdw>
          </a:effectLst>
        </p:spPr>
      </p:sp>
      <p:sp>
        <p:nvSpPr>
          <p:cNvPr id="6" name="Text 4"/>
          <p:cNvSpPr/>
          <p:nvPr/>
        </p:nvSpPr>
        <p:spPr>
          <a:xfrm>
            <a:off x="566928" y="1051560"/>
            <a:ext cx="2084832" cy="868680"/>
          </a:xfrm>
          <a:prstGeom prst="rect">
            <a:avLst/>
          </a:prstGeom>
          <a:noFill/>
          <a:ln/>
        </p:spPr>
        <p:txBody>
          <a:bodyPr wrap="square" lIns="0" tIns="0" rIns="0" bIns="0" rtlCol="0" anchor="ctr"/>
          <a:lstStyle/>
          <a:p>
            <a:pPr algn="ctr" indent="0" marL="0">
              <a:buNone/>
            </a:pPr>
            <a:r>
              <a:rPr lang="en-US" sz="4800" b="1" dirty="0">
                <a:solidFill>
                  <a:srgbClr val="00ED64"/>
                </a:solidFill>
                <a:latin typeface="Lexend Deca" pitchFamily="34" charset="0"/>
                <a:ea typeface="Lexend Deca" pitchFamily="34" charset="-122"/>
                <a:cs typeface="Lexend Deca" pitchFamily="34" charset="-120"/>
              </a:rPr>
              <a:t>01</a:t>
            </a:r>
            <a:endParaRPr lang="en-US" sz="4800" dirty="0"/>
          </a:p>
        </p:txBody>
      </p:sp>
      <p:sp>
        <p:nvSpPr>
          <p:cNvPr id="7" name="Shape 5"/>
          <p:cNvSpPr/>
          <p:nvPr/>
        </p:nvSpPr>
        <p:spPr>
          <a:xfrm>
            <a:off x="749808" y="1965960"/>
            <a:ext cx="1719072" cy="54864"/>
          </a:xfrm>
          <a:prstGeom prst="rect">
            <a:avLst/>
          </a:prstGeom>
          <a:solidFill>
            <a:srgbClr val="00ED64"/>
          </a:solidFill>
          <a:ln w="12700">
            <a:solidFill>
              <a:srgbClr val="00ED64"/>
            </a:solidFill>
            <a:prstDash val="solid"/>
          </a:ln>
        </p:spPr>
      </p:sp>
      <p:sp>
        <p:nvSpPr>
          <p:cNvPr id="8" name="Text 6"/>
          <p:cNvSpPr/>
          <p:nvPr/>
        </p:nvSpPr>
        <p:spPr>
          <a:xfrm>
            <a:off x="658368" y="2084832"/>
            <a:ext cx="1920240" cy="914400"/>
          </a:xfrm>
          <a:prstGeom prst="rect">
            <a:avLst/>
          </a:prstGeom>
          <a:noFill/>
          <a:ln/>
        </p:spPr>
        <p:txBody>
          <a:bodyPr wrap="square" lIns="0" tIns="0" rIns="0" bIns="0" rtlCol="0" anchor="ctr"/>
          <a:lstStyle/>
          <a:p>
            <a:pPr algn="ctr" indent="0" marL="0">
              <a:buNone/>
            </a:pPr>
            <a:r>
              <a:rPr lang="en-US" sz="1600" b="1" dirty="0">
                <a:solidFill>
                  <a:srgbClr val="FFFFFF"/>
                </a:solidFill>
                <a:latin typeface="Lexend Deca" pitchFamily="34" charset="0"/>
                <a:ea typeface="Lexend Deca" pitchFamily="34" charset="-122"/>
                <a:cs typeface="Lexend Deca" pitchFamily="34" charset="-120"/>
              </a:rPr>
              <a:t>Data Modeling</a:t>
            </a:r>
            <a:endParaRPr lang="en-US" sz="1600" dirty="0"/>
          </a:p>
        </p:txBody>
      </p:sp>
      <p:sp>
        <p:nvSpPr>
          <p:cNvPr id="9" name="Text 7"/>
          <p:cNvSpPr/>
          <p:nvPr/>
        </p:nvSpPr>
        <p:spPr>
          <a:xfrm>
            <a:off x="658368" y="3127248"/>
            <a:ext cx="1920240" cy="2286000"/>
          </a:xfrm>
          <a:prstGeom prst="rect">
            <a:avLst/>
          </a:prstGeom>
          <a:noFill/>
          <a:ln/>
        </p:spPr>
        <p:txBody>
          <a:bodyPr wrap="square" lIns="0" tIns="0" rIns="0" bIns="0" rtlCol="0" anchor="ctr"/>
          <a:lstStyle/>
          <a:p>
            <a:pPr algn="ctr" indent="0" marL="0">
              <a:buNone/>
            </a:pPr>
            <a:r>
              <a:rPr lang="en-US" sz="1300" dirty="0">
                <a:solidFill>
                  <a:srgbClr val="B8C4C2"/>
                </a:solidFill>
                <a:latin typeface="Lexend Deca" pitchFamily="34" charset="0"/>
                <a:ea typeface="Lexend Deca" pitchFamily="34" charset="-122"/>
                <a:cs typeface="Lexend Deca" pitchFamily="34" charset="-120"/>
              </a:rPr>
              <a:t>Documents, Embedding</a:t>
            </a:r>
            <a:endParaRPr lang="en-US" sz="1300" dirty="0"/>
          </a:p>
          <a:p>
            <a:pPr algn="ctr" indent="0" marL="0">
              <a:buNone/>
            </a:pPr>
            <a:r>
              <a:rPr lang="en-US" sz="1300" dirty="0">
                <a:solidFill>
                  <a:srgbClr val="B8C4C2"/>
                </a:solidFill>
                <a:latin typeface="Lexend Deca" pitchFamily="34" charset="0"/>
                <a:ea typeface="Lexend Deca" pitchFamily="34" charset="-122"/>
                <a:cs typeface="Lexend Deca" pitchFamily="34" charset="-120"/>
              </a:rPr>
              <a:t>vs Referencing</a:t>
            </a:r>
            <a:endParaRPr lang="en-US" sz="1300" dirty="0"/>
          </a:p>
        </p:txBody>
      </p:sp>
      <p:sp>
        <p:nvSpPr>
          <p:cNvPr id="10" name="Shape 8"/>
          <p:cNvSpPr/>
          <p:nvPr/>
        </p:nvSpPr>
        <p:spPr>
          <a:xfrm>
            <a:off x="2779776" y="960120"/>
            <a:ext cx="2084832" cy="5303520"/>
          </a:xfrm>
          <a:prstGeom prst="rect">
            <a:avLst/>
          </a:prstGeom>
          <a:solidFill>
            <a:srgbClr val="023430"/>
          </a:solidFill>
          <a:ln w="19050">
            <a:solidFill>
              <a:srgbClr val="00ED64"/>
            </a:solidFill>
            <a:prstDash val="solid"/>
          </a:ln>
          <a:effectLst>
            <a:outerShdw sx="100000" sy="100000" kx="0" ky="0" algn="bl" rotWithShape="0" blurRad="127000" dist="38100" dir="8100000">
              <a:srgbClr val="000000">
                <a:alpha val="28000"/>
              </a:srgbClr>
            </a:outerShdw>
          </a:effectLst>
        </p:spPr>
      </p:sp>
      <p:sp>
        <p:nvSpPr>
          <p:cNvPr id="11" name="Text 9"/>
          <p:cNvSpPr/>
          <p:nvPr/>
        </p:nvSpPr>
        <p:spPr>
          <a:xfrm>
            <a:off x="2779776" y="1051560"/>
            <a:ext cx="2084832" cy="868680"/>
          </a:xfrm>
          <a:prstGeom prst="rect">
            <a:avLst/>
          </a:prstGeom>
          <a:noFill/>
          <a:ln/>
        </p:spPr>
        <p:txBody>
          <a:bodyPr wrap="square" lIns="0" tIns="0" rIns="0" bIns="0" rtlCol="0" anchor="ctr"/>
          <a:lstStyle/>
          <a:p>
            <a:pPr algn="ctr" indent="0" marL="0">
              <a:buNone/>
            </a:pPr>
            <a:r>
              <a:rPr lang="en-US" sz="4800" b="1" dirty="0">
                <a:solidFill>
                  <a:srgbClr val="00ED64"/>
                </a:solidFill>
                <a:latin typeface="Lexend Deca" pitchFamily="34" charset="0"/>
                <a:ea typeface="Lexend Deca" pitchFamily="34" charset="-122"/>
                <a:cs typeface="Lexend Deca" pitchFamily="34" charset="-120"/>
              </a:rPr>
              <a:t>02</a:t>
            </a:r>
            <a:endParaRPr lang="en-US" sz="4800" dirty="0"/>
          </a:p>
        </p:txBody>
      </p:sp>
      <p:sp>
        <p:nvSpPr>
          <p:cNvPr id="12" name="Shape 10"/>
          <p:cNvSpPr/>
          <p:nvPr/>
        </p:nvSpPr>
        <p:spPr>
          <a:xfrm>
            <a:off x="2962656" y="1965960"/>
            <a:ext cx="1719072" cy="54864"/>
          </a:xfrm>
          <a:prstGeom prst="rect">
            <a:avLst/>
          </a:prstGeom>
          <a:solidFill>
            <a:srgbClr val="00ED64"/>
          </a:solidFill>
          <a:ln w="12700">
            <a:solidFill>
              <a:srgbClr val="00ED64"/>
            </a:solidFill>
            <a:prstDash val="solid"/>
          </a:ln>
        </p:spPr>
      </p:sp>
      <p:sp>
        <p:nvSpPr>
          <p:cNvPr id="13" name="Text 11"/>
          <p:cNvSpPr/>
          <p:nvPr/>
        </p:nvSpPr>
        <p:spPr>
          <a:xfrm>
            <a:off x="2871216" y="2084832"/>
            <a:ext cx="1920240" cy="914400"/>
          </a:xfrm>
          <a:prstGeom prst="rect">
            <a:avLst/>
          </a:prstGeom>
          <a:noFill/>
          <a:ln/>
        </p:spPr>
        <p:txBody>
          <a:bodyPr wrap="square" lIns="0" tIns="0" rIns="0" bIns="0" rtlCol="0" anchor="ctr"/>
          <a:lstStyle/>
          <a:p>
            <a:pPr algn="ctr" indent="0" marL="0">
              <a:buNone/>
            </a:pPr>
            <a:r>
              <a:rPr lang="en-US" sz="1600" b="1" dirty="0">
                <a:solidFill>
                  <a:srgbClr val="FFFFFF"/>
                </a:solidFill>
                <a:latin typeface="Lexend Deca" pitchFamily="34" charset="0"/>
                <a:ea typeface="Lexend Deca" pitchFamily="34" charset="-122"/>
                <a:cs typeface="Lexend Deca" pitchFamily="34" charset="-120"/>
              </a:rPr>
              <a:t>Querying</a:t>
            </a:r>
            <a:endParaRPr lang="en-US" sz="1600" dirty="0"/>
          </a:p>
        </p:txBody>
      </p:sp>
      <p:sp>
        <p:nvSpPr>
          <p:cNvPr id="14" name="Text 12"/>
          <p:cNvSpPr/>
          <p:nvPr/>
        </p:nvSpPr>
        <p:spPr>
          <a:xfrm>
            <a:off x="2871216" y="3127248"/>
            <a:ext cx="1920240" cy="2286000"/>
          </a:xfrm>
          <a:prstGeom prst="rect">
            <a:avLst/>
          </a:prstGeom>
          <a:noFill/>
          <a:ln/>
        </p:spPr>
        <p:txBody>
          <a:bodyPr wrap="square" lIns="0" tIns="0" rIns="0" bIns="0" rtlCol="0" anchor="ctr"/>
          <a:lstStyle/>
          <a:p>
            <a:pPr algn="ctr" indent="0" marL="0">
              <a:buNone/>
            </a:pPr>
            <a:r>
              <a:rPr lang="en-US" sz="1300" dirty="0">
                <a:solidFill>
                  <a:srgbClr val="B8C4C2"/>
                </a:solidFill>
                <a:latin typeface="Lexend Deca" pitchFamily="34" charset="0"/>
                <a:ea typeface="Lexend Deca" pitchFamily="34" charset="-122"/>
                <a:cs typeface="Lexend Deca" pitchFamily="34" charset="-120"/>
              </a:rPr>
              <a:t>CRUD, Filters,</a:t>
            </a:r>
            <a:endParaRPr lang="en-US" sz="1300" dirty="0"/>
          </a:p>
          <a:p>
            <a:pPr algn="ctr" indent="0" marL="0">
              <a:buNone/>
            </a:pPr>
            <a:r>
              <a:rPr lang="en-US" sz="1300" dirty="0">
                <a:solidFill>
                  <a:srgbClr val="B8C4C2"/>
                </a:solidFill>
                <a:latin typeface="Lexend Deca" pitchFamily="34" charset="0"/>
                <a:ea typeface="Lexend Deca" pitchFamily="34" charset="-122"/>
                <a:cs typeface="Lexend Deca" pitchFamily="34" charset="-120"/>
              </a:rPr>
              <a:t>Aggregation Pipeline</a:t>
            </a:r>
            <a:endParaRPr lang="en-US" sz="1300" dirty="0"/>
          </a:p>
        </p:txBody>
      </p:sp>
      <p:sp>
        <p:nvSpPr>
          <p:cNvPr id="15" name="Shape 13"/>
          <p:cNvSpPr/>
          <p:nvPr/>
        </p:nvSpPr>
        <p:spPr>
          <a:xfrm>
            <a:off x="4992624" y="960120"/>
            <a:ext cx="2084832" cy="5303520"/>
          </a:xfrm>
          <a:prstGeom prst="rect">
            <a:avLst/>
          </a:prstGeom>
          <a:solidFill>
            <a:srgbClr val="023430"/>
          </a:solidFill>
          <a:ln w="19050">
            <a:solidFill>
              <a:srgbClr val="00ED64"/>
            </a:solidFill>
            <a:prstDash val="solid"/>
          </a:ln>
          <a:effectLst>
            <a:outerShdw sx="100000" sy="100000" kx="0" ky="0" algn="bl" rotWithShape="0" blurRad="127000" dist="38100" dir="8100000">
              <a:srgbClr val="000000">
                <a:alpha val="28000"/>
              </a:srgbClr>
            </a:outerShdw>
          </a:effectLst>
        </p:spPr>
      </p:sp>
      <p:sp>
        <p:nvSpPr>
          <p:cNvPr id="16" name="Text 14"/>
          <p:cNvSpPr/>
          <p:nvPr/>
        </p:nvSpPr>
        <p:spPr>
          <a:xfrm>
            <a:off x="4992624" y="1051560"/>
            <a:ext cx="2084832" cy="868680"/>
          </a:xfrm>
          <a:prstGeom prst="rect">
            <a:avLst/>
          </a:prstGeom>
          <a:noFill/>
          <a:ln/>
        </p:spPr>
        <p:txBody>
          <a:bodyPr wrap="square" lIns="0" tIns="0" rIns="0" bIns="0" rtlCol="0" anchor="ctr"/>
          <a:lstStyle/>
          <a:p>
            <a:pPr algn="ctr" indent="0" marL="0">
              <a:buNone/>
            </a:pPr>
            <a:r>
              <a:rPr lang="en-US" sz="4800" b="1" dirty="0">
                <a:solidFill>
                  <a:srgbClr val="00ED64"/>
                </a:solidFill>
                <a:latin typeface="Lexend Deca" pitchFamily="34" charset="0"/>
                <a:ea typeface="Lexend Deca" pitchFamily="34" charset="-122"/>
                <a:cs typeface="Lexend Deca" pitchFamily="34" charset="-120"/>
              </a:rPr>
              <a:t>03</a:t>
            </a:r>
            <a:endParaRPr lang="en-US" sz="4800" dirty="0"/>
          </a:p>
        </p:txBody>
      </p:sp>
      <p:sp>
        <p:nvSpPr>
          <p:cNvPr id="17" name="Shape 15"/>
          <p:cNvSpPr/>
          <p:nvPr/>
        </p:nvSpPr>
        <p:spPr>
          <a:xfrm>
            <a:off x="5175504" y="1965960"/>
            <a:ext cx="1719072" cy="54864"/>
          </a:xfrm>
          <a:prstGeom prst="rect">
            <a:avLst/>
          </a:prstGeom>
          <a:solidFill>
            <a:srgbClr val="00ED64"/>
          </a:solidFill>
          <a:ln w="12700">
            <a:solidFill>
              <a:srgbClr val="00ED64"/>
            </a:solidFill>
            <a:prstDash val="solid"/>
          </a:ln>
        </p:spPr>
      </p:sp>
      <p:sp>
        <p:nvSpPr>
          <p:cNvPr id="18" name="Text 16"/>
          <p:cNvSpPr/>
          <p:nvPr/>
        </p:nvSpPr>
        <p:spPr>
          <a:xfrm>
            <a:off x="5084064" y="2084832"/>
            <a:ext cx="1920240" cy="914400"/>
          </a:xfrm>
          <a:prstGeom prst="rect">
            <a:avLst/>
          </a:prstGeom>
          <a:noFill/>
          <a:ln/>
        </p:spPr>
        <p:txBody>
          <a:bodyPr wrap="square" lIns="0" tIns="0" rIns="0" bIns="0" rtlCol="0" anchor="ctr"/>
          <a:lstStyle/>
          <a:p>
            <a:pPr algn="ctr" indent="0" marL="0">
              <a:buNone/>
            </a:pPr>
            <a:r>
              <a:rPr lang="en-US" sz="1600" b="1" dirty="0">
                <a:solidFill>
                  <a:srgbClr val="FFFFFF"/>
                </a:solidFill>
                <a:latin typeface="Lexend Deca" pitchFamily="34" charset="0"/>
                <a:ea typeface="Lexend Deca" pitchFamily="34" charset="-122"/>
                <a:cs typeface="Lexend Deca" pitchFamily="34" charset="-120"/>
              </a:rPr>
              <a:t>Indexes &amp;</a:t>
            </a:r>
            <a:endParaRPr lang="en-US" sz="1600" dirty="0"/>
          </a:p>
          <a:p>
            <a:pPr algn="ctr" indent="0" marL="0">
              <a:buNone/>
            </a:pPr>
            <a:r>
              <a:rPr lang="en-US" sz="1600" b="1" dirty="0">
                <a:solidFill>
                  <a:srgbClr val="FFFFFF"/>
                </a:solidFill>
                <a:latin typeface="Lexend Deca" pitchFamily="34" charset="0"/>
                <a:ea typeface="Lexend Deca" pitchFamily="34" charset="-122"/>
                <a:cs typeface="Lexend Deca" pitchFamily="34" charset="-120"/>
              </a:rPr>
              <a:t>Performance</a:t>
            </a:r>
            <a:endParaRPr lang="en-US" sz="1600" dirty="0"/>
          </a:p>
        </p:txBody>
      </p:sp>
      <p:sp>
        <p:nvSpPr>
          <p:cNvPr id="19" name="Text 17"/>
          <p:cNvSpPr/>
          <p:nvPr/>
        </p:nvSpPr>
        <p:spPr>
          <a:xfrm>
            <a:off x="5084064" y="3127248"/>
            <a:ext cx="1920240" cy="2286000"/>
          </a:xfrm>
          <a:prstGeom prst="rect">
            <a:avLst/>
          </a:prstGeom>
          <a:noFill/>
          <a:ln/>
        </p:spPr>
        <p:txBody>
          <a:bodyPr wrap="square" lIns="0" tIns="0" rIns="0" bIns="0" rtlCol="0" anchor="ctr"/>
          <a:lstStyle/>
          <a:p>
            <a:pPr algn="ctr" indent="0" marL="0">
              <a:buNone/>
            </a:pPr>
            <a:r>
              <a:rPr lang="en-US" sz="1300" dirty="0">
                <a:solidFill>
                  <a:srgbClr val="B8C4C2"/>
                </a:solidFill>
                <a:latin typeface="Lexend Deca" pitchFamily="34" charset="0"/>
                <a:ea typeface="Lexend Deca" pitchFamily="34" charset="-122"/>
                <a:cs typeface="Lexend Deca" pitchFamily="34" charset="-120"/>
              </a:rPr>
              <a:t>Types, Compound,</a:t>
            </a:r>
            <a:endParaRPr lang="en-US" sz="1300" dirty="0"/>
          </a:p>
          <a:p>
            <a:pPr algn="ctr" indent="0" marL="0">
              <a:buNone/>
            </a:pPr>
            <a:r>
              <a:rPr lang="en-US" sz="1300" dirty="0">
                <a:solidFill>
                  <a:srgbClr val="B8C4C2"/>
                </a:solidFill>
                <a:latin typeface="Lexend Deca" pitchFamily="34" charset="0"/>
                <a:ea typeface="Lexend Deca" pitchFamily="34" charset="-122"/>
                <a:cs typeface="Lexend Deca" pitchFamily="34" charset="-120"/>
              </a:rPr>
              <a:t>Explain Plan</a:t>
            </a:r>
            <a:endParaRPr lang="en-US" sz="1300" dirty="0"/>
          </a:p>
        </p:txBody>
      </p:sp>
      <p:sp>
        <p:nvSpPr>
          <p:cNvPr id="20" name="Shape 18"/>
          <p:cNvSpPr/>
          <p:nvPr/>
        </p:nvSpPr>
        <p:spPr>
          <a:xfrm>
            <a:off x="7205472" y="960120"/>
            <a:ext cx="2084832" cy="5303520"/>
          </a:xfrm>
          <a:prstGeom prst="rect">
            <a:avLst/>
          </a:prstGeom>
          <a:solidFill>
            <a:srgbClr val="023430"/>
          </a:solidFill>
          <a:ln w="19050">
            <a:solidFill>
              <a:srgbClr val="00ED64"/>
            </a:solidFill>
            <a:prstDash val="solid"/>
          </a:ln>
          <a:effectLst>
            <a:outerShdw sx="100000" sy="100000" kx="0" ky="0" algn="bl" rotWithShape="0" blurRad="127000" dist="38100" dir="8100000">
              <a:srgbClr val="000000">
                <a:alpha val="28000"/>
              </a:srgbClr>
            </a:outerShdw>
          </a:effectLst>
        </p:spPr>
      </p:sp>
      <p:sp>
        <p:nvSpPr>
          <p:cNvPr id="21" name="Text 19"/>
          <p:cNvSpPr/>
          <p:nvPr/>
        </p:nvSpPr>
        <p:spPr>
          <a:xfrm>
            <a:off x="7205472" y="1051560"/>
            <a:ext cx="2084832" cy="868680"/>
          </a:xfrm>
          <a:prstGeom prst="rect">
            <a:avLst/>
          </a:prstGeom>
          <a:noFill/>
          <a:ln/>
        </p:spPr>
        <p:txBody>
          <a:bodyPr wrap="square" lIns="0" tIns="0" rIns="0" bIns="0" rtlCol="0" anchor="ctr"/>
          <a:lstStyle/>
          <a:p>
            <a:pPr algn="ctr" indent="0" marL="0">
              <a:buNone/>
            </a:pPr>
            <a:r>
              <a:rPr lang="en-US" sz="4800" b="1" dirty="0">
                <a:solidFill>
                  <a:srgbClr val="00ED64"/>
                </a:solidFill>
                <a:latin typeface="Lexend Deca" pitchFamily="34" charset="0"/>
                <a:ea typeface="Lexend Deca" pitchFamily="34" charset="-122"/>
                <a:cs typeface="Lexend Deca" pitchFamily="34" charset="-120"/>
              </a:rPr>
              <a:t>04</a:t>
            </a:r>
            <a:endParaRPr lang="en-US" sz="4800" dirty="0"/>
          </a:p>
        </p:txBody>
      </p:sp>
      <p:sp>
        <p:nvSpPr>
          <p:cNvPr id="22" name="Shape 20"/>
          <p:cNvSpPr/>
          <p:nvPr/>
        </p:nvSpPr>
        <p:spPr>
          <a:xfrm>
            <a:off x="7388352" y="1965960"/>
            <a:ext cx="1719072" cy="54864"/>
          </a:xfrm>
          <a:prstGeom prst="rect">
            <a:avLst/>
          </a:prstGeom>
          <a:solidFill>
            <a:srgbClr val="00ED64"/>
          </a:solidFill>
          <a:ln w="12700">
            <a:solidFill>
              <a:srgbClr val="00ED64"/>
            </a:solidFill>
            <a:prstDash val="solid"/>
          </a:ln>
        </p:spPr>
      </p:sp>
      <p:sp>
        <p:nvSpPr>
          <p:cNvPr id="23" name="Text 21"/>
          <p:cNvSpPr/>
          <p:nvPr/>
        </p:nvSpPr>
        <p:spPr>
          <a:xfrm>
            <a:off x="7296912" y="2084832"/>
            <a:ext cx="1920240" cy="914400"/>
          </a:xfrm>
          <a:prstGeom prst="rect">
            <a:avLst/>
          </a:prstGeom>
          <a:noFill/>
          <a:ln/>
        </p:spPr>
        <p:txBody>
          <a:bodyPr wrap="square" lIns="0" tIns="0" rIns="0" bIns="0" rtlCol="0" anchor="ctr"/>
          <a:lstStyle/>
          <a:p>
            <a:pPr algn="ctr" indent="0" marL="0">
              <a:buNone/>
            </a:pPr>
            <a:r>
              <a:rPr lang="en-US" sz="1600" b="1" dirty="0">
                <a:solidFill>
                  <a:srgbClr val="FFFFFF"/>
                </a:solidFill>
                <a:latin typeface="Lexend Deca" pitchFamily="34" charset="0"/>
                <a:ea typeface="Lexend Deca" pitchFamily="34" charset="-122"/>
                <a:cs typeface="Lexend Deca" pitchFamily="34" charset="-120"/>
              </a:rPr>
              <a:t>Transactions</a:t>
            </a:r>
            <a:endParaRPr lang="en-US" sz="1600" dirty="0"/>
          </a:p>
          <a:p>
            <a:pPr algn="ctr" indent="0" marL="0">
              <a:buNone/>
            </a:pPr>
            <a:r>
              <a:rPr lang="en-US" sz="1600" b="1" dirty="0">
                <a:solidFill>
                  <a:srgbClr val="FFFFFF"/>
                </a:solidFill>
                <a:latin typeface="Lexend Deca" pitchFamily="34" charset="0"/>
                <a:ea typeface="Lexend Deca" pitchFamily="34" charset="-122"/>
                <a:cs typeface="Lexend Deca" pitchFamily="34" charset="-120"/>
              </a:rPr>
              <a:t>&amp; ACID</a:t>
            </a:r>
            <a:endParaRPr lang="en-US" sz="1600" dirty="0"/>
          </a:p>
        </p:txBody>
      </p:sp>
      <p:sp>
        <p:nvSpPr>
          <p:cNvPr id="24" name="Text 22"/>
          <p:cNvSpPr/>
          <p:nvPr/>
        </p:nvSpPr>
        <p:spPr>
          <a:xfrm>
            <a:off x="7296912" y="3127248"/>
            <a:ext cx="1920240" cy="2286000"/>
          </a:xfrm>
          <a:prstGeom prst="rect">
            <a:avLst/>
          </a:prstGeom>
          <a:noFill/>
          <a:ln/>
        </p:spPr>
        <p:txBody>
          <a:bodyPr wrap="square" lIns="0" tIns="0" rIns="0" bIns="0" rtlCol="0" anchor="ctr"/>
          <a:lstStyle/>
          <a:p>
            <a:pPr algn="ctr" indent="0" marL="0">
              <a:buNone/>
            </a:pPr>
            <a:r>
              <a:rPr lang="en-US" sz="1300" dirty="0">
                <a:solidFill>
                  <a:srgbClr val="B8C4C2"/>
                </a:solidFill>
                <a:latin typeface="Lexend Deca" pitchFamily="34" charset="0"/>
                <a:ea typeface="Lexend Deca" pitchFamily="34" charset="-122"/>
                <a:cs typeface="Lexend Deca" pitchFamily="34" charset="-120"/>
              </a:rPr>
              <a:t>Multi-document,</a:t>
            </a:r>
            <a:endParaRPr lang="en-US" sz="1300" dirty="0"/>
          </a:p>
          <a:p>
            <a:pPr algn="ctr" indent="0" marL="0">
              <a:buNone/>
            </a:pPr>
            <a:r>
              <a:rPr lang="en-US" sz="1300" dirty="0">
                <a:solidFill>
                  <a:srgbClr val="B8C4C2"/>
                </a:solidFill>
                <a:latin typeface="Lexend Deca" pitchFamily="34" charset="0"/>
                <a:ea typeface="Lexend Deca" pitchFamily="34" charset="-122"/>
                <a:cs typeface="Lexend Deca" pitchFamily="34" charset="-120"/>
              </a:rPr>
              <a:t>When to use</a:t>
            </a:r>
            <a:endParaRPr lang="en-US" sz="1300" dirty="0"/>
          </a:p>
        </p:txBody>
      </p:sp>
      <p:sp>
        <p:nvSpPr>
          <p:cNvPr id="25" name="Shape 23"/>
          <p:cNvSpPr/>
          <p:nvPr/>
        </p:nvSpPr>
        <p:spPr>
          <a:xfrm>
            <a:off x="9418320" y="960120"/>
            <a:ext cx="2084832" cy="5303520"/>
          </a:xfrm>
          <a:prstGeom prst="rect">
            <a:avLst/>
          </a:prstGeom>
          <a:solidFill>
            <a:srgbClr val="023430"/>
          </a:solidFill>
          <a:ln w="19050">
            <a:solidFill>
              <a:srgbClr val="00ED64"/>
            </a:solidFill>
            <a:prstDash val="solid"/>
          </a:ln>
          <a:effectLst>
            <a:outerShdw sx="100000" sy="100000" kx="0" ky="0" algn="bl" rotWithShape="0" blurRad="127000" dist="38100" dir="8100000">
              <a:srgbClr val="000000">
                <a:alpha val="28000"/>
              </a:srgbClr>
            </a:outerShdw>
          </a:effectLst>
        </p:spPr>
      </p:sp>
      <p:sp>
        <p:nvSpPr>
          <p:cNvPr id="26" name="Text 24"/>
          <p:cNvSpPr/>
          <p:nvPr/>
        </p:nvSpPr>
        <p:spPr>
          <a:xfrm>
            <a:off x="9418320" y="1051560"/>
            <a:ext cx="2084832" cy="868680"/>
          </a:xfrm>
          <a:prstGeom prst="rect">
            <a:avLst/>
          </a:prstGeom>
          <a:noFill/>
          <a:ln/>
        </p:spPr>
        <p:txBody>
          <a:bodyPr wrap="square" lIns="0" tIns="0" rIns="0" bIns="0" rtlCol="0" anchor="ctr"/>
          <a:lstStyle/>
          <a:p>
            <a:pPr algn="ctr" indent="0" marL="0">
              <a:buNone/>
            </a:pPr>
            <a:r>
              <a:rPr lang="en-US" sz="4800" b="1" dirty="0">
                <a:solidFill>
                  <a:srgbClr val="00ED64"/>
                </a:solidFill>
                <a:latin typeface="Lexend Deca" pitchFamily="34" charset="0"/>
                <a:ea typeface="Lexend Deca" pitchFamily="34" charset="-122"/>
                <a:cs typeface="Lexend Deca" pitchFamily="34" charset="-120"/>
              </a:rPr>
              <a:t>05</a:t>
            </a:r>
            <a:endParaRPr lang="en-US" sz="4800" dirty="0"/>
          </a:p>
        </p:txBody>
      </p:sp>
      <p:sp>
        <p:nvSpPr>
          <p:cNvPr id="27" name="Shape 25"/>
          <p:cNvSpPr/>
          <p:nvPr/>
        </p:nvSpPr>
        <p:spPr>
          <a:xfrm>
            <a:off x="9601200" y="1965960"/>
            <a:ext cx="1719072" cy="54864"/>
          </a:xfrm>
          <a:prstGeom prst="rect">
            <a:avLst/>
          </a:prstGeom>
          <a:solidFill>
            <a:srgbClr val="00ED64"/>
          </a:solidFill>
          <a:ln w="12700">
            <a:solidFill>
              <a:srgbClr val="00ED64"/>
            </a:solidFill>
            <a:prstDash val="solid"/>
          </a:ln>
        </p:spPr>
      </p:sp>
      <p:sp>
        <p:nvSpPr>
          <p:cNvPr id="28" name="Text 26"/>
          <p:cNvSpPr/>
          <p:nvPr/>
        </p:nvSpPr>
        <p:spPr>
          <a:xfrm>
            <a:off x="9509760" y="2084832"/>
            <a:ext cx="1920240" cy="914400"/>
          </a:xfrm>
          <a:prstGeom prst="rect">
            <a:avLst/>
          </a:prstGeom>
          <a:noFill/>
          <a:ln/>
        </p:spPr>
        <p:txBody>
          <a:bodyPr wrap="square" lIns="0" tIns="0" rIns="0" bIns="0" rtlCol="0" anchor="ctr"/>
          <a:lstStyle/>
          <a:p>
            <a:pPr algn="ctr" indent="0" marL="0">
              <a:buNone/>
            </a:pPr>
            <a:r>
              <a:rPr lang="en-US" sz="1600" b="1" dirty="0">
                <a:solidFill>
                  <a:srgbClr val="FFFFFF"/>
                </a:solidFill>
                <a:latin typeface="Lexend Deca" pitchFamily="34" charset="0"/>
                <a:ea typeface="Lexend Deca" pitchFamily="34" charset="-122"/>
                <a:cs typeface="Lexend Deca" pitchFamily="34" charset="-120"/>
              </a:rPr>
              <a:t>Developer</a:t>
            </a:r>
            <a:endParaRPr lang="en-US" sz="1600" dirty="0"/>
          </a:p>
          <a:p>
            <a:pPr algn="ctr" indent="0" marL="0">
              <a:buNone/>
            </a:pPr>
            <a:r>
              <a:rPr lang="en-US" sz="1600" b="1" dirty="0">
                <a:solidFill>
                  <a:srgbClr val="FFFFFF"/>
                </a:solidFill>
                <a:latin typeface="Lexend Deca" pitchFamily="34" charset="0"/>
                <a:ea typeface="Lexend Deca" pitchFamily="34" charset="-122"/>
                <a:cs typeface="Lexend Deca" pitchFamily="34" charset="-120"/>
              </a:rPr>
              <a:t>Experience</a:t>
            </a:r>
            <a:endParaRPr lang="en-US" sz="1600" dirty="0"/>
          </a:p>
        </p:txBody>
      </p:sp>
      <p:sp>
        <p:nvSpPr>
          <p:cNvPr id="29" name="Text 27"/>
          <p:cNvSpPr/>
          <p:nvPr/>
        </p:nvSpPr>
        <p:spPr>
          <a:xfrm>
            <a:off x="9509760" y="3127248"/>
            <a:ext cx="1920240" cy="2286000"/>
          </a:xfrm>
          <a:prstGeom prst="rect">
            <a:avLst/>
          </a:prstGeom>
          <a:noFill/>
          <a:ln/>
        </p:spPr>
        <p:txBody>
          <a:bodyPr wrap="square" lIns="0" tIns="0" rIns="0" bIns="0" rtlCol="0" anchor="ctr"/>
          <a:lstStyle/>
          <a:p>
            <a:pPr algn="ctr" indent="0" marL="0">
              <a:buNone/>
            </a:pPr>
            <a:r>
              <a:rPr lang="en-US" sz="1300" dirty="0">
                <a:solidFill>
                  <a:srgbClr val="B8C4C2"/>
                </a:solidFill>
                <a:latin typeface="Lexend Deca" pitchFamily="34" charset="0"/>
                <a:ea typeface="Lexend Deca" pitchFamily="34" charset="-122"/>
                <a:cs typeface="Lexend Deca" pitchFamily="34" charset="-120"/>
              </a:rPr>
              <a:t>Compass, Atlas,</a:t>
            </a:r>
            <a:endParaRPr lang="en-US" sz="1300" dirty="0"/>
          </a:p>
          <a:p>
            <a:pPr algn="ctr" indent="0" marL="0">
              <a:buNone/>
            </a:pPr>
            <a:r>
              <a:rPr lang="en-US" sz="1300" dirty="0">
                <a:solidFill>
                  <a:srgbClr val="B8C4C2"/>
                </a:solidFill>
                <a:latin typeface="Lexend Deca" pitchFamily="34" charset="0"/>
                <a:ea typeface="Lexend Deca" pitchFamily="34" charset="-122"/>
                <a:cs typeface="Lexend Deca" pitchFamily="34" charset="-120"/>
              </a:rPr>
              <a:t>Change Streams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1E2B"/>
        </a:solidFill>
      </p:bgPr>
    </p:bg>
    <p:spTree>
      <p:nvGrpSpPr>
        <p:cNvPr id="1" name=""/>
        <p:cNvGrpSpPr/>
        <p:nvPr/>
      </p:nvGrpSpPr>
      <p:grpSpPr>
        <a:xfrm>
          <a:off x="0" y="0"/>
          <a:ext cx="0" cy="0"/>
          <a:chOff x="0" y="0"/>
          <a:chExt cx="0" cy="0"/>
        </a:xfrm>
      </p:grpSpPr>
      <p:sp>
        <p:nvSpPr>
          <p:cNvPr id="2" name="Shape 0"/>
          <p:cNvSpPr/>
          <p:nvPr/>
        </p:nvSpPr>
        <p:spPr>
          <a:xfrm>
            <a:off x="0" y="6656832"/>
            <a:ext cx="12188952" cy="201168"/>
          </a:xfrm>
          <a:prstGeom prst="rect">
            <a:avLst/>
          </a:prstGeom>
          <a:solidFill>
            <a:srgbClr val="00ED64"/>
          </a:solidFill>
          <a:ln w="12700">
            <a:solidFill>
              <a:srgbClr val="00ED64"/>
            </a:solidFill>
            <a:prstDash val="solid"/>
          </a:ln>
        </p:spPr>
      </p:sp>
      <p:sp>
        <p:nvSpPr>
          <p:cNvPr id="3" name="Text 1"/>
          <p:cNvSpPr/>
          <p:nvPr/>
        </p:nvSpPr>
        <p:spPr>
          <a:xfrm>
            <a:off x="566928" y="201168"/>
            <a:ext cx="11055096" cy="594360"/>
          </a:xfrm>
          <a:prstGeom prst="rect">
            <a:avLst/>
          </a:prstGeom>
          <a:noFill/>
          <a:ln/>
        </p:spPr>
        <p:txBody>
          <a:bodyPr wrap="square" lIns="0" tIns="0" rIns="0" bIns="0" rtlCol="0" anchor="ctr"/>
          <a:lstStyle/>
          <a:p>
            <a:pPr indent="0" marL="0">
              <a:buNone/>
            </a:pPr>
            <a:r>
              <a:rPr lang="en-US" sz="3000" b="1" dirty="0">
                <a:solidFill>
                  <a:srgbClr val="FFFFFF"/>
                </a:solidFill>
                <a:latin typeface="Lexend Deca" pitchFamily="34" charset="0"/>
                <a:ea typeface="Lexend Deca" pitchFamily="34" charset="-122"/>
                <a:cs typeface="Lexend Deca" pitchFamily="34" charset="-120"/>
              </a:rPr>
              <a:t>Why the World Is Moving Back to Denormalization</a:t>
            </a:r>
            <a:endParaRPr lang="en-US" sz="3000" dirty="0"/>
          </a:p>
        </p:txBody>
      </p:sp>
      <p:sp>
        <p:nvSpPr>
          <p:cNvPr id="4" name="Shape 2"/>
          <p:cNvSpPr/>
          <p:nvPr/>
        </p:nvSpPr>
        <p:spPr>
          <a:xfrm>
            <a:off x="566928" y="822960"/>
            <a:ext cx="1280160" cy="54864"/>
          </a:xfrm>
          <a:prstGeom prst="rect">
            <a:avLst/>
          </a:prstGeom>
          <a:solidFill>
            <a:srgbClr val="00ED64"/>
          </a:solidFill>
          <a:ln w="12700">
            <a:solidFill>
              <a:srgbClr val="00ED64"/>
            </a:solidFill>
            <a:prstDash val="solid"/>
          </a:ln>
        </p:spPr>
      </p:sp>
      <p:sp>
        <p:nvSpPr>
          <p:cNvPr id="5" name="Text 3"/>
          <p:cNvSpPr/>
          <p:nvPr/>
        </p:nvSpPr>
        <p:spPr>
          <a:xfrm>
            <a:off x="566928" y="896112"/>
            <a:ext cx="11055096" cy="329184"/>
          </a:xfrm>
          <a:prstGeom prst="rect">
            <a:avLst/>
          </a:prstGeom>
          <a:noFill/>
          <a:ln/>
        </p:spPr>
        <p:txBody>
          <a:bodyPr wrap="square" lIns="0" tIns="0" rIns="0" bIns="0" rtlCol="0" anchor="ctr"/>
          <a:lstStyle/>
          <a:p>
            <a:pPr indent="0" marL="0">
              <a:buNone/>
            </a:pPr>
            <a:r>
              <a:rPr lang="en-US" sz="1400" i="1" dirty="0">
                <a:solidFill>
                  <a:srgbClr val="B8C4C2"/>
                </a:solidFill>
                <a:latin typeface="Lexend Deca" pitchFamily="34" charset="0"/>
                <a:ea typeface="Lexend Deca" pitchFamily="34" charset="-122"/>
                <a:cs typeface="Lexend Deca" pitchFamily="34" charset="-120"/>
              </a:rPr>
              <a:t>A 50-year arc — and why the constraints that made normalization brilliant no longer apply</a:t>
            </a:r>
            <a:endParaRPr lang="en-US" sz="1400" dirty="0"/>
          </a:p>
        </p:txBody>
      </p:sp>
      <p:sp>
        <p:nvSpPr>
          <p:cNvPr id="6" name="Shape 4"/>
          <p:cNvSpPr/>
          <p:nvPr/>
        </p:nvSpPr>
        <p:spPr>
          <a:xfrm>
            <a:off x="566928" y="1298448"/>
            <a:ext cx="3566160" cy="4846320"/>
          </a:xfrm>
          <a:prstGeom prst="rect">
            <a:avLst/>
          </a:prstGeom>
          <a:solidFill>
            <a:srgbClr val="023430"/>
          </a:solidFill>
          <a:ln w="22860">
            <a:solidFill>
              <a:srgbClr val="00ED64"/>
            </a:solidFill>
            <a:prstDash val="solid"/>
          </a:ln>
          <a:effectLst>
            <a:outerShdw sx="100000" sy="100000" kx="0" ky="0" algn="bl" rotWithShape="0" blurRad="127000" dist="38100" dir="8100000">
              <a:srgbClr val="000000">
                <a:alpha val="28000"/>
              </a:srgbClr>
            </a:outerShdw>
          </a:effectLst>
        </p:spPr>
      </p:sp>
      <p:sp>
        <p:nvSpPr>
          <p:cNvPr id="7" name="Shape 5"/>
          <p:cNvSpPr/>
          <p:nvPr/>
        </p:nvSpPr>
        <p:spPr>
          <a:xfrm>
            <a:off x="566928" y="1298448"/>
            <a:ext cx="3566160" cy="621792"/>
          </a:xfrm>
          <a:prstGeom prst="rect">
            <a:avLst/>
          </a:prstGeom>
          <a:solidFill>
            <a:srgbClr val="00ED64"/>
          </a:solidFill>
          <a:ln w="12700">
            <a:solidFill>
              <a:srgbClr val="00ED64"/>
            </a:solidFill>
            <a:prstDash val="solid"/>
          </a:ln>
        </p:spPr>
      </p:sp>
      <p:sp>
        <p:nvSpPr>
          <p:cNvPr id="8" name="Text 6"/>
          <p:cNvSpPr/>
          <p:nvPr/>
        </p:nvSpPr>
        <p:spPr>
          <a:xfrm>
            <a:off x="704088" y="1344168"/>
            <a:ext cx="3291840" cy="292608"/>
          </a:xfrm>
          <a:prstGeom prst="rect">
            <a:avLst/>
          </a:prstGeom>
          <a:noFill/>
          <a:ln/>
        </p:spPr>
        <p:txBody>
          <a:bodyPr wrap="square" lIns="0" tIns="0" rIns="0" bIns="0" rtlCol="0" anchor="ctr"/>
          <a:lstStyle/>
          <a:p>
            <a:pPr indent="0" marL="0">
              <a:buNone/>
            </a:pPr>
            <a:r>
              <a:rPr lang="en-US" sz="1400" b="1" dirty="0">
                <a:solidFill>
                  <a:srgbClr val="001E2B"/>
                </a:solidFill>
                <a:latin typeface="Lexend Deca" pitchFamily="34" charset="0"/>
                <a:ea typeface="Lexend Deca" pitchFamily="34" charset="-122"/>
                <a:cs typeface="Lexend Deca" pitchFamily="34" charset="-120"/>
              </a:rPr>
              <a:t>🗂  Era 1</a:t>
            </a:r>
            <a:endParaRPr lang="en-US" sz="1400" dirty="0"/>
          </a:p>
        </p:txBody>
      </p:sp>
      <p:sp>
        <p:nvSpPr>
          <p:cNvPr id="9" name="Text 7"/>
          <p:cNvSpPr/>
          <p:nvPr/>
        </p:nvSpPr>
        <p:spPr>
          <a:xfrm>
            <a:off x="704088" y="1627632"/>
            <a:ext cx="3291840" cy="237744"/>
          </a:xfrm>
          <a:prstGeom prst="rect">
            <a:avLst/>
          </a:prstGeom>
          <a:noFill/>
          <a:ln/>
        </p:spPr>
        <p:txBody>
          <a:bodyPr wrap="square" lIns="0" tIns="0" rIns="0" bIns="0" rtlCol="0" anchor="ctr"/>
          <a:lstStyle/>
          <a:p>
            <a:pPr indent="0" marL="0">
              <a:buNone/>
            </a:pPr>
            <a:r>
              <a:rPr lang="en-US" sz="1050" dirty="0">
                <a:solidFill>
                  <a:srgbClr val="001E2B"/>
                </a:solidFill>
                <a:latin typeface="Lexend Deca" pitchFamily="34" charset="0"/>
                <a:ea typeface="Lexend Deca" pitchFamily="34" charset="-122"/>
                <a:cs typeface="Lexend Deca" pitchFamily="34" charset="-120"/>
              </a:rPr>
              <a:t>1970s – 2000s</a:t>
            </a:r>
            <a:endParaRPr lang="en-US" sz="1050" dirty="0"/>
          </a:p>
        </p:txBody>
      </p:sp>
      <p:sp>
        <p:nvSpPr>
          <p:cNvPr id="10" name="Text 8"/>
          <p:cNvSpPr/>
          <p:nvPr/>
        </p:nvSpPr>
        <p:spPr>
          <a:xfrm>
            <a:off x="704088" y="2011680"/>
            <a:ext cx="3291840" cy="475488"/>
          </a:xfrm>
          <a:prstGeom prst="rect">
            <a:avLst/>
          </a:prstGeom>
          <a:noFill/>
          <a:ln/>
        </p:spPr>
        <p:txBody>
          <a:bodyPr wrap="square" lIns="0" tIns="0" rIns="0" bIns="0" rtlCol="0" anchor="ctr"/>
          <a:lstStyle/>
          <a:p>
            <a:pPr indent="0" marL="0">
              <a:buNone/>
            </a:pPr>
            <a:r>
              <a:rPr lang="en-US" sz="1500" b="1" dirty="0">
                <a:solidFill>
                  <a:srgbClr val="00ED64"/>
                </a:solidFill>
                <a:latin typeface="Lexend Deca" pitchFamily="34" charset="0"/>
                <a:ea typeface="Lexend Deca" pitchFamily="34" charset="-122"/>
                <a:cs typeface="Lexend Deca" pitchFamily="34" charset="-120"/>
              </a:rPr>
              <a:t>Normalization Wins</a:t>
            </a:r>
            <a:endParaRPr lang="en-US" sz="1500" dirty="0"/>
          </a:p>
        </p:txBody>
      </p:sp>
      <p:sp>
        <p:nvSpPr>
          <p:cNvPr id="11" name="Shape 9"/>
          <p:cNvSpPr/>
          <p:nvPr/>
        </p:nvSpPr>
        <p:spPr>
          <a:xfrm>
            <a:off x="704088" y="2523744"/>
            <a:ext cx="3291840" cy="36576"/>
          </a:xfrm>
          <a:prstGeom prst="rect">
            <a:avLst/>
          </a:prstGeom>
          <a:solidFill>
            <a:srgbClr val="00ED64">
              <a:alpha val="45000"/>
            </a:srgbClr>
          </a:solidFill>
          <a:ln w="12700">
            <a:solidFill>
              <a:srgbClr val="00ED64"/>
            </a:solidFill>
            <a:prstDash val="solid"/>
          </a:ln>
        </p:spPr>
      </p:sp>
      <p:sp>
        <p:nvSpPr>
          <p:cNvPr id="12" name="Text 10"/>
          <p:cNvSpPr/>
          <p:nvPr/>
        </p:nvSpPr>
        <p:spPr>
          <a:xfrm>
            <a:off x="704088" y="2633472"/>
            <a:ext cx="3291840" cy="621792"/>
          </a:xfrm>
          <a:prstGeom prst="rect">
            <a:avLst/>
          </a:prstGeom>
          <a:noFill/>
          <a:ln/>
        </p:spPr>
        <p:txBody>
          <a:bodyPr wrap="square" lIns="0" tIns="0" rIns="0" bIns="0" rtlCol="0" anchor="ctr"/>
          <a:lstStyle/>
          <a:p>
            <a:pPr marL="342900" indent="-342900">
              <a:buSzPct val="100000"/>
              <a:buChar char="•"/>
            </a:pPr>
            <a:r>
              <a:rPr lang="en-US" sz="1200" dirty="0">
                <a:solidFill>
                  <a:srgbClr val="FFFFFF"/>
                </a:solidFill>
                <a:latin typeface="Lexend Deca" pitchFamily="34" charset="0"/>
                <a:ea typeface="Lexend Deca" pitchFamily="34" charset="-122"/>
                <a:cs typeface="Lexend Deca" pitchFamily="34" charset="-120"/>
              </a:rPr>
              <a:t>Disk was expensive — storing 'New York' in 10,000 rows cost real money</a:t>
            </a:r>
            <a:endParaRPr lang="en-US" sz="1200" dirty="0"/>
          </a:p>
        </p:txBody>
      </p:sp>
      <p:sp>
        <p:nvSpPr>
          <p:cNvPr id="13" name="Text 11"/>
          <p:cNvSpPr/>
          <p:nvPr/>
        </p:nvSpPr>
        <p:spPr>
          <a:xfrm>
            <a:off x="704088" y="3291840"/>
            <a:ext cx="3291840" cy="621792"/>
          </a:xfrm>
          <a:prstGeom prst="rect">
            <a:avLst/>
          </a:prstGeom>
          <a:noFill/>
          <a:ln/>
        </p:spPr>
        <p:txBody>
          <a:bodyPr wrap="square" lIns="0" tIns="0" rIns="0" bIns="0" rtlCol="0" anchor="ctr"/>
          <a:lstStyle/>
          <a:p>
            <a:pPr marL="342900" indent="-342900">
              <a:buSzPct val="100000"/>
              <a:buChar char="•"/>
            </a:pPr>
            <a:r>
              <a:rPr lang="en-US" sz="1200" dirty="0">
                <a:solidFill>
                  <a:srgbClr val="FFFFFF"/>
                </a:solidFill>
                <a:latin typeface="Lexend Deca" pitchFamily="34" charset="0"/>
                <a:ea typeface="Lexend Deca" pitchFamily="34" charset="-122"/>
                <a:cs typeface="Lexend Deca" pitchFamily="34" charset="-120"/>
              </a:rPr>
              <a:t>Codd's Normal Forms: one source of truth, no update anomalies</a:t>
            </a:r>
            <a:endParaRPr lang="en-US" sz="1200" dirty="0"/>
          </a:p>
        </p:txBody>
      </p:sp>
      <p:sp>
        <p:nvSpPr>
          <p:cNvPr id="14" name="Text 12"/>
          <p:cNvSpPr/>
          <p:nvPr/>
        </p:nvSpPr>
        <p:spPr>
          <a:xfrm>
            <a:off x="704088" y="3950208"/>
            <a:ext cx="3291840" cy="621792"/>
          </a:xfrm>
          <a:prstGeom prst="rect">
            <a:avLst/>
          </a:prstGeom>
          <a:noFill/>
          <a:ln/>
        </p:spPr>
        <p:txBody>
          <a:bodyPr wrap="square" lIns="0" tIns="0" rIns="0" bIns="0" rtlCol="0" anchor="ctr"/>
          <a:lstStyle/>
          <a:p>
            <a:pPr marL="342900" indent="-342900">
              <a:buSzPct val="100000"/>
              <a:buChar char="•"/>
            </a:pPr>
            <a:r>
              <a:rPr lang="en-US" sz="1200" dirty="0">
                <a:solidFill>
                  <a:srgbClr val="FFFFFF"/>
                </a:solidFill>
                <a:latin typeface="Lexend Deca" pitchFamily="34" charset="0"/>
                <a:ea typeface="Lexend Deca" pitchFamily="34" charset="-122"/>
                <a:cs typeface="Lexend Deca" pitchFamily="34" charset="-120"/>
              </a:rPr>
              <a:t>JOINs were cheap — all data lived on a single server in RAM</a:t>
            </a:r>
            <a:endParaRPr lang="en-US" sz="1200" dirty="0"/>
          </a:p>
        </p:txBody>
      </p:sp>
      <p:sp>
        <p:nvSpPr>
          <p:cNvPr id="15" name="Text 13"/>
          <p:cNvSpPr/>
          <p:nvPr/>
        </p:nvSpPr>
        <p:spPr>
          <a:xfrm>
            <a:off x="704088" y="4608576"/>
            <a:ext cx="3291840" cy="621792"/>
          </a:xfrm>
          <a:prstGeom prst="rect">
            <a:avLst/>
          </a:prstGeom>
          <a:noFill/>
          <a:ln/>
        </p:spPr>
        <p:txBody>
          <a:bodyPr wrap="square" lIns="0" tIns="0" rIns="0" bIns="0" rtlCol="0" anchor="ctr"/>
          <a:lstStyle/>
          <a:p>
            <a:pPr marL="342900" indent="-342900">
              <a:buSzPct val="100000"/>
              <a:buChar char="•"/>
            </a:pPr>
            <a:r>
              <a:rPr lang="en-US" sz="1200" dirty="0">
                <a:solidFill>
                  <a:srgbClr val="FFFFFF"/>
                </a:solidFill>
                <a:latin typeface="Lexend Deca" pitchFamily="34" charset="0"/>
                <a:ea typeface="Lexend Deca" pitchFamily="34" charset="-122"/>
                <a:cs typeface="Lexend Deca" pitchFamily="34" charset="-120"/>
              </a:rPr>
              <a:t>Apps were internal, low-traffic — schemas were fixed for decades</a:t>
            </a:r>
            <a:endParaRPr lang="en-US" sz="1200" dirty="0"/>
          </a:p>
        </p:txBody>
      </p:sp>
      <p:sp>
        <p:nvSpPr>
          <p:cNvPr id="16" name="Text 14"/>
          <p:cNvSpPr/>
          <p:nvPr/>
        </p:nvSpPr>
        <p:spPr>
          <a:xfrm>
            <a:off x="704088" y="5266944"/>
            <a:ext cx="3291840" cy="621792"/>
          </a:xfrm>
          <a:prstGeom prst="rect">
            <a:avLst/>
          </a:prstGeom>
          <a:noFill/>
          <a:ln/>
        </p:spPr>
        <p:txBody>
          <a:bodyPr wrap="square" lIns="0" tIns="0" rIns="0" bIns="0" rtlCol="0" anchor="ctr"/>
          <a:lstStyle/>
          <a:p>
            <a:pPr marL="342900" indent="-342900">
              <a:buSzPct val="100000"/>
              <a:buChar char="•"/>
            </a:pPr>
            <a:r>
              <a:rPr lang="en-US" sz="1200" dirty="0">
                <a:solidFill>
                  <a:srgbClr val="FFFFFF"/>
                </a:solidFill>
                <a:latin typeface="Lexend Deca" pitchFamily="34" charset="0"/>
                <a:ea typeface="Lexend Deca" pitchFamily="34" charset="-122"/>
                <a:cs typeface="Lexend Deca" pitchFamily="34" charset="-120"/>
              </a:rPr>
              <a:t>3NF became the industry standard: mathematical, provable, correct</a:t>
            </a:r>
            <a:endParaRPr lang="en-US" sz="1200" dirty="0"/>
          </a:p>
        </p:txBody>
      </p:sp>
      <p:sp>
        <p:nvSpPr>
          <p:cNvPr id="17" name="Shape 15"/>
          <p:cNvSpPr/>
          <p:nvPr/>
        </p:nvSpPr>
        <p:spPr>
          <a:xfrm>
            <a:off x="4288536" y="1298448"/>
            <a:ext cx="3566160" cy="4846320"/>
          </a:xfrm>
          <a:prstGeom prst="rect">
            <a:avLst/>
          </a:prstGeom>
          <a:solidFill>
            <a:srgbClr val="023430"/>
          </a:solidFill>
          <a:ln w="22860">
            <a:solidFill>
              <a:srgbClr val="4A9EFF"/>
            </a:solidFill>
            <a:prstDash val="solid"/>
          </a:ln>
          <a:effectLst>
            <a:outerShdw sx="100000" sy="100000" kx="0" ky="0" algn="bl" rotWithShape="0" blurRad="127000" dist="38100" dir="8100000">
              <a:srgbClr val="000000">
                <a:alpha val="28000"/>
              </a:srgbClr>
            </a:outerShdw>
          </a:effectLst>
        </p:spPr>
      </p:sp>
      <p:sp>
        <p:nvSpPr>
          <p:cNvPr id="18" name="Shape 16"/>
          <p:cNvSpPr/>
          <p:nvPr/>
        </p:nvSpPr>
        <p:spPr>
          <a:xfrm>
            <a:off x="4288536" y="1298448"/>
            <a:ext cx="3566160" cy="621792"/>
          </a:xfrm>
          <a:prstGeom prst="rect">
            <a:avLst/>
          </a:prstGeom>
          <a:solidFill>
            <a:srgbClr val="4A9EFF"/>
          </a:solidFill>
          <a:ln w="12700">
            <a:solidFill>
              <a:srgbClr val="4A9EFF"/>
            </a:solidFill>
            <a:prstDash val="solid"/>
          </a:ln>
        </p:spPr>
      </p:sp>
      <p:sp>
        <p:nvSpPr>
          <p:cNvPr id="19" name="Text 17"/>
          <p:cNvSpPr/>
          <p:nvPr/>
        </p:nvSpPr>
        <p:spPr>
          <a:xfrm>
            <a:off x="4425696" y="1344168"/>
            <a:ext cx="3291840" cy="292608"/>
          </a:xfrm>
          <a:prstGeom prst="rect">
            <a:avLst/>
          </a:prstGeom>
          <a:noFill/>
          <a:ln/>
        </p:spPr>
        <p:txBody>
          <a:bodyPr wrap="square" lIns="0" tIns="0" rIns="0" bIns="0" rtlCol="0" anchor="ctr"/>
          <a:lstStyle/>
          <a:p>
            <a:pPr indent="0" marL="0">
              <a:buNone/>
            </a:pPr>
            <a:r>
              <a:rPr lang="en-US" sz="1400" b="1" dirty="0">
                <a:solidFill>
                  <a:srgbClr val="001E2B"/>
                </a:solidFill>
                <a:latin typeface="Lexend Deca" pitchFamily="34" charset="0"/>
                <a:ea typeface="Lexend Deca" pitchFamily="34" charset="-122"/>
                <a:cs typeface="Lexend Deca" pitchFamily="34" charset="-120"/>
              </a:rPr>
              <a:t>⚡  Era 2</a:t>
            </a:r>
            <a:endParaRPr lang="en-US" sz="1400" dirty="0"/>
          </a:p>
        </p:txBody>
      </p:sp>
      <p:sp>
        <p:nvSpPr>
          <p:cNvPr id="20" name="Text 18"/>
          <p:cNvSpPr/>
          <p:nvPr/>
        </p:nvSpPr>
        <p:spPr>
          <a:xfrm>
            <a:off x="4425696" y="1627632"/>
            <a:ext cx="3291840" cy="237744"/>
          </a:xfrm>
          <a:prstGeom prst="rect">
            <a:avLst/>
          </a:prstGeom>
          <a:noFill/>
          <a:ln/>
        </p:spPr>
        <p:txBody>
          <a:bodyPr wrap="square" lIns="0" tIns="0" rIns="0" bIns="0" rtlCol="0" anchor="ctr"/>
          <a:lstStyle/>
          <a:p>
            <a:pPr indent="0" marL="0">
              <a:buNone/>
            </a:pPr>
            <a:r>
              <a:rPr lang="en-US" sz="1050" dirty="0">
                <a:solidFill>
                  <a:srgbClr val="001E2B"/>
                </a:solidFill>
                <a:latin typeface="Lexend Deca" pitchFamily="34" charset="0"/>
                <a:ea typeface="Lexend Deca" pitchFamily="34" charset="-122"/>
                <a:cs typeface="Lexend Deca" pitchFamily="34" charset="-120"/>
              </a:rPr>
              <a:t>2000s — Web Scale Arrives</a:t>
            </a:r>
            <a:endParaRPr lang="en-US" sz="1050" dirty="0"/>
          </a:p>
        </p:txBody>
      </p:sp>
      <p:sp>
        <p:nvSpPr>
          <p:cNvPr id="21" name="Text 19"/>
          <p:cNvSpPr/>
          <p:nvPr/>
        </p:nvSpPr>
        <p:spPr>
          <a:xfrm>
            <a:off x="4425696" y="2011680"/>
            <a:ext cx="3291840" cy="475488"/>
          </a:xfrm>
          <a:prstGeom prst="rect">
            <a:avLst/>
          </a:prstGeom>
          <a:noFill/>
          <a:ln/>
        </p:spPr>
        <p:txBody>
          <a:bodyPr wrap="square" lIns="0" tIns="0" rIns="0" bIns="0" rtlCol="0" anchor="ctr"/>
          <a:lstStyle/>
          <a:p>
            <a:pPr indent="0" marL="0">
              <a:buNone/>
            </a:pPr>
            <a:r>
              <a:rPr lang="en-US" sz="1500" b="1" dirty="0">
                <a:solidFill>
                  <a:srgbClr val="4A9EFF"/>
                </a:solidFill>
                <a:latin typeface="Lexend Deca" pitchFamily="34" charset="0"/>
                <a:ea typeface="Lexend Deca" pitchFamily="34" charset="-122"/>
                <a:cs typeface="Lexend Deca" pitchFamily="34" charset="-120"/>
              </a:rPr>
              <a:t>Denormalization Tried &amp; Dropped</a:t>
            </a:r>
            <a:endParaRPr lang="en-US" sz="1500" dirty="0"/>
          </a:p>
        </p:txBody>
      </p:sp>
      <p:sp>
        <p:nvSpPr>
          <p:cNvPr id="22" name="Shape 20"/>
          <p:cNvSpPr/>
          <p:nvPr/>
        </p:nvSpPr>
        <p:spPr>
          <a:xfrm>
            <a:off x="4425696" y="2523744"/>
            <a:ext cx="3291840" cy="36576"/>
          </a:xfrm>
          <a:prstGeom prst="rect">
            <a:avLst/>
          </a:prstGeom>
          <a:solidFill>
            <a:srgbClr val="4A9EFF">
              <a:alpha val="45000"/>
            </a:srgbClr>
          </a:solidFill>
          <a:ln w="12700">
            <a:solidFill>
              <a:srgbClr val="4A9EFF"/>
            </a:solidFill>
            <a:prstDash val="solid"/>
          </a:ln>
        </p:spPr>
      </p:sp>
      <p:sp>
        <p:nvSpPr>
          <p:cNvPr id="23" name="Text 21"/>
          <p:cNvSpPr/>
          <p:nvPr/>
        </p:nvSpPr>
        <p:spPr>
          <a:xfrm>
            <a:off x="4425696" y="2633472"/>
            <a:ext cx="3291840" cy="621792"/>
          </a:xfrm>
          <a:prstGeom prst="rect">
            <a:avLst/>
          </a:prstGeom>
          <a:noFill/>
          <a:ln/>
        </p:spPr>
        <p:txBody>
          <a:bodyPr wrap="square" lIns="0" tIns="0" rIns="0" bIns="0" rtlCol="0" anchor="ctr"/>
          <a:lstStyle/>
          <a:p>
            <a:pPr marL="342900" indent="-342900">
              <a:buSzPct val="100000"/>
              <a:buChar char="•"/>
            </a:pPr>
            <a:r>
              <a:rPr lang="en-US" sz="1200" dirty="0">
                <a:solidFill>
                  <a:srgbClr val="FFFFFF"/>
                </a:solidFill>
                <a:latin typeface="Lexend Deca" pitchFamily="34" charset="0"/>
                <a:ea typeface="Lexend Deca" pitchFamily="34" charset="-122"/>
                <a:cs typeface="Lexend Deca" pitchFamily="34" charset="-120"/>
              </a:rPr>
              <a:t>High-traffic web (Amazon, Yahoo) exposed JOIN bottlenecks under concurrency</a:t>
            </a:r>
            <a:endParaRPr lang="en-US" sz="1200" dirty="0"/>
          </a:p>
        </p:txBody>
      </p:sp>
      <p:sp>
        <p:nvSpPr>
          <p:cNvPr id="24" name="Text 22"/>
          <p:cNvSpPr/>
          <p:nvPr/>
        </p:nvSpPr>
        <p:spPr>
          <a:xfrm>
            <a:off x="4425696" y="3291840"/>
            <a:ext cx="3291840" cy="621792"/>
          </a:xfrm>
          <a:prstGeom prst="rect">
            <a:avLst/>
          </a:prstGeom>
          <a:noFill/>
          <a:ln/>
        </p:spPr>
        <p:txBody>
          <a:bodyPr wrap="square" lIns="0" tIns="0" rIns="0" bIns="0" rtlCol="0" anchor="ctr"/>
          <a:lstStyle/>
          <a:p>
            <a:pPr marL="342900" indent="-342900">
              <a:buSzPct val="100000"/>
              <a:buChar char="•"/>
            </a:pPr>
            <a:r>
              <a:rPr lang="en-US" sz="1200" dirty="0">
                <a:solidFill>
                  <a:srgbClr val="FFFFFF"/>
                </a:solidFill>
                <a:latin typeface="Lexend Deca" pitchFamily="34" charset="0"/>
                <a:ea typeface="Lexend Deca" pitchFamily="34" charset="-122"/>
                <a:cs typeface="Lexend Deca" pitchFamily="34" charset="-120"/>
              </a:rPr>
              <a:t>Data warehouses pre-joined tables (star schema) for analytics speed</a:t>
            </a:r>
            <a:endParaRPr lang="en-US" sz="1200" dirty="0"/>
          </a:p>
        </p:txBody>
      </p:sp>
      <p:sp>
        <p:nvSpPr>
          <p:cNvPr id="25" name="Text 23"/>
          <p:cNvSpPr/>
          <p:nvPr/>
        </p:nvSpPr>
        <p:spPr>
          <a:xfrm>
            <a:off x="4425696" y="3950208"/>
            <a:ext cx="3291840" cy="621792"/>
          </a:xfrm>
          <a:prstGeom prst="rect">
            <a:avLst/>
          </a:prstGeom>
          <a:noFill/>
          <a:ln/>
        </p:spPr>
        <p:txBody>
          <a:bodyPr wrap="square" lIns="0" tIns="0" rIns="0" bIns="0" rtlCol="0" anchor="ctr"/>
          <a:lstStyle/>
          <a:p>
            <a:pPr marL="342900" indent="-342900">
              <a:buSzPct val="100000"/>
              <a:buChar char="•"/>
            </a:pPr>
            <a:r>
              <a:rPr lang="en-US" sz="1200" dirty="0">
                <a:solidFill>
                  <a:srgbClr val="FFFFFF"/>
                </a:solidFill>
                <a:latin typeface="Lexend Deca" pitchFamily="34" charset="0"/>
                <a:ea typeface="Lexend Deca" pitchFamily="34" charset="-122"/>
                <a:cs typeface="Lexend Deca" pitchFamily="34" charset="-120"/>
              </a:rPr>
              <a:t>In OLTP: no tooling — hand-rolling denormalized writes was error-prone</a:t>
            </a:r>
            <a:endParaRPr lang="en-US" sz="1200" dirty="0"/>
          </a:p>
        </p:txBody>
      </p:sp>
      <p:sp>
        <p:nvSpPr>
          <p:cNvPr id="26" name="Text 24"/>
          <p:cNvSpPr/>
          <p:nvPr/>
        </p:nvSpPr>
        <p:spPr>
          <a:xfrm>
            <a:off x="4425696" y="4608576"/>
            <a:ext cx="3291840" cy="621792"/>
          </a:xfrm>
          <a:prstGeom prst="rect">
            <a:avLst/>
          </a:prstGeom>
          <a:noFill/>
          <a:ln/>
        </p:spPr>
        <p:txBody>
          <a:bodyPr wrap="square" lIns="0" tIns="0" rIns="0" bIns="0" rtlCol="0" anchor="ctr"/>
          <a:lstStyle/>
          <a:p>
            <a:pPr marL="342900" indent="-342900">
              <a:buSzPct val="100000"/>
              <a:buChar char="•"/>
            </a:pPr>
            <a:r>
              <a:rPr lang="en-US" sz="1200" dirty="0">
                <a:solidFill>
                  <a:srgbClr val="FFFFFF"/>
                </a:solidFill>
                <a:latin typeface="Lexend Deca" pitchFamily="34" charset="0"/>
                <a:ea typeface="Lexend Deca" pitchFamily="34" charset="-122"/>
                <a:cs typeface="Lexend Deca" pitchFamily="34" charset="-120"/>
              </a:rPr>
              <a:t>Update anomalies returned — customer name duplicated across 50 K rows</a:t>
            </a:r>
            <a:endParaRPr lang="en-US" sz="1200" dirty="0"/>
          </a:p>
        </p:txBody>
      </p:sp>
      <p:sp>
        <p:nvSpPr>
          <p:cNvPr id="27" name="Text 25"/>
          <p:cNvSpPr/>
          <p:nvPr/>
        </p:nvSpPr>
        <p:spPr>
          <a:xfrm>
            <a:off x="4425696" y="5266944"/>
            <a:ext cx="3291840" cy="621792"/>
          </a:xfrm>
          <a:prstGeom prst="rect">
            <a:avLst/>
          </a:prstGeom>
          <a:noFill/>
          <a:ln/>
        </p:spPr>
        <p:txBody>
          <a:bodyPr wrap="square" lIns="0" tIns="0" rIns="0" bIns="0" rtlCol="0" anchor="ctr"/>
          <a:lstStyle/>
          <a:p>
            <a:pPr marL="342900" indent="-342900">
              <a:buSzPct val="100000"/>
              <a:buChar char="•"/>
            </a:pPr>
            <a:r>
              <a:rPr lang="en-US" sz="1200" dirty="0">
                <a:solidFill>
                  <a:srgbClr val="FFFFFF"/>
                </a:solidFill>
                <a:latin typeface="Lexend Deca" pitchFamily="34" charset="0"/>
                <a:ea typeface="Lexend Deca" pitchFamily="34" charset="-122"/>
                <a:cs typeface="Lexend Deca" pitchFamily="34" charset="-120"/>
              </a:rPr>
              <a:t>3NF became cultural: DBAs called denormalization a 'bad practice'</a:t>
            </a:r>
            <a:endParaRPr lang="en-US" sz="1200" dirty="0"/>
          </a:p>
        </p:txBody>
      </p:sp>
      <p:sp>
        <p:nvSpPr>
          <p:cNvPr id="28" name="Shape 26"/>
          <p:cNvSpPr/>
          <p:nvPr/>
        </p:nvSpPr>
        <p:spPr>
          <a:xfrm>
            <a:off x="8010144" y="1298448"/>
            <a:ext cx="3566160" cy="4846320"/>
          </a:xfrm>
          <a:prstGeom prst="rect">
            <a:avLst/>
          </a:prstGeom>
          <a:solidFill>
            <a:srgbClr val="023430"/>
          </a:solidFill>
          <a:ln w="22860">
            <a:solidFill>
              <a:srgbClr val="F97316"/>
            </a:solidFill>
            <a:prstDash val="solid"/>
          </a:ln>
          <a:effectLst>
            <a:outerShdw sx="100000" sy="100000" kx="0" ky="0" algn="bl" rotWithShape="0" blurRad="127000" dist="38100" dir="8100000">
              <a:srgbClr val="000000">
                <a:alpha val="28000"/>
              </a:srgbClr>
            </a:outerShdw>
          </a:effectLst>
        </p:spPr>
      </p:sp>
      <p:sp>
        <p:nvSpPr>
          <p:cNvPr id="29" name="Shape 27"/>
          <p:cNvSpPr/>
          <p:nvPr/>
        </p:nvSpPr>
        <p:spPr>
          <a:xfrm>
            <a:off x="8010144" y="1298448"/>
            <a:ext cx="3566160" cy="621792"/>
          </a:xfrm>
          <a:prstGeom prst="rect">
            <a:avLst/>
          </a:prstGeom>
          <a:solidFill>
            <a:srgbClr val="F97316"/>
          </a:solidFill>
          <a:ln w="12700">
            <a:solidFill>
              <a:srgbClr val="F97316"/>
            </a:solidFill>
            <a:prstDash val="solid"/>
          </a:ln>
        </p:spPr>
      </p:sp>
      <p:sp>
        <p:nvSpPr>
          <p:cNvPr id="30" name="Text 28"/>
          <p:cNvSpPr/>
          <p:nvPr/>
        </p:nvSpPr>
        <p:spPr>
          <a:xfrm>
            <a:off x="8147304" y="1344168"/>
            <a:ext cx="3291840" cy="292608"/>
          </a:xfrm>
          <a:prstGeom prst="rect">
            <a:avLst/>
          </a:prstGeom>
          <a:noFill/>
          <a:ln/>
        </p:spPr>
        <p:txBody>
          <a:bodyPr wrap="square" lIns="0" tIns="0" rIns="0" bIns="0" rtlCol="0" anchor="ctr"/>
          <a:lstStyle/>
          <a:p>
            <a:pPr indent="0" marL="0">
              <a:buNone/>
            </a:pPr>
            <a:r>
              <a:rPr lang="en-US" sz="1400" b="1" dirty="0">
                <a:solidFill>
                  <a:srgbClr val="001E2B"/>
                </a:solidFill>
                <a:latin typeface="Lexend Deca" pitchFamily="34" charset="0"/>
                <a:ea typeface="Lexend Deca" pitchFamily="34" charset="-122"/>
                <a:cs typeface="Lexend Deca" pitchFamily="34" charset="-120"/>
              </a:rPr>
              <a:t>🌍  Era 3</a:t>
            </a:r>
            <a:endParaRPr lang="en-US" sz="1400" dirty="0"/>
          </a:p>
        </p:txBody>
      </p:sp>
      <p:sp>
        <p:nvSpPr>
          <p:cNvPr id="31" name="Text 29"/>
          <p:cNvSpPr/>
          <p:nvPr/>
        </p:nvSpPr>
        <p:spPr>
          <a:xfrm>
            <a:off x="8147304" y="1627632"/>
            <a:ext cx="3291840" cy="237744"/>
          </a:xfrm>
          <a:prstGeom prst="rect">
            <a:avLst/>
          </a:prstGeom>
          <a:noFill/>
          <a:ln/>
        </p:spPr>
        <p:txBody>
          <a:bodyPr wrap="square" lIns="0" tIns="0" rIns="0" bIns="0" rtlCol="0" anchor="ctr"/>
          <a:lstStyle/>
          <a:p>
            <a:pPr indent="0" marL="0">
              <a:buNone/>
            </a:pPr>
            <a:r>
              <a:rPr lang="en-US" sz="1050" dirty="0">
                <a:solidFill>
                  <a:srgbClr val="001E2B"/>
                </a:solidFill>
                <a:latin typeface="Lexend Deca" pitchFamily="34" charset="0"/>
                <a:ea typeface="Lexend Deca" pitchFamily="34" charset="-122"/>
                <a:cs typeface="Lexend Deca" pitchFamily="34" charset="-120"/>
              </a:rPr>
              <a:t>2010s → Today</a:t>
            </a:r>
            <a:endParaRPr lang="en-US" sz="1050" dirty="0"/>
          </a:p>
        </p:txBody>
      </p:sp>
      <p:sp>
        <p:nvSpPr>
          <p:cNvPr id="32" name="Text 30"/>
          <p:cNvSpPr/>
          <p:nvPr/>
        </p:nvSpPr>
        <p:spPr>
          <a:xfrm>
            <a:off x="8147304" y="2011680"/>
            <a:ext cx="3291840" cy="475488"/>
          </a:xfrm>
          <a:prstGeom prst="rect">
            <a:avLst/>
          </a:prstGeom>
          <a:noFill/>
          <a:ln/>
        </p:spPr>
        <p:txBody>
          <a:bodyPr wrap="square" lIns="0" tIns="0" rIns="0" bIns="0" rtlCol="0" anchor="ctr"/>
          <a:lstStyle/>
          <a:p>
            <a:pPr indent="0" marL="0">
              <a:buNone/>
            </a:pPr>
            <a:r>
              <a:rPr lang="en-US" sz="1500" b="1" dirty="0">
                <a:solidFill>
                  <a:srgbClr val="F97316"/>
                </a:solidFill>
                <a:latin typeface="Lexend Deca" pitchFamily="34" charset="0"/>
                <a:ea typeface="Lexend Deca" pitchFamily="34" charset="-122"/>
                <a:cs typeface="Lexend Deca" pitchFamily="34" charset="-120"/>
              </a:rPr>
              <a:t>The World Moves Back</a:t>
            </a:r>
            <a:endParaRPr lang="en-US" sz="1500" dirty="0"/>
          </a:p>
        </p:txBody>
      </p:sp>
      <p:sp>
        <p:nvSpPr>
          <p:cNvPr id="33" name="Shape 31"/>
          <p:cNvSpPr/>
          <p:nvPr/>
        </p:nvSpPr>
        <p:spPr>
          <a:xfrm>
            <a:off x="8147304" y="2523744"/>
            <a:ext cx="3291840" cy="36576"/>
          </a:xfrm>
          <a:prstGeom prst="rect">
            <a:avLst/>
          </a:prstGeom>
          <a:solidFill>
            <a:srgbClr val="F97316">
              <a:alpha val="45000"/>
            </a:srgbClr>
          </a:solidFill>
          <a:ln w="12700">
            <a:solidFill>
              <a:srgbClr val="F97316"/>
            </a:solidFill>
            <a:prstDash val="solid"/>
          </a:ln>
        </p:spPr>
      </p:sp>
      <p:sp>
        <p:nvSpPr>
          <p:cNvPr id="34" name="Text 32"/>
          <p:cNvSpPr/>
          <p:nvPr/>
        </p:nvSpPr>
        <p:spPr>
          <a:xfrm>
            <a:off x="8147304" y="2633472"/>
            <a:ext cx="3291840" cy="621792"/>
          </a:xfrm>
          <a:prstGeom prst="rect">
            <a:avLst/>
          </a:prstGeom>
          <a:noFill/>
          <a:ln/>
        </p:spPr>
        <p:txBody>
          <a:bodyPr wrap="square" lIns="0" tIns="0" rIns="0" bIns="0" rtlCol="0" anchor="ctr"/>
          <a:lstStyle/>
          <a:p>
            <a:pPr marL="342900" indent="-342900">
              <a:buSzPct val="100000"/>
              <a:buChar char="•"/>
            </a:pPr>
            <a:r>
              <a:rPr lang="en-US" sz="1200" dirty="0">
                <a:solidFill>
                  <a:srgbClr val="FFFFFF"/>
                </a:solidFill>
                <a:latin typeface="Lexend Deca" pitchFamily="34" charset="0"/>
                <a:ea typeface="Lexend Deca" pitchFamily="34" charset="-122"/>
                <a:cs typeface="Lexend Deca" pitchFamily="34" charset="-120"/>
              </a:rPr>
              <a:t>Distributed systems broke JOINs — you can't JOIN across shards</a:t>
            </a:r>
            <a:endParaRPr lang="en-US" sz="1200" dirty="0"/>
          </a:p>
        </p:txBody>
      </p:sp>
      <p:sp>
        <p:nvSpPr>
          <p:cNvPr id="35" name="Text 33"/>
          <p:cNvSpPr/>
          <p:nvPr/>
        </p:nvSpPr>
        <p:spPr>
          <a:xfrm>
            <a:off x="8147304" y="3291840"/>
            <a:ext cx="3291840" cy="621792"/>
          </a:xfrm>
          <a:prstGeom prst="rect">
            <a:avLst/>
          </a:prstGeom>
          <a:noFill/>
          <a:ln/>
        </p:spPr>
        <p:txBody>
          <a:bodyPr wrap="square" lIns="0" tIns="0" rIns="0" bIns="0" rtlCol="0" anchor="ctr"/>
          <a:lstStyle/>
          <a:p>
            <a:pPr marL="342900" indent="-342900">
              <a:buSzPct val="100000"/>
              <a:buChar char="•"/>
            </a:pPr>
            <a:r>
              <a:rPr lang="en-US" sz="1200" dirty="0">
                <a:solidFill>
                  <a:srgbClr val="FFFFFF"/>
                </a:solidFill>
                <a:latin typeface="Lexend Deca" pitchFamily="34" charset="0"/>
                <a:ea typeface="Lexend Deca" pitchFamily="34" charset="-122"/>
                <a:cs typeface="Lexend Deca" pitchFamily="34" charset="-120"/>
              </a:rPr>
              <a:t>Reads vastly outnumber writes — optimize for the common path</a:t>
            </a:r>
            <a:endParaRPr lang="en-US" sz="1200" dirty="0"/>
          </a:p>
        </p:txBody>
      </p:sp>
      <p:sp>
        <p:nvSpPr>
          <p:cNvPr id="36" name="Text 34"/>
          <p:cNvSpPr/>
          <p:nvPr/>
        </p:nvSpPr>
        <p:spPr>
          <a:xfrm>
            <a:off x="8147304" y="3950208"/>
            <a:ext cx="3291840" cy="621792"/>
          </a:xfrm>
          <a:prstGeom prst="rect">
            <a:avLst/>
          </a:prstGeom>
          <a:noFill/>
          <a:ln/>
        </p:spPr>
        <p:txBody>
          <a:bodyPr wrap="square" lIns="0" tIns="0" rIns="0" bIns="0" rtlCol="0" anchor="ctr"/>
          <a:lstStyle/>
          <a:p>
            <a:pPr marL="342900" indent="-342900">
              <a:buSzPct val="100000"/>
              <a:buChar char="•"/>
            </a:pPr>
            <a:r>
              <a:rPr lang="en-US" sz="1200" dirty="0">
                <a:solidFill>
                  <a:srgbClr val="FFFFFF"/>
                </a:solidFill>
                <a:latin typeface="Lexend Deca" pitchFamily="34" charset="0"/>
                <a:ea typeface="Lexend Deca" pitchFamily="34" charset="-122"/>
                <a:cs typeface="Lexend Deca" pitchFamily="34" charset="-120"/>
              </a:rPr>
              <a:t>JSON is the API contract — why shred a nested object into 3 tables?</a:t>
            </a:r>
            <a:endParaRPr lang="en-US" sz="1200" dirty="0"/>
          </a:p>
        </p:txBody>
      </p:sp>
      <p:sp>
        <p:nvSpPr>
          <p:cNvPr id="37" name="Text 35"/>
          <p:cNvSpPr/>
          <p:nvPr/>
        </p:nvSpPr>
        <p:spPr>
          <a:xfrm>
            <a:off x="8147304" y="4608576"/>
            <a:ext cx="3291840" cy="621792"/>
          </a:xfrm>
          <a:prstGeom prst="rect">
            <a:avLst/>
          </a:prstGeom>
          <a:noFill/>
          <a:ln/>
        </p:spPr>
        <p:txBody>
          <a:bodyPr wrap="square" lIns="0" tIns="0" rIns="0" bIns="0" rtlCol="0" anchor="ctr"/>
          <a:lstStyle/>
          <a:p>
            <a:pPr marL="342900" indent="-342900">
              <a:buSzPct val="100000"/>
              <a:buChar char="•"/>
            </a:pPr>
            <a:r>
              <a:rPr lang="en-US" sz="1200" dirty="0">
                <a:solidFill>
                  <a:srgbClr val="FFFFFF"/>
                </a:solidFill>
                <a:latin typeface="Lexend Deca" pitchFamily="34" charset="0"/>
                <a:ea typeface="Lexend Deca" pitchFamily="34" charset="-122"/>
                <a:cs typeface="Lexend Deca" pitchFamily="34" charset="-120"/>
              </a:rPr>
              <a:t>Network latency replaced disk cost as the real constraint</a:t>
            </a:r>
            <a:endParaRPr lang="en-US" sz="1200" dirty="0"/>
          </a:p>
        </p:txBody>
      </p:sp>
      <p:sp>
        <p:nvSpPr>
          <p:cNvPr id="38" name="Text 36"/>
          <p:cNvSpPr/>
          <p:nvPr/>
        </p:nvSpPr>
        <p:spPr>
          <a:xfrm>
            <a:off x="8147304" y="5266944"/>
            <a:ext cx="3291840" cy="621792"/>
          </a:xfrm>
          <a:prstGeom prst="rect">
            <a:avLst/>
          </a:prstGeom>
          <a:noFill/>
          <a:ln/>
        </p:spPr>
        <p:txBody>
          <a:bodyPr wrap="square" lIns="0" tIns="0" rIns="0" bIns="0" rtlCol="0" anchor="ctr"/>
          <a:lstStyle/>
          <a:p>
            <a:pPr marL="342900" indent="-342900">
              <a:buSzPct val="100000"/>
              <a:buChar char="•"/>
            </a:pPr>
            <a:r>
              <a:rPr lang="en-US" sz="1200" dirty="0">
                <a:solidFill>
                  <a:srgbClr val="FFFFFF"/>
                </a:solidFill>
                <a:latin typeface="Lexend Deca" pitchFamily="34" charset="0"/>
                <a:ea typeface="Lexend Deca" pitchFamily="34" charset="-122"/>
                <a:cs typeface="Lexend Deca" pitchFamily="34" charset="-120"/>
              </a:rPr>
              <a:t>MongoDB / DynamoDB / Cassandra make denormalization safe and tooled</a:t>
            </a:r>
            <a:endParaRPr lang="en-US" sz="1200" dirty="0"/>
          </a:p>
        </p:txBody>
      </p:sp>
      <p:sp>
        <p:nvSpPr>
          <p:cNvPr id="39" name="Shape 37"/>
          <p:cNvSpPr/>
          <p:nvPr/>
        </p:nvSpPr>
        <p:spPr>
          <a:xfrm>
            <a:off x="566928" y="6217920"/>
            <a:ext cx="11055096" cy="347472"/>
          </a:xfrm>
          <a:prstGeom prst="rect">
            <a:avLst/>
          </a:prstGeom>
          <a:solidFill>
            <a:srgbClr val="012A3A"/>
          </a:solidFill>
          <a:ln w="15240">
            <a:solidFill>
              <a:srgbClr val="00ED64"/>
            </a:solidFill>
            <a:prstDash val="solid"/>
          </a:ln>
        </p:spPr>
      </p:sp>
      <p:sp>
        <p:nvSpPr>
          <p:cNvPr id="40" name="Text 38"/>
          <p:cNvSpPr/>
          <p:nvPr/>
        </p:nvSpPr>
        <p:spPr>
          <a:xfrm>
            <a:off x="795528" y="6217920"/>
            <a:ext cx="10597896" cy="347472"/>
          </a:xfrm>
          <a:prstGeom prst="rect">
            <a:avLst/>
          </a:prstGeom>
          <a:noFill/>
          <a:ln/>
        </p:spPr>
        <p:txBody>
          <a:bodyPr wrap="square" lIns="0" tIns="0" rIns="0" bIns="0" rtlCol="0" anchor="ctr"/>
          <a:lstStyle/>
          <a:p>
            <a:pPr algn="ctr" indent="0" marL="0">
              <a:buNone/>
            </a:pPr>
            <a:r>
              <a:rPr lang="en-US" sz="1350" b="1" i="1" dirty="0">
                <a:solidFill>
                  <a:srgbClr val="00ED64"/>
                </a:solidFill>
                <a:latin typeface="Lexend Deca" pitchFamily="34" charset="0"/>
                <a:ea typeface="Lexend Deca" pitchFamily="34" charset="-122"/>
                <a:cs typeface="Lexend Deca" pitchFamily="34" charset="-120"/>
              </a:rPr>
              <a:t>“Normalization solved the constraints of 1975.  Embedding solves the constraints of 2025.”</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1E2B"/>
        </a:solidFill>
      </p:bgPr>
    </p:bg>
    <p:spTree>
      <p:nvGrpSpPr>
        <p:cNvPr id="1" name=""/>
        <p:cNvGrpSpPr/>
        <p:nvPr/>
      </p:nvGrpSpPr>
      <p:grpSpPr>
        <a:xfrm>
          <a:off x="0" y="0"/>
          <a:ext cx="0" cy="0"/>
          <a:chOff x="0" y="0"/>
          <a:chExt cx="0" cy="0"/>
        </a:xfrm>
      </p:grpSpPr>
      <p:sp>
        <p:nvSpPr>
          <p:cNvPr id="2" name="Shape 0"/>
          <p:cNvSpPr/>
          <p:nvPr/>
        </p:nvSpPr>
        <p:spPr>
          <a:xfrm>
            <a:off x="0" y="6656832"/>
            <a:ext cx="12188952" cy="201168"/>
          </a:xfrm>
          <a:prstGeom prst="rect">
            <a:avLst/>
          </a:prstGeom>
          <a:solidFill>
            <a:srgbClr val="00ED64"/>
          </a:solidFill>
          <a:ln w="12700">
            <a:solidFill>
              <a:srgbClr val="00ED64"/>
            </a:solidFill>
            <a:prstDash val="solid"/>
          </a:ln>
        </p:spPr>
      </p:sp>
      <p:sp>
        <p:nvSpPr>
          <p:cNvPr id="3" name="Shape 1"/>
          <p:cNvSpPr/>
          <p:nvPr/>
        </p:nvSpPr>
        <p:spPr>
          <a:xfrm>
            <a:off x="0" y="0"/>
            <a:ext cx="502920" cy="6858000"/>
          </a:xfrm>
          <a:prstGeom prst="rect">
            <a:avLst/>
          </a:prstGeom>
          <a:solidFill>
            <a:srgbClr val="00ED64"/>
          </a:solidFill>
          <a:ln w="12700">
            <a:solidFill>
              <a:srgbClr val="00ED64"/>
            </a:solidFill>
            <a:prstDash val="solid"/>
          </a:ln>
        </p:spPr>
      </p:sp>
      <p:sp>
        <p:nvSpPr>
          <p:cNvPr id="4" name="Shape 2"/>
          <p:cNvSpPr/>
          <p:nvPr/>
        </p:nvSpPr>
        <p:spPr>
          <a:xfrm>
            <a:off x="8686800" y="-914400"/>
            <a:ext cx="5486400" cy="5486400"/>
          </a:xfrm>
          <a:prstGeom prst="ellipse">
            <a:avLst/>
          </a:prstGeom>
          <a:solidFill>
            <a:srgbClr val="023430">
              <a:alpha val="60000"/>
            </a:srgbClr>
          </a:solidFill>
          <a:ln w="12700">
            <a:solidFill>
              <a:srgbClr val="023430"/>
            </a:solidFill>
            <a:prstDash val="solid"/>
          </a:ln>
        </p:spPr>
      </p:sp>
      <p:sp>
        <p:nvSpPr>
          <p:cNvPr id="5" name="Text 3"/>
          <p:cNvSpPr/>
          <p:nvPr/>
        </p:nvSpPr>
        <p:spPr>
          <a:xfrm>
            <a:off x="822960" y="1645920"/>
            <a:ext cx="2286000" cy="2011680"/>
          </a:xfrm>
          <a:prstGeom prst="rect">
            <a:avLst/>
          </a:prstGeom>
          <a:noFill/>
          <a:ln/>
        </p:spPr>
        <p:txBody>
          <a:bodyPr wrap="square" lIns="0" tIns="0" rIns="0" bIns="0" rtlCol="0" anchor="ctr"/>
          <a:lstStyle/>
          <a:p>
            <a:pPr indent="0" marL="0">
              <a:buNone/>
            </a:pPr>
            <a:r>
              <a:rPr lang="en-US" sz="12000" b="1" dirty="0">
                <a:solidFill>
                  <a:srgbClr val="00ED64">
                    <a:alpha val="80000"/>
                  </a:srgbClr>
                </a:solidFill>
                <a:latin typeface="Lexend Deca" pitchFamily="34" charset="0"/>
                <a:ea typeface="Lexend Deca" pitchFamily="34" charset="-122"/>
                <a:cs typeface="Lexend Deca" pitchFamily="34" charset="-120"/>
              </a:rPr>
              <a:t>01</a:t>
            </a:r>
            <a:endParaRPr lang="en-US" sz="12000" dirty="0"/>
          </a:p>
        </p:txBody>
      </p:sp>
      <p:sp>
        <p:nvSpPr>
          <p:cNvPr id="6" name="Text 4"/>
          <p:cNvSpPr/>
          <p:nvPr/>
        </p:nvSpPr>
        <p:spPr>
          <a:xfrm>
            <a:off x="822960" y="3749040"/>
            <a:ext cx="9144000" cy="1097280"/>
          </a:xfrm>
          <a:prstGeom prst="rect">
            <a:avLst/>
          </a:prstGeom>
          <a:noFill/>
          <a:ln/>
        </p:spPr>
        <p:txBody>
          <a:bodyPr wrap="square" lIns="0" tIns="0" rIns="0" bIns="0" rtlCol="0" anchor="ctr"/>
          <a:lstStyle/>
          <a:p>
            <a:pPr indent="0" marL="0">
              <a:buNone/>
            </a:pPr>
            <a:r>
              <a:rPr lang="en-US" sz="4800" b="1" dirty="0">
                <a:solidFill>
                  <a:srgbClr val="FFFFFF"/>
                </a:solidFill>
                <a:latin typeface="Lexend Deca" pitchFamily="34" charset="0"/>
                <a:ea typeface="Lexend Deca" pitchFamily="34" charset="-122"/>
                <a:cs typeface="Lexend Deca" pitchFamily="34" charset="-120"/>
              </a:rPr>
              <a:t>Data Modeling</a:t>
            </a:r>
            <a:endParaRPr lang="en-US" sz="4800" dirty="0"/>
          </a:p>
        </p:txBody>
      </p:sp>
      <p:sp>
        <p:nvSpPr>
          <p:cNvPr id="7" name="Text 5"/>
          <p:cNvSpPr/>
          <p:nvPr/>
        </p:nvSpPr>
        <p:spPr>
          <a:xfrm>
            <a:off x="822960" y="4937760"/>
            <a:ext cx="8229600" cy="640080"/>
          </a:xfrm>
          <a:prstGeom prst="rect">
            <a:avLst/>
          </a:prstGeom>
          <a:noFill/>
          <a:ln/>
        </p:spPr>
        <p:txBody>
          <a:bodyPr wrap="square" lIns="0" tIns="0" rIns="0" bIns="0" rtlCol="0" anchor="ctr"/>
          <a:lstStyle/>
          <a:p>
            <a:pPr indent="0" marL="0">
              <a:buNone/>
            </a:pPr>
            <a:r>
              <a:rPr lang="en-US" sz="1800" i="1" dirty="0">
                <a:solidFill>
                  <a:srgbClr val="B8C4C2"/>
                </a:solidFill>
                <a:latin typeface="Lexend Deca" pitchFamily="34" charset="0"/>
                <a:ea typeface="Lexend Deca" pitchFamily="34" charset="-122"/>
                <a:cs typeface="Lexend Deca" pitchFamily="34" charset="-120"/>
              </a:rPr>
              <a:t>Documents · Embedding · Referencing · Schema Flexibility</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1E2B"/>
        </a:solidFill>
      </p:bgPr>
    </p:bg>
    <p:spTree>
      <p:nvGrpSpPr>
        <p:cNvPr id="1" name=""/>
        <p:cNvGrpSpPr/>
        <p:nvPr/>
      </p:nvGrpSpPr>
      <p:grpSpPr>
        <a:xfrm>
          <a:off x="0" y="0"/>
          <a:ext cx="0" cy="0"/>
          <a:chOff x="0" y="0"/>
          <a:chExt cx="0" cy="0"/>
        </a:xfrm>
      </p:grpSpPr>
      <p:sp>
        <p:nvSpPr>
          <p:cNvPr id="2" name="Shape 0"/>
          <p:cNvSpPr/>
          <p:nvPr/>
        </p:nvSpPr>
        <p:spPr>
          <a:xfrm>
            <a:off x="0" y="6656832"/>
            <a:ext cx="12188952" cy="201168"/>
          </a:xfrm>
          <a:prstGeom prst="rect">
            <a:avLst/>
          </a:prstGeom>
          <a:solidFill>
            <a:srgbClr val="00ED64"/>
          </a:solidFill>
          <a:ln w="12700">
            <a:solidFill>
              <a:srgbClr val="00ED64"/>
            </a:solidFill>
            <a:prstDash val="solid"/>
          </a:ln>
        </p:spPr>
      </p:sp>
      <p:sp>
        <p:nvSpPr>
          <p:cNvPr id="3" name="Text 1"/>
          <p:cNvSpPr/>
          <p:nvPr/>
        </p:nvSpPr>
        <p:spPr>
          <a:xfrm>
            <a:off x="566928" y="201168"/>
            <a:ext cx="11055096" cy="594360"/>
          </a:xfrm>
          <a:prstGeom prst="rect">
            <a:avLst/>
          </a:prstGeom>
          <a:noFill/>
          <a:ln/>
        </p:spPr>
        <p:txBody>
          <a:bodyPr wrap="square" lIns="0" tIns="0" rIns="0" bIns="0" rtlCol="0" anchor="ctr"/>
          <a:lstStyle/>
          <a:p>
            <a:pPr indent="0" marL="0">
              <a:buNone/>
            </a:pPr>
            <a:r>
              <a:rPr lang="en-US" sz="3000" b="1" dirty="0">
                <a:solidFill>
                  <a:srgbClr val="FFFFFF"/>
                </a:solidFill>
                <a:latin typeface="Lexend Deca" pitchFamily="34" charset="0"/>
                <a:ea typeface="Lexend Deca" pitchFamily="34" charset="-122"/>
                <a:cs typeface="Lexend Deca" pitchFamily="34" charset="-120"/>
              </a:rPr>
              <a:t>Mental Model Shift</a:t>
            </a:r>
            <a:endParaRPr lang="en-US" sz="3000" dirty="0"/>
          </a:p>
        </p:txBody>
      </p:sp>
      <p:sp>
        <p:nvSpPr>
          <p:cNvPr id="4" name="Shape 2"/>
          <p:cNvSpPr/>
          <p:nvPr/>
        </p:nvSpPr>
        <p:spPr>
          <a:xfrm>
            <a:off x="566928" y="822960"/>
            <a:ext cx="1280160" cy="54864"/>
          </a:xfrm>
          <a:prstGeom prst="rect">
            <a:avLst/>
          </a:prstGeom>
          <a:solidFill>
            <a:srgbClr val="00ED64"/>
          </a:solidFill>
          <a:ln w="12700">
            <a:solidFill>
              <a:srgbClr val="00ED64"/>
            </a:solidFill>
            <a:prstDash val="solid"/>
          </a:ln>
        </p:spPr>
      </p:sp>
      <p:sp>
        <p:nvSpPr>
          <p:cNvPr id="5" name="Shape 3"/>
          <p:cNvSpPr/>
          <p:nvPr/>
        </p:nvSpPr>
        <p:spPr>
          <a:xfrm>
            <a:off x="566928" y="960120"/>
            <a:ext cx="5303520" cy="5303520"/>
          </a:xfrm>
          <a:prstGeom prst="rect">
            <a:avLst/>
          </a:prstGeom>
          <a:solidFill>
            <a:srgbClr val="023430"/>
          </a:solidFill>
          <a:ln w="19050">
            <a:solidFill>
              <a:srgbClr val="456789"/>
            </a:solidFill>
            <a:prstDash val="solid"/>
          </a:ln>
          <a:effectLst>
            <a:outerShdw sx="100000" sy="100000" kx="0" ky="0" algn="bl" rotWithShape="0" blurRad="127000" dist="38100" dir="8100000">
              <a:srgbClr val="000000">
                <a:alpha val="28000"/>
              </a:srgbClr>
            </a:outerShdw>
          </a:effectLst>
        </p:spPr>
      </p:sp>
      <p:sp>
        <p:nvSpPr>
          <p:cNvPr id="6" name="Shape 4"/>
          <p:cNvSpPr/>
          <p:nvPr/>
        </p:nvSpPr>
        <p:spPr>
          <a:xfrm>
            <a:off x="566928" y="960120"/>
            <a:ext cx="5303520" cy="566928"/>
          </a:xfrm>
          <a:prstGeom prst="rect">
            <a:avLst/>
          </a:prstGeom>
          <a:solidFill>
            <a:srgbClr val="012A3A"/>
          </a:solidFill>
          <a:ln w="12700">
            <a:solidFill>
              <a:srgbClr val="456789"/>
            </a:solidFill>
            <a:prstDash val="solid"/>
          </a:ln>
        </p:spPr>
      </p:sp>
      <p:sp>
        <p:nvSpPr>
          <p:cNvPr id="7" name="Text 5"/>
          <p:cNvSpPr/>
          <p:nvPr/>
        </p:nvSpPr>
        <p:spPr>
          <a:xfrm>
            <a:off x="566928" y="960120"/>
            <a:ext cx="5303520" cy="566928"/>
          </a:xfrm>
          <a:prstGeom prst="rect">
            <a:avLst/>
          </a:prstGeom>
          <a:noFill/>
          <a:ln/>
        </p:spPr>
        <p:txBody>
          <a:bodyPr wrap="square" lIns="0" tIns="0" rIns="0" bIns="0" rtlCol="0" anchor="ctr"/>
          <a:lstStyle/>
          <a:p>
            <a:pPr algn="ctr" indent="0" marL="0">
              <a:buNone/>
            </a:pPr>
            <a:r>
              <a:rPr lang="en-US" sz="1800" b="1" dirty="0">
                <a:solidFill>
                  <a:srgbClr val="B8C4C2"/>
                </a:solidFill>
                <a:latin typeface="Lexend Deca" pitchFamily="34" charset="0"/>
                <a:ea typeface="Lexend Deca" pitchFamily="34" charset="-122"/>
                <a:cs typeface="Lexend Deca" pitchFamily="34" charset="-120"/>
              </a:rPr>
              <a:t>SQL World</a:t>
            </a:r>
            <a:endParaRPr lang="en-US" sz="1800" dirty="0"/>
          </a:p>
        </p:txBody>
      </p:sp>
      <p:sp>
        <p:nvSpPr>
          <p:cNvPr id="8" name="Text 6"/>
          <p:cNvSpPr/>
          <p:nvPr/>
        </p:nvSpPr>
        <p:spPr>
          <a:xfrm>
            <a:off x="841248" y="1664208"/>
            <a:ext cx="4754880" cy="594360"/>
          </a:xfrm>
          <a:prstGeom prst="rect">
            <a:avLst/>
          </a:prstGeom>
          <a:noFill/>
          <a:ln/>
        </p:spPr>
        <p:txBody>
          <a:bodyPr wrap="square" lIns="0" tIns="0" rIns="0" bIns="0" rtlCol="0" anchor="ctr"/>
          <a:lstStyle/>
          <a:p>
            <a:pPr indent="0" marL="0">
              <a:buNone/>
            </a:pPr>
            <a:r>
              <a:rPr lang="en-US" sz="1800" dirty="0">
                <a:solidFill>
                  <a:srgbClr val="FFFFFF"/>
                </a:solidFill>
                <a:latin typeface="Lexend Deca" pitchFamily="34" charset="0"/>
                <a:ea typeface="Lexend Deca" pitchFamily="34" charset="-122"/>
                <a:cs typeface="Lexend Deca" pitchFamily="34" charset="-120"/>
              </a:rPr>
              <a:t>Schema</a:t>
            </a:r>
            <a:endParaRPr lang="en-US" sz="1800" dirty="0"/>
          </a:p>
        </p:txBody>
      </p:sp>
      <p:sp>
        <p:nvSpPr>
          <p:cNvPr id="9" name="Text 7"/>
          <p:cNvSpPr/>
          <p:nvPr/>
        </p:nvSpPr>
        <p:spPr>
          <a:xfrm>
            <a:off x="5230368" y="1709928"/>
            <a:ext cx="640080" cy="502920"/>
          </a:xfrm>
          <a:prstGeom prst="rect">
            <a:avLst/>
          </a:prstGeom>
          <a:noFill/>
          <a:ln/>
        </p:spPr>
        <p:txBody>
          <a:bodyPr wrap="square" lIns="0" tIns="0" rIns="0" bIns="0" rtlCol="0" anchor="ctr"/>
          <a:lstStyle/>
          <a:p>
            <a:pPr algn="ctr" indent="0" marL="0">
              <a:buNone/>
            </a:pPr>
            <a:r>
              <a:rPr lang="en-US" sz="2200" dirty="0">
                <a:solidFill>
                  <a:srgbClr val="00ED64"/>
                </a:solidFill>
              </a:rPr>
              <a:t>→</a:t>
            </a:r>
            <a:endParaRPr lang="en-US" sz="2200" dirty="0"/>
          </a:p>
        </p:txBody>
      </p:sp>
      <p:sp>
        <p:nvSpPr>
          <p:cNvPr id="10" name="Text 8"/>
          <p:cNvSpPr/>
          <p:nvPr/>
        </p:nvSpPr>
        <p:spPr>
          <a:xfrm>
            <a:off x="841248" y="2322576"/>
            <a:ext cx="4754880" cy="594360"/>
          </a:xfrm>
          <a:prstGeom prst="rect">
            <a:avLst/>
          </a:prstGeom>
          <a:noFill/>
          <a:ln/>
        </p:spPr>
        <p:txBody>
          <a:bodyPr wrap="square" lIns="0" tIns="0" rIns="0" bIns="0" rtlCol="0" anchor="ctr"/>
          <a:lstStyle/>
          <a:p>
            <a:pPr indent="0" marL="0">
              <a:buNone/>
            </a:pPr>
            <a:r>
              <a:rPr lang="en-US" sz="1800" dirty="0">
                <a:solidFill>
                  <a:srgbClr val="FFFFFF"/>
                </a:solidFill>
                <a:latin typeface="Lexend Deca" pitchFamily="34" charset="0"/>
                <a:ea typeface="Lexend Deca" pitchFamily="34" charset="-122"/>
                <a:cs typeface="Lexend Deca" pitchFamily="34" charset="-120"/>
              </a:rPr>
              <a:t>Table</a:t>
            </a:r>
            <a:endParaRPr lang="en-US" sz="1800" dirty="0"/>
          </a:p>
        </p:txBody>
      </p:sp>
      <p:sp>
        <p:nvSpPr>
          <p:cNvPr id="11" name="Text 9"/>
          <p:cNvSpPr/>
          <p:nvPr/>
        </p:nvSpPr>
        <p:spPr>
          <a:xfrm>
            <a:off x="5230368" y="2368296"/>
            <a:ext cx="640080" cy="502920"/>
          </a:xfrm>
          <a:prstGeom prst="rect">
            <a:avLst/>
          </a:prstGeom>
          <a:noFill/>
          <a:ln/>
        </p:spPr>
        <p:txBody>
          <a:bodyPr wrap="square" lIns="0" tIns="0" rIns="0" bIns="0" rtlCol="0" anchor="ctr"/>
          <a:lstStyle/>
          <a:p>
            <a:pPr algn="ctr" indent="0" marL="0">
              <a:buNone/>
            </a:pPr>
            <a:r>
              <a:rPr lang="en-US" sz="2200" dirty="0">
                <a:solidFill>
                  <a:srgbClr val="00ED64"/>
                </a:solidFill>
              </a:rPr>
              <a:t>→</a:t>
            </a:r>
            <a:endParaRPr lang="en-US" sz="2200" dirty="0"/>
          </a:p>
        </p:txBody>
      </p:sp>
      <p:sp>
        <p:nvSpPr>
          <p:cNvPr id="12" name="Text 10"/>
          <p:cNvSpPr/>
          <p:nvPr/>
        </p:nvSpPr>
        <p:spPr>
          <a:xfrm>
            <a:off x="841248" y="2980944"/>
            <a:ext cx="4754880" cy="594360"/>
          </a:xfrm>
          <a:prstGeom prst="rect">
            <a:avLst/>
          </a:prstGeom>
          <a:noFill/>
          <a:ln/>
        </p:spPr>
        <p:txBody>
          <a:bodyPr wrap="square" lIns="0" tIns="0" rIns="0" bIns="0" rtlCol="0" anchor="ctr"/>
          <a:lstStyle/>
          <a:p>
            <a:pPr indent="0" marL="0">
              <a:buNone/>
            </a:pPr>
            <a:r>
              <a:rPr lang="en-US" sz="1800" dirty="0">
                <a:solidFill>
                  <a:srgbClr val="FFFFFF"/>
                </a:solidFill>
                <a:latin typeface="Lexend Deca" pitchFamily="34" charset="0"/>
                <a:ea typeface="Lexend Deca" pitchFamily="34" charset="-122"/>
                <a:cs typeface="Lexend Deca" pitchFamily="34" charset="-120"/>
              </a:rPr>
              <a:t>Row</a:t>
            </a:r>
            <a:endParaRPr lang="en-US" sz="1800" dirty="0"/>
          </a:p>
        </p:txBody>
      </p:sp>
      <p:sp>
        <p:nvSpPr>
          <p:cNvPr id="13" name="Text 11"/>
          <p:cNvSpPr/>
          <p:nvPr/>
        </p:nvSpPr>
        <p:spPr>
          <a:xfrm>
            <a:off x="5230368" y="3026664"/>
            <a:ext cx="640080" cy="502920"/>
          </a:xfrm>
          <a:prstGeom prst="rect">
            <a:avLst/>
          </a:prstGeom>
          <a:noFill/>
          <a:ln/>
        </p:spPr>
        <p:txBody>
          <a:bodyPr wrap="square" lIns="0" tIns="0" rIns="0" bIns="0" rtlCol="0" anchor="ctr"/>
          <a:lstStyle/>
          <a:p>
            <a:pPr algn="ctr" indent="0" marL="0">
              <a:buNone/>
            </a:pPr>
            <a:r>
              <a:rPr lang="en-US" sz="2200" dirty="0">
                <a:solidFill>
                  <a:srgbClr val="00ED64"/>
                </a:solidFill>
              </a:rPr>
              <a:t>→</a:t>
            </a:r>
            <a:endParaRPr lang="en-US" sz="2200" dirty="0"/>
          </a:p>
        </p:txBody>
      </p:sp>
      <p:sp>
        <p:nvSpPr>
          <p:cNvPr id="14" name="Text 12"/>
          <p:cNvSpPr/>
          <p:nvPr/>
        </p:nvSpPr>
        <p:spPr>
          <a:xfrm>
            <a:off x="841248" y="3639312"/>
            <a:ext cx="4754880" cy="594360"/>
          </a:xfrm>
          <a:prstGeom prst="rect">
            <a:avLst/>
          </a:prstGeom>
          <a:noFill/>
          <a:ln/>
        </p:spPr>
        <p:txBody>
          <a:bodyPr wrap="square" lIns="0" tIns="0" rIns="0" bIns="0" rtlCol="0" anchor="ctr"/>
          <a:lstStyle/>
          <a:p>
            <a:pPr indent="0" marL="0">
              <a:buNone/>
            </a:pPr>
            <a:r>
              <a:rPr lang="en-US" sz="1800" dirty="0">
                <a:solidFill>
                  <a:srgbClr val="FFFFFF"/>
                </a:solidFill>
                <a:latin typeface="Lexend Deca" pitchFamily="34" charset="0"/>
                <a:ea typeface="Lexend Deca" pitchFamily="34" charset="-122"/>
                <a:cs typeface="Lexend Deca" pitchFamily="34" charset="-120"/>
              </a:rPr>
              <a:t>Column</a:t>
            </a:r>
            <a:endParaRPr lang="en-US" sz="1800" dirty="0"/>
          </a:p>
        </p:txBody>
      </p:sp>
      <p:sp>
        <p:nvSpPr>
          <p:cNvPr id="15" name="Text 13"/>
          <p:cNvSpPr/>
          <p:nvPr/>
        </p:nvSpPr>
        <p:spPr>
          <a:xfrm>
            <a:off x="5230368" y="3685032"/>
            <a:ext cx="640080" cy="502920"/>
          </a:xfrm>
          <a:prstGeom prst="rect">
            <a:avLst/>
          </a:prstGeom>
          <a:noFill/>
          <a:ln/>
        </p:spPr>
        <p:txBody>
          <a:bodyPr wrap="square" lIns="0" tIns="0" rIns="0" bIns="0" rtlCol="0" anchor="ctr"/>
          <a:lstStyle/>
          <a:p>
            <a:pPr algn="ctr" indent="0" marL="0">
              <a:buNone/>
            </a:pPr>
            <a:r>
              <a:rPr lang="en-US" sz="2200" dirty="0">
                <a:solidFill>
                  <a:srgbClr val="00ED64"/>
                </a:solidFill>
              </a:rPr>
              <a:t>→</a:t>
            </a:r>
            <a:endParaRPr lang="en-US" sz="2200" dirty="0"/>
          </a:p>
        </p:txBody>
      </p:sp>
      <p:sp>
        <p:nvSpPr>
          <p:cNvPr id="16" name="Text 14"/>
          <p:cNvSpPr/>
          <p:nvPr/>
        </p:nvSpPr>
        <p:spPr>
          <a:xfrm>
            <a:off x="841248" y="4297680"/>
            <a:ext cx="4754880" cy="594360"/>
          </a:xfrm>
          <a:prstGeom prst="rect">
            <a:avLst/>
          </a:prstGeom>
          <a:noFill/>
          <a:ln/>
        </p:spPr>
        <p:txBody>
          <a:bodyPr wrap="square" lIns="0" tIns="0" rIns="0" bIns="0" rtlCol="0" anchor="ctr"/>
          <a:lstStyle/>
          <a:p>
            <a:pPr indent="0" marL="0">
              <a:buNone/>
            </a:pPr>
            <a:r>
              <a:rPr lang="en-US" sz="1800" dirty="0">
                <a:solidFill>
                  <a:srgbClr val="FFFFFF"/>
                </a:solidFill>
                <a:latin typeface="Lexend Deca" pitchFamily="34" charset="0"/>
                <a:ea typeface="Lexend Deca" pitchFamily="34" charset="-122"/>
                <a:cs typeface="Lexend Deca" pitchFamily="34" charset="-120"/>
              </a:rPr>
              <a:t>Foreign Key / JOIN</a:t>
            </a:r>
            <a:endParaRPr lang="en-US" sz="1800" dirty="0"/>
          </a:p>
        </p:txBody>
      </p:sp>
      <p:sp>
        <p:nvSpPr>
          <p:cNvPr id="17" name="Text 15"/>
          <p:cNvSpPr/>
          <p:nvPr/>
        </p:nvSpPr>
        <p:spPr>
          <a:xfrm>
            <a:off x="5230368" y="4343400"/>
            <a:ext cx="640080" cy="502920"/>
          </a:xfrm>
          <a:prstGeom prst="rect">
            <a:avLst/>
          </a:prstGeom>
          <a:noFill/>
          <a:ln/>
        </p:spPr>
        <p:txBody>
          <a:bodyPr wrap="square" lIns="0" tIns="0" rIns="0" bIns="0" rtlCol="0" anchor="ctr"/>
          <a:lstStyle/>
          <a:p>
            <a:pPr algn="ctr" indent="0" marL="0">
              <a:buNone/>
            </a:pPr>
            <a:r>
              <a:rPr lang="en-US" sz="2200" dirty="0">
                <a:solidFill>
                  <a:srgbClr val="00ED64"/>
                </a:solidFill>
              </a:rPr>
              <a:t>→</a:t>
            </a:r>
            <a:endParaRPr lang="en-US" sz="2200" dirty="0"/>
          </a:p>
        </p:txBody>
      </p:sp>
      <p:sp>
        <p:nvSpPr>
          <p:cNvPr id="18" name="Shape 16"/>
          <p:cNvSpPr/>
          <p:nvPr/>
        </p:nvSpPr>
        <p:spPr>
          <a:xfrm>
            <a:off x="6510528" y="960120"/>
            <a:ext cx="5669280" cy="5303520"/>
          </a:xfrm>
          <a:prstGeom prst="rect">
            <a:avLst/>
          </a:prstGeom>
          <a:solidFill>
            <a:srgbClr val="023430"/>
          </a:solidFill>
          <a:ln w="19050">
            <a:solidFill>
              <a:srgbClr val="00ED64"/>
            </a:solidFill>
            <a:prstDash val="solid"/>
          </a:ln>
          <a:effectLst>
            <a:outerShdw sx="100000" sy="100000" kx="0" ky="0" algn="bl" rotWithShape="0" blurRad="127000" dist="38100" dir="8100000">
              <a:srgbClr val="000000">
                <a:alpha val="28000"/>
              </a:srgbClr>
            </a:outerShdw>
          </a:effectLst>
        </p:spPr>
      </p:sp>
      <p:sp>
        <p:nvSpPr>
          <p:cNvPr id="19" name="Shape 17"/>
          <p:cNvSpPr/>
          <p:nvPr/>
        </p:nvSpPr>
        <p:spPr>
          <a:xfrm>
            <a:off x="6510528" y="960120"/>
            <a:ext cx="5669280" cy="566928"/>
          </a:xfrm>
          <a:prstGeom prst="rect">
            <a:avLst/>
          </a:prstGeom>
          <a:solidFill>
            <a:srgbClr val="012A3A"/>
          </a:solidFill>
          <a:ln w="12700">
            <a:solidFill>
              <a:srgbClr val="00ED64"/>
            </a:solidFill>
            <a:prstDash val="solid"/>
          </a:ln>
        </p:spPr>
      </p:sp>
      <p:sp>
        <p:nvSpPr>
          <p:cNvPr id="20" name="Text 18"/>
          <p:cNvSpPr/>
          <p:nvPr/>
        </p:nvSpPr>
        <p:spPr>
          <a:xfrm>
            <a:off x="6510528" y="960120"/>
            <a:ext cx="5669280" cy="566928"/>
          </a:xfrm>
          <a:prstGeom prst="rect">
            <a:avLst/>
          </a:prstGeom>
          <a:noFill/>
          <a:ln/>
        </p:spPr>
        <p:txBody>
          <a:bodyPr wrap="square" lIns="0" tIns="0" rIns="0" bIns="0" rtlCol="0" anchor="ctr"/>
          <a:lstStyle/>
          <a:p>
            <a:pPr algn="ctr" indent="0" marL="0">
              <a:buNone/>
            </a:pPr>
            <a:r>
              <a:rPr lang="en-US" sz="1800" b="1" dirty="0">
                <a:solidFill>
                  <a:srgbClr val="00ED64"/>
                </a:solidFill>
                <a:latin typeface="Lexend Deca" pitchFamily="34" charset="0"/>
                <a:ea typeface="Lexend Deca" pitchFamily="34" charset="-122"/>
                <a:cs typeface="Lexend Deca" pitchFamily="34" charset="-120"/>
              </a:rPr>
              <a:t>MongoDB World</a:t>
            </a:r>
            <a:endParaRPr lang="en-US" sz="1800" dirty="0"/>
          </a:p>
        </p:txBody>
      </p:sp>
      <p:sp>
        <p:nvSpPr>
          <p:cNvPr id="21" name="Text 19"/>
          <p:cNvSpPr/>
          <p:nvPr/>
        </p:nvSpPr>
        <p:spPr>
          <a:xfrm>
            <a:off x="6784848" y="1664208"/>
            <a:ext cx="5303520" cy="594360"/>
          </a:xfrm>
          <a:prstGeom prst="rect">
            <a:avLst/>
          </a:prstGeom>
          <a:noFill/>
          <a:ln/>
        </p:spPr>
        <p:txBody>
          <a:bodyPr wrap="square" lIns="0" tIns="0" rIns="0" bIns="0" rtlCol="0" anchor="ctr"/>
          <a:lstStyle/>
          <a:p>
            <a:pPr indent="0" marL="0">
              <a:buNone/>
            </a:pPr>
            <a:r>
              <a:rPr lang="en-US" sz="1800" dirty="0">
                <a:solidFill>
                  <a:srgbClr val="FFFFFF"/>
                </a:solidFill>
                <a:latin typeface="Lexend Deca" pitchFamily="34" charset="0"/>
                <a:ea typeface="Lexend Deca" pitchFamily="34" charset="-122"/>
                <a:cs typeface="Lexend Deca" pitchFamily="34" charset="-120"/>
              </a:rPr>
              <a:t>Database</a:t>
            </a:r>
            <a:endParaRPr lang="en-US" sz="1800" dirty="0"/>
          </a:p>
        </p:txBody>
      </p:sp>
      <p:sp>
        <p:nvSpPr>
          <p:cNvPr id="22" name="Text 20"/>
          <p:cNvSpPr/>
          <p:nvPr/>
        </p:nvSpPr>
        <p:spPr>
          <a:xfrm>
            <a:off x="6784848" y="2322576"/>
            <a:ext cx="5303520" cy="594360"/>
          </a:xfrm>
          <a:prstGeom prst="rect">
            <a:avLst/>
          </a:prstGeom>
          <a:noFill/>
          <a:ln/>
        </p:spPr>
        <p:txBody>
          <a:bodyPr wrap="square" lIns="0" tIns="0" rIns="0" bIns="0" rtlCol="0" anchor="ctr"/>
          <a:lstStyle/>
          <a:p>
            <a:pPr indent="0" marL="0">
              <a:buNone/>
            </a:pPr>
            <a:r>
              <a:rPr lang="en-US" sz="1800" dirty="0">
                <a:solidFill>
                  <a:srgbClr val="FFFFFF"/>
                </a:solidFill>
                <a:latin typeface="Lexend Deca" pitchFamily="34" charset="0"/>
                <a:ea typeface="Lexend Deca" pitchFamily="34" charset="-122"/>
                <a:cs typeface="Lexend Deca" pitchFamily="34" charset="-120"/>
              </a:rPr>
              <a:t>Collection</a:t>
            </a:r>
            <a:endParaRPr lang="en-US" sz="1800" dirty="0"/>
          </a:p>
        </p:txBody>
      </p:sp>
      <p:sp>
        <p:nvSpPr>
          <p:cNvPr id="23" name="Text 21"/>
          <p:cNvSpPr/>
          <p:nvPr/>
        </p:nvSpPr>
        <p:spPr>
          <a:xfrm>
            <a:off x="6784848" y="2980944"/>
            <a:ext cx="5303520" cy="594360"/>
          </a:xfrm>
          <a:prstGeom prst="rect">
            <a:avLst/>
          </a:prstGeom>
          <a:noFill/>
          <a:ln/>
        </p:spPr>
        <p:txBody>
          <a:bodyPr wrap="square" lIns="0" tIns="0" rIns="0" bIns="0" rtlCol="0" anchor="ctr"/>
          <a:lstStyle/>
          <a:p>
            <a:pPr indent="0" marL="0">
              <a:buNone/>
            </a:pPr>
            <a:r>
              <a:rPr lang="en-US" sz="1800" dirty="0">
                <a:solidFill>
                  <a:srgbClr val="FFFFFF"/>
                </a:solidFill>
                <a:latin typeface="Lexend Deca" pitchFamily="34" charset="0"/>
                <a:ea typeface="Lexend Deca" pitchFamily="34" charset="-122"/>
                <a:cs typeface="Lexend Deca" pitchFamily="34" charset="-120"/>
              </a:rPr>
              <a:t>Document  (BSON)</a:t>
            </a:r>
            <a:endParaRPr lang="en-US" sz="1800" dirty="0"/>
          </a:p>
        </p:txBody>
      </p:sp>
      <p:sp>
        <p:nvSpPr>
          <p:cNvPr id="24" name="Text 22"/>
          <p:cNvSpPr/>
          <p:nvPr/>
        </p:nvSpPr>
        <p:spPr>
          <a:xfrm>
            <a:off x="6784848" y="3639312"/>
            <a:ext cx="5303520" cy="594360"/>
          </a:xfrm>
          <a:prstGeom prst="rect">
            <a:avLst/>
          </a:prstGeom>
          <a:noFill/>
          <a:ln/>
        </p:spPr>
        <p:txBody>
          <a:bodyPr wrap="square" lIns="0" tIns="0" rIns="0" bIns="0" rtlCol="0" anchor="ctr"/>
          <a:lstStyle/>
          <a:p>
            <a:pPr indent="0" marL="0">
              <a:buNone/>
            </a:pPr>
            <a:r>
              <a:rPr lang="en-US" sz="1800" dirty="0">
                <a:solidFill>
                  <a:srgbClr val="FFFFFF"/>
                </a:solidFill>
                <a:latin typeface="Lexend Deca" pitchFamily="34" charset="0"/>
                <a:ea typeface="Lexend Deca" pitchFamily="34" charset="-122"/>
                <a:cs typeface="Lexend Deca" pitchFamily="34" charset="-120"/>
              </a:rPr>
              <a:t>Field</a:t>
            </a:r>
            <a:endParaRPr lang="en-US" sz="1800" dirty="0"/>
          </a:p>
        </p:txBody>
      </p:sp>
      <p:sp>
        <p:nvSpPr>
          <p:cNvPr id="25" name="Text 23"/>
          <p:cNvSpPr/>
          <p:nvPr/>
        </p:nvSpPr>
        <p:spPr>
          <a:xfrm>
            <a:off x="6784848" y="4297680"/>
            <a:ext cx="5303520" cy="594360"/>
          </a:xfrm>
          <a:prstGeom prst="rect">
            <a:avLst/>
          </a:prstGeom>
          <a:noFill/>
          <a:ln/>
        </p:spPr>
        <p:txBody>
          <a:bodyPr wrap="square" lIns="0" tIns="0" rIns="0" bIns="0" rtlCol="0" anchor="ctr"/>
          <a:lstStyle/>
          <a:p>
            <a:pPr indent="0" marL="0">
              <a:buNone/>
            </a:pPr>
            <a:r>
              <a:rPr lang="en-US" sz="1800" dirty="0">
                <a:solidFill>
                  <a:srgbClr val="FFFFFF"/>
                </a:solidFill>
                <a:latin typeface="Lexend Deca" pitchFamily="34" charset="0"/>
                <a:ea typeface="Lexend Deca" pitchFamily="34" charset="-122"/>
                <a:cs typeface="Lexend Deca" pitchFamily="34" charset="-120"/>
              </a:rPr>
              <a:t>Embedded doc  /  $lookup</a:t>
            </a:r>
            <a:endParaRPr lang="en-US" sz="1800" dirty="0"/>
          </a:p>
        </p:txBody>
      </p:sp>
      <p:sp>
        <p:nvSpPr>
          <p:cNvPr id="26" name="Text 24"/>
          <p:cNvSpPr/>
          <p:nvPr/>
        </p:nvSpPr>
        <p:spPr>
          <a:xfrm>
            <a:off x="566928" y="6400800"/>
            <a:ext cx="11055096" cy="320040"/>
          </a:xfrm>
          <a:prstGeom prst="rect">
            <a:avLst/>
          </a:prstGeom>
          <a:noFill/>
          <a:ln/>
        </p:spPr>
        <p:txBody>
          <a:bodyPr wrap="square" lIns="0" tIns="0" rIns="0" bIns="0" rtlCol="0" anchor="ctr"/>
          <a:lstStyle/>
          <a:p>
            <a:pPr algn="ctr" indent="0" marL="0">
              <a:buNone/>
            </a:pPr>
            <a:r>
              <a:rPr lang="en-US" sz="1300" dirty="0">
                <a:solidFill>
                  <a:srgbClr val="00ED64"/>
                </a:solidFill>
                <a:latin typeface="Lexend Deca" pitchFamily="34" charset="0"/>
                <a:ea typeface="Lexend Deca" pitchFamily="34" charset="-122"/>
                <a:cs typeface="Lexend Deca" pitchFamily="34" charset="-120"/>
              </a:rPr>
              <a:t>BSON Types: ObjectId  ·  Date  ·  Array  ·  Nested Object  ·  Decimal128</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1E2B"/>
        </a:solidFill>
      </p:bgPr>
    </p:bg>
    <p:spTree>
      <p:nvGrpSpPr>
        <p:cNvPr id="1" name=""/>
        <p:cNvGrpSpPr/>
        <p:nvPr/>
      </p:nvGrpSpPr>
      <p:grpSpPr>
        <a:xfrm>
          <a:off x="0" y="0"/>
          <a:ext cx="0" cy="0"/>
          <a:chOff x="0" y="0"/>
          <a:chExt cx="0" cy="0"/>
        </a:xfrm>
      </p:grpSpPr>
      <p:sp>
        <p:nvSpPr>
          <p:cNvPr id="2" name="Shape 0"/>
          <p:cNvSpPr/>
          <p:nvPr/>
        </p:nvSpPr>
        <p:spPr>
          <a:xfrm>
            <a:off x="0" y="6656832"/>
            <a:ext cx="12188952" cy="201168"/>
          </a:xfrm>
          <a:prstGeom prst="rect">
            <a:avLst/>
          </a:prstGeom>
          <a:solidFill>
            <a:srgbClr val="00ED64"/>
          </a:solidFill>
          <a:ln w="12700">
            <a:solidFill>
              <a:srgbClr val="00ED64"/>
            </a:solidFill>
            <a:prstDash val="solid"/>
          </a:ln>
        </p:spPr>
      </p:sp>
      <p:sp>
        <p:nvSpPr>
          <p:cNvPr id="3" name="Text 1"/>
          <p:cNvSpPr/>
          <p:nvPr/>
        </p:nvSpPr>
        <p:spPr>
          <a:xfrm>
            <a:off x="566928" y="201168"/>
            <a:ext cx="11055096" cy="594360"/>
          </a:xfrm>
          <a:prstGeom prst="rect">
            <a:avLst/>
          </a:prstGeom>
          <a:noFill/>
          <a:ln/>
        </p:spPr>
        <p:txBody>
          <a:bodyPr wrap="square" lIns="0" tIns="0" rIns="0" bIns="0" rtlCol="0" anchor="ctr"/>
          <a:lstStyle/>
          <a:p>
            <a:pPr indent="0" marL="0">
              <a:buNone/>
            </a:pPr>
            <a:r>
              <a:rPr lang="en-US" sz="3000" b="1" dirty="0">
                <a:solidFill>
                  <a:srgbClr val="FFFFFF"/>
                </a:solidFill>
                <a:latin typeface="Lexend Deca" pitchFamily="34" charset="0"/>
                <a:ea typeface="Lexend Deca" pitchFamily="34" charset="-122"/>
                <a:cs typeface="Lexend Deca" pitchFamily="34" charset="-120"/>
              </a:rPr>
              <a:t>When to Choose MongoDB</a:t>
            </a:r>
            <a:endParaRPr lang="en-US" sz="3000" dirty="0"/>
          </a:p>
        </p:txBody>
      </p:sp>
      <p:sp>
        <p:nvSpPr>
          <p:cNvPr id="4" name="Shape 2"/>
          <p:cNvSpPr/>
          <p:nvPr/>
        </p:nvSpPr>
        <p:spPr>
          <a:xfrm>
            <a:off x="566928" y="822960"/>
            <a:ext cx="1280160" cy="54864"/>
          </a:xfrm>
          <a:prstGeom prst="rect">
            <a:avLst/>
          </a:prstGeom>
          <a:solidFill>
            <a:srgbClr val="00ED64"/>
          </a:solidFill>
          <a:ln w="12700">
            <a:solidFill>
              <a:srgbClr val="00ED64"/>
            </a:solidFill>
            <a:prstDash val="solid"/>
          </a:ln>
        </p:spPr>
      </p:sp>
      <p:sp>
        <p:nvSpPr>
          <p:cNvPr id="5" name="Shape 3"/>
          <p:cNvSpPr/>
          <p:nvPr/>
        </p:nvSpPr>
        <p:spPr>
          <a:xfrm>
            <a:off x="566928" y="960120"/>
            <a:ext cx="5486400" cy="5303520"/>
          </a:xfrm>
          <a:prstGeom prst="rect">
            <a:avLst/>
          </a:prstGeom>
          <a:solidFill>
            <a:srgbClr val="023430"/>
          </a:solidFill>
          <a:ln w="19050">
            <a:solidFill>
              <a:srgbClr val="00ED64"/>
            </a:solidFill>
            <a:prstDash val="solid"/>
          </a:ln>
          <a:effectLst>
            <a:outerShdw sx="100000" sy="100000" kx="0" ky="0" algn="bl" rotWithShape="0" blurRad="127000" dist="38100" dir="8100000">
              <a:srgbClr val="000000">
                <a:alpha val="28000"/>
              </a:srgbClr>
            </a:outerShdw>
          </a:effectLst>
        </p:spPr>
      </p:sp>
      <p:sp>
        <p:nvSpPr>
          <p:cNvPr id="6" name="Text 4"/>
          <p:cNvSpPr/>
          <p:nvPr/>
        </p:nvSpPr>
        <p:spPr>
          <a:xfrm>
            <a:off x="749808" y="1024128"/>
            <a:ext cx="5120640" cy="548640"/>
          </a:xfrm>
          <a:prstGeom prst="rect">
            <a:avLst/>
          </a:prstGeom>
          <a:noFill/>
          <a:ln/>
        </p:spPr>
        <p:txBody>
          <a:bodyPr wrap="square" lIns="0" tIns="0" rIns="0" bIns="0" rtlCol="0" anchor="ctr"/>
          <a:lstStyle/>
          <a:p>
            <a:pPr indent="0" marL="0">
              <a:buNone/>
            </a:pPr>
            <a:r>
              <a:rPr lang="en-US" sz="1700" b="1" dirty="0">
                <a:solidFill>
                  <a:srgbClr val="00ED64"/>
                </a:solidFill>
                <a:latin typeface="Lexend Deca" pitchFamily="34" charset="0"/>
                <a:ea typeface="Lexend Deca" pitchFamily="34" charset="-122"/>
                <a:cs typeface="Lexend Deca" pitchFamily="34" charset="-120"/>
              </a:rPr>
              <a:t>✔  USE MongoDB when…</a:t>
            </a:r>
            <a:endParaRPr lang="en-US" sz="1700" dirty="0"/>
          </a:p>
        </p:txBody>
      </p:sp>
      <p:sp>
        <p:nvSpPr>
          <p:cNvPr id="7" name="Text 5"/>
          <p:cNvSpPr/>
          <p:nvPr/>
        </p:nvSpPr>
        <p:spPr>
          <a:xfrm>
            <a:off x="795528" y="1691640"/>
            <a:ext cx="5029200" cy="640080"/>
          </a:xfrm>
          <a:prstGeom prst="rect">
            <a:avLst/>
          </a:prstGeom>
          <a:noFill/>
          <a:ln/>
        </p:spPr>
        <p:txBody>
          <a:bodyPr wrap="square" lIns="0" tIns="0" rIns="0" bIns="0" rtlCol="0" anchor="ctr"/>
          <a:lstStyle/>
          <a:p>
            <a:pPr marL="342900" indent="-342900">
              <a:buSzPct val="100000"/>
              <a:buChar char="•"/>
            </a:pPr>
            <a:r>
              <a:rPr lang="en-US" sz="1500" dirty="0">
                <a:solidFill>
                  <a:srgbClr val="FFFFFF"/>
                </a:solidFill>
                <a:latin typeface="Lexend Deca" pitchFamily="34" charset="0"/>
                <a:ea typeface="Lexend Deca" pitchFamily="34" charset="-122"/>
                <a:cs typeface="Lexend Deca" pitchFamily="34" charset="-120"/>
              </a:rPr>
              <a:t>Flexible / evolving schema — no ALTER TABLE</a:t>
            </a:r>
            <a:endParaRPr lang="en-US" sz="1500" dirty="0"/>
          </a:p>
        </p:txBody>
      </p:sp>
      <p:sp>
        <p:nvSpPr>
          <p:cNvPr id="8" name="Text 6"/>
          <p:cNvSpPr/>
          <p:nvPr/>
        </p:nvSpPr>
        <p:spPr>
          <a:xfrm>
            <a:off x="795528" y="2404872"/>
            <a:ext cx="5029200" cy="640080"/>
          </a:xfrm>
          <a:prstGeom prst="rect">
            <a:avLst/>
          </a:prstGeom>
          <a:noFill/>
          <a:ln/>
        </p:spPr>
        <p:txBody>
          <a:bodyPr wrap="square" lIns="0" tIns="0" rIns="0" bIns="0" rtlCol="0" anchor="ctr"/>
          <a:lstStyle/>
          <a:p>
            <a:pPr marL="342900" indent="-342900">
              <a:buSzPct val="100000"/>
              <a:buChar char="•"/>
            </a:pPr>
            <a:r>
              <a:rPr lang="en-US" sz="1500" dirty="0">
                <a:solidFill>
                  <a:srgbClr val="FFFFFF"/>
                </a:solidFill>
                <a:latin typeface="Lexend Deca" pitchFamily="34" charset="0"/>
                <a:ea typeface="Lexend Deca" pitchFamily="34" charset="-122"/>
                <a:cs typeface="Lexend Deca" pitchFamily="34" charset="-120"/>
              </a:rPr>
              <a:t>Hierarchical or nested data (orders + line items)</a:t>
            </a:r>
            <a:endParaRPr lang="en-US" sz="1500" dirty="0"/>
          </a:p>
        </p:txBody>
      </p:sp>
      <p:sp>
        <p:nvSpPr>
          <p:cNvPr id="9" name="Text 7"/>
          <p:cNvSpPr/>
          <p:nvPr/>
        </p:nvSpPr>
        <p:spPr>
          <a:xfrm>
            <a:off x="795528" y="3118104"/>
            <a:ext cx="5029200" cy="640080"/>
          </a:xfrm>
          <a:prstGeom prst="rect">
            <a:avLst/>
          </a:prstGeom>
          <a:noFill/>
          <a:ln/>
        </p:spPr>
        <p:txBody>
          <a:bodyPr wrap="square" lIns="0" tIns="0" rIns="0" bIns="0" rtlCol="0" anchor="ctr"/>
          <a:lstStyle/>
          <a:p>
            <a:pPr marL="342900" indent="-342900">
              <a:buSzPct val="100000"/>
              <a:buChar char="•"/>
            </a:pPr>
            <a:r>
              <a:rPr lang="en-US" sz="1500" dirty="0">
                <a:solidFill>
                  <a:srgbClr val="FFFFFF"/>
                </a:solidFill>
                <a:latin typeface="Lexend Deca" pitchFamily="34" charset="0"/>
                <a:ea typeface="Lexend Deca" pitchFamily="34" charset="-122"/>
                <a:cs typeface="Lexend Deca" pitchFamily="34" charset="-120"/>
              </a:rPr>
              <a:t>Horizontal scale-out — sharding built-in</a:t>
            </a:r>
            <a:endParaRPr lang="en-US" sz="1500" dirty="0"/>
          </a:p>
        </p:txBody>
      </p:sp>
      <p:sp>
        <p:nvSpPr>
          <p:cNvPr id="10" name="Text 8"/>
          <p:cNvSpPr/>
          <p:nvPr/>
        </p:nvSpPr>
        <p:spPr>
          <a:xfrm>
            <a:off x="795528" y="3831336"/>
            <a:ext cx="5029200" cy="640080"/>
          </a:xfrm>
          <a:prstGeom prst="rect">
            <a:avLst/>
          </a:prstGeom>
          <a:noFill/>
          <a:ln/>
        </p:spPr>
        <p:txBody>
          <a:bodyPr wrap="square" lIns="0" tIns="0" rIns="0" bIns="0" rtlCol="0" anchor="ctr"/>
          <a:lstStyle/>
          <a:p>
            <a:pPr marL="342900" indent="-342900">
              <a:buSzPct val="100000"/>
              <a:buChar char="•"/>
            </a:pPr>
            <a:r>
              <a:rPr lang="en-US" sz="1500" dirty="0">
                <a:solidFill>
                  <a:srgbClr val="FFFFFF"/>
                </a:solidFill>
                <a:latin typeface="Lexend Deca" pitchFamily="34" charset="0"/>
                <a:ea typeface="Lexend Deca" pitchFamily="34" charset="-122"/>
                <a:cs typeface="Lexend Deca" pitchFamily="34" charset="-120"/>
              </a:rPr>
              <a:t>High write throughput &amp; real-time workloads</a:t>
            </a:r>
            <a:endParaRPr lang="en-US" sz="1500" dirty="0"/>
          </a:p>
        </p:txBody>
      </p:sp>
      <p:sp>
        <p:nvSpPr>
          <p:cNvPr id="11" name="Text 9"/>
          <p:cNvSpPr/>
          <p:nvPr/>
        </p:nvSpPr>
        <p:spPr>
          <a:xfrm>
            <a:off x="795528" y="4544568"/>
            <a:ext cx="5029200" cy="640080"/>
          </a:xfrm>
          <a:prstGeom prst="rect">
            <a:avLst/>
          </a:prstGeom>
          <a:noFill/>
          <a:ln/>
        </p:spPr>
        <p:txBody>
          <a:bodyPr wrap="square" lIns="0" tIns="0" rIns="0" bIns="0" rtlCol="0" anchor="ctr"/>
          <a:lstStyle/>
          <a:p>
            <a:pPr marL="342900" indent="-342900">
              <a:buSzPct val="100000"/>
              <a:buChar char="•"/>
            </a:pPr>
            <a:r>
              <a:rPr lang="en-US" sz="1500" dirty="0">
                <a:solidFill>
                  <a:srgbClr val="FFFFFF"/>
                </a:solidFill>
                <a:latin typeface="Lexend Deca" pitchFamily="34" charset="0"/>
                <a:ea typeface="Lexend Deca" pitchFamily="34" charset="-122"/>
                <a:cs typeface="Lexend Deca" pitchFamily="34" charset="-120"/>
              </a:rPr>
              <a:t>Varied document shapes per record</a:t>
            </a:r>
            <a:endParaRPr lang="en-US" sz="1500" dirty="0"/>
          </a:p>
        </p:txBody>
      </p:sp>
      <p:sp>
        <p:nvSpPr>
          <p:cNvPr id="12" name="Shape 10"/>
          <p:cNvSpPr/>
          <p:nvPr/>
        </p:nvSpPr>
        <p:spPr>
          <a:xfrm>
            <a:off x="6510528" y="960120"/>
            <a:ext cx="5669280" cy="5303520"/>
          </a:xfrm>
          <a:prstGeom prst="rect">
            <a:avLst/>
          </a:prstGeom>
          <a:solidFill>
            <a:srgbClr val="023430"/>
          </a:solidFill>
          <a:ln w="19050">
            <a:solidFill>
              <a:srgbClr val="CC4444"/>
            </a:solidFill>
            <a:prstDash val="solid"/>
          </a:ln>
          <a:effectLst>
            <a:outerShdw sx="100000" sy="100000" kx="0" ky="0" algn="bl" rotWithShape="0" blurRad="127000" dist="38100" dir="8100000">
              <a:srgbClr val="000000">
                <a:alpha val="28000"/>
              </a:srgbClr>
            </a:outerShdw>
          </a:effectLst>
        </p:spPr>
      </p:sp>
      <p:sp>
        <p:nvSpPr>
          <p:cNvPr id="13" name="Text 11"/>
          <p:cNvSpPr/>
          <p:nvPr/>
        </p:nvSpPr>
        <p:spPr>
          <a:xfrm>
            <a:off x="6693408" y="1024128"/>
            <a:ext cx="5303520" cy="548640"/>
          </a:xfrm>
          <a:prstGeom prst="rect">
            <a:avLst/>
          </a:prstGeom>
          <a:noFill/>
          <a:ln/>
        </p:spPr>
        <p:txBody>
          <a:bodyPr wrap="square" lIns="0" tIns="0" rIns="0" bIns="0" rtlCol="0" anchor="ctr"/>
          <a:lstStyle/>
          <a:p>
            <a:pPr indent="0" marL="0">
              <a:buNone/>
            </a:pPr>
            <a:r>
              <a:rPr lang="en-US" sz="1700" b="1" dirty="0">
                <a:solidFill>
                  <a:srgbClr val="FF6B6B"/>
                </a:solidFill>
                <a:latin typeface="Lexend Deca" pitchFamily="34" charset="0"/>
                <a:ea typeface="Lexend Deca" pitchFamily="34" charset="-122"/>
                <a:cs typeface="Lexend Deca" pitchFamily="34" charset="-120"/>
              </a:rPr>
              <a:t>✖  RECONSIDER when…</a:t>
            </a:r>
            <a:endParaRPr lang="en-US" sz="1700" dirty="0"/>
          </a:p>
        </p:txBody>
      </p:sp>
      <p:sp>
        <p:nvSpPr>
          <p:cNvPr id="14" name="Text 12"/>
          <p:cNvSpPr/>
          <p:nvPr/>
        </p:nvSpPr>
        <p:spPr>
          <a:xfrm>
            <a:off x="6739128" y="1691640"/>
            <a:ext cx="5303520" cy="868680"/>
          </a:xfrm>
          <a:prstGeom prst="rect">
            <a:avLst/>
          </a:prstGeom>
          <a:noFill/>
          <a:ln/>
        </p:spPr>
        <p:txBody>
          <a:bodyPr wrap="square" lIns="0" tIns="0" rIns="0" bIns="0" rtlCol="0" anchor="ctr"/>
          <a:lstStyle/>
          <a:p>
            <a:pPr marL="342900" indent="-342900">
              <a:buSzPct val="100000"/>
              <a:buChar char="•"/>
            </a:pPr>
            <a:r>
              <a:rPr lang="en-US" sz="1500" dirty="0">
                <a:solidFill>
                  <a:srgbClr val="FFFFFF"/>
                </a:solidFill>
                <a:latin typeface="Lexend Deca" pitchFamily="34" charset="0"/>
                <a:ea typeface="Lexend Deca" pitchFamily="34" charset="-122"/>
                <a:cs typeface="Lexend Deca" pitchFamily="34" charset="-120"/>
              </a:rPr>
              <a:t>Complex multi-entity JOINs are a hard requirement</a:t>
            </a:r>
            <a:endParaRPr lang="en-US" sz="1500" dirty="0"/>
          </a:p>
        </p:txBody>
      </p:sp>
      <p:sp>
        <p:nvSpPr>
          <p:cNvPr id="15" name="Text 13"/>
          <p:cNvSpPr/>
          <p:nvPr/>
        </p:nvSpPr>
        <p:spPr>
          <a:xfrm>
            <a:off x="6739128" y="2697480"/>
            <a:ext cx="5303520" cy="868680"/>
          </a:xfrm>
          <a:prstGeom prst="rect">
            <a:avLst/>
          </a:prstGeom>
          <a:noFill/>
          <a:ln/>
        </p:spPr>
        <p:txBody>
          <a:bodyPr wrap="square" lIns="0" tIns="0" rIns="0" bIns="0" rtlCol="0" anchor="ctr"/>
          <a:lstStyle/>
          <a:p>
            <a:pPr marL="342900" indent="-342900">
              <a:buSzPct val="100000"/>
              <a:buChar char="•"/>
            </a:pPr>
            <a:r>
              <a:rPr lang="en-US" sz="1500" dirty="0">
                <a:solidFill>
                  <a:srgbClr val="FFFFFF"/>
                </a:solidFill>
                <a:latin typeface="Lexend Deca" pitchFamily="34" charset="0"/>
                <a:ea typeface="Lexend Deca" pitchFamily="34" charset="-122"/>
                <a:cs typeface="Lexend Deca" pitchFamily="34" charset="-120"/>
              </a:rPr>
              <a:t>Heavy flat reporting / pure OLAP analytics</a:t>
            </a:r>
            <a:endParaRPr lang="en-US" sz="1500" dirty="0"/>
          </a:p>
        </p:txBody>
      </p:sp>
      <p:sp>
        <p:nvSpPr>
          <p:cNvPr id="16" name="Text 14"/>
          <p:cNvSpPr/>
          <p:nvPr/>
        </p:nvSpPr>
        <p:spPr>
          <a:xfrm>
            <a:off x="6739128" y="3703320"/>
            <a:ext cx="5303520" cy="868680"/>
          </a:xfrm>
          <a:prstGeom prst="rect">
            <a:avLst/>
          </a:prstGeom>
          <a:noFill/>
          <a:ln/>
        </p:spPr>
        <p:txBody>
          <a:bodyPr wrap="square" lIns="0" tIns="0" rIns="0" bIns="0" rtlCol="0" anchor="ctr"/>
          <a:lstStyle/>
          <a:p>
            <a:pPr marL="342900" indent="-342900">
              <a:buSzPct val="100000"/>
              <a:buChar char="•"/>
            </a:pPr>
            <a:r>
              <a:rPr lang="en-US" sz="1500" dirty="0">
                <a:solidFill>
                  <a:srgbClr val="FFFFFF"/>
                </a:solidFill>
                <a:latin typeface="Lexend Deca" pitchFamily="34" charset="0"/>
                <a:ea typeface="Lexend Deca" pitchFamily="34" charset="-122"/>
                <a:cs typeface="Lexend Deca" pitchFamily="34" charset="-120"/>
              </a:rPr>
              <a:t>Enforced foreign key constraints are non-negotiable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1E2B"/>
        </a:solidFill>
      </p:bgPr>
    </p:bg>
    <p:spTree>
      <p:nvGrpSpPr>
        <p:cNvPr id="1" name=""/>
        <p:cNvGrpSpPr/>
        <p:nvPr/>
      </p:nvGrpSpPr>
      <p:grpSpPr>
        <a:xfrm>
          <a:off x="0" y="0"/>
          <a:ext cx="0" cy="0"/>
          <a:chOff x="0" y="0"/>
          <a:chExt cx="0" cy="0"/>
        </a:xfrm>
      </p:grpSpPr>
      <p:sp>
        <p:nvSpPr>
          <p:cNvPr id="2" name="Shape 0"/>
          <p:cNvSpPr/>
          <p:nvPr/>
        </p:nvSpPr>
        <p:spPr>
          <a:xfrm>
            <a:off x="0" y="6656832"/>
            <a:ext cx="12188952" cy="201168"/>
          </a:xfrm>
          <a:prstGeom prst="rect">
            <a:avLst/>
          </a:prstGeom>
          <a:solidFill>
            <a:srgbClr val="00ED64"/>
          </a:solidFill>
          <a:ln w="12700">
            <a:solidFill>
              <a:srgbClr val="00ED64"/>
            </a:solidFill>
            <a:prstDash val="solid"/>
          </a:ln>
        </p:spPr>
      </p:sp>
      <p:sp>
        <p:nvSpPr>
          <p:cNvPr id="3" name="Text 1"/>
          <p:cNvSpPr/>
          <p:nvPr/>
        </p:nvSpPr>
        <p:spPr>
          <a:xfrm>
            <a:off x="566928" y="201168"/>
            <a:ext cx="11055096" cy="594360"/>
          </a:xfrm>
          <a:prstGeom prst="rect">
            <a:avLst/>
          </a:prstGeom>
          <a:noFill/>
          <a:ln/>
        </p:spPr>
        <p:txBody>
          <a:bodyPr wrap="square" lIns="0" tIns="0" rIns="0" bIns="0" rtlCol="0" anchor="ctr"/>
          <a:lstStyle/>
          <a:p>
            <a:pPr indent="0" marL="0">
              <a:buNone/>
            </a:pPr>
            <a:r>
              <a:rPr lang="en-US" sz="3000" b="1" dirty="0">
                <a:solidFill>
                  <a:srgbClr val="FFFFFF"/>
                </a:solidFill>
                <a:latin typeface="Lexend Deca" pitchFamily="34" charset="0"/>
                <a:ea typeface="Lexend Deca" pitchFamily="34" charset="-122"/>
                <a:cs typeface="Lexend Deca" pitchFamily="34" charset="-120"/>
              </a:rPr>
              <a:t>The Scenario — E-Commerce Order Management</a:t>
            </a:r>
            <a:endParaRPr lang="en-US" sz="3000" dirty="0"/>
          </a:p>
        </p:txBody>
      </p:sp>
      <p:sp>
        <p:nvSpPr>
          <p:cNvPr id="4" name="Shape 2"/>
          <p:cNvSpPr/>
          <p:nvPr/>
        </p:nvSpPr>
        <p:spPr>
          <a:xfrm>
            <a:off x="566928" y="822960"/>
            <a:ext cx="1280160" cy="54864"/>
          </a:xfrm>
          <a:prstGeom prst="rect">
            <a:avLst/>
          </a:prstGeom>
          <a:solidFill>
            <a:srgbClr val="00ED64"/>
          </a:solidFill>
          <a:ln w="12700">
            <a:solidFill>
              <a:srgbClr val="00ED64"/>
            </a:solidFill>
            <a:prstDash val="solid"/>
          </a:ln>
        </p:spPr>
      </p:sp>
      <p:sp>
        <p:nvSpPr>
          <p:cNvPr id="5" name="Text 3"/>
          <p:cNvSpPr/>
          <p:nvPr/>
        </p:nvSpPr>
        <p:spPr>
          <a:xfrm>
            <a:off x="566928" y="896112"/>
            <a:ext cx="11055096" cy="438912"/>
          </a:xfrm>
          <a:prstGeom prst="rect">
            <a:avLst/>
          </a:prstGeom>
          <a:noFill/>
          <a:ln/>
        </p:spPr>
        <p:txBody>
          <a:bodyPr wrap="square" lIns="0" tIns="0" rIns="0" bIns="0" rtlCol="0" anchor="ctr"/>
          <a:lstStyle/>
          <a:p>
            <a:pPr indent="0" marL="0">
              <a:buNone/>
            </a:pPr>
            <a:r>
              <a:rPr lang="en-US" sz="1500" dirty="0">
                <a:solidFill>
                  <a:srgbClr val="B8C4C2"/>
                </a:solidFill>
                <a:latin typeface="Lexend Deca" pitchFamily="34" charset="0"/>
                <a:ea typeface="Lexend Deca" pitchFamily="34" charset="-122"/>
                <a:cs typeface="Lexend Deca" pitchFamily="34" charset="-120"/>
              </a:rPr>
              <a:t>Every concept from here onward — SQL normalization, MongoDB modeling, queries, indexes, transactions — uses these three entities:</a:t>
            </a:r>
            <a:endParaRPr lang="en-US" sz="1500" dirty="0"/>
          </a:p>
        </p:txBody>
      </p:sp>
      <p:sp>
        <p:nvSpPr>
          <p:cNvPr id="6" name="Shape 4"/>
          <p:cNvSpPr/>
          <p:nvPr/>
        </p:nvSpPr>
        <p:spPr>
          <a:xfrm>
            <a:off x="566928" y="1426464"/>
            <a:ext cx="3246120" cy="3291840"/>
          </a:xfrm>
          <a:prstGeom prst="rect">
            <a:avLst/>
          </a:prstGeom>
          <a:solidFill>
            <a:srgbClr val="023430"/>
          </a:solidFill>
          <a:ln w="25400">
            <a:solidFill>
              <a:srgbClr val="00ED64"/>
            </a:solidFill>
            <a:prstDash val="solid"/>
          </a:ln>
          <a:effectLst>
            <a:outerShdw sx="100000" sy="100000" kx="0" ky="0" algn="bl" rotWithShape="0" blurRad="127000" dist="38100" dir="8100000">
              <a:srgbClr val="000000">
                <a:alpha val="28000"/>
              </a:srgbClr>
            </a:outerShdw>
          </a:effectLst>
        </p:spPr>
      </p:sp>
      <p:sp>
        <p:nvSpPr>
          <p:cNvPr id="7" name="Shape 5"/>
          <p:cNvSpPr/>
          <p:nvPr/>
        </p:nvSpPr>
        <p:spPr>
          <a:xfrm>
            <a:off x="566928" y="1426464"/>
            <a:ext cx="3246120" cy="594360"/>
          </a:xfrm>
          <a:prstGeom prst="rect">
            <a:avLst/>
          </a:prstGeom>
          <a:solidFill>
            <a:srgbClr val="00ED64"/>
          </a:solidFill>
          <a:ln w="12700">
            <a:solidFill>
              <a:srgbClr val="00ED64"/>
            </a:solidFill>
            <a:prstDash val="solid"/>
          </a:ln>
        </p:spPr>
      </p:sp>
      <p:sp>
        <p:nvSpPr>
          <p:cNvPr id="8" name="Text 6"/>
          <p:cNvSpPr/>
          <p:nvPr/>
        </p:nvSpPr>
        <p:spPr>
          <a:xfrm>
            <a:off x="694944" y="1481328"/>
            <a:ext cx="2990088" cy="502920"/>
          </a:xfrm>
          <a:prstGeom prst="rect">
            <a:avLst/>
          </a:prstGeom>
          <a:noFill/>
          <a:ln/>
        </p:spPr>
        <p:txBody>
          <a:bodyPr wrap="square" lIns="0" tIns="0" rIns="0" bIns="0" rtlCol="0" anchor="ctr"/>
          <a:lstStyle/>
          <a:p>
            <a:pPr indent="0" marL="0">
              <a:buNone/>
            </a:pPr>
            <a:r>
              <a:rPr lang="en-US" sz="1800" b="1" dirty="0">
                <a:solidFill>
                  <a:srgbClr val="001E2B"/>
                </a:solidFill>
                <a:latin typeface="Lexend Deca" pitchFamily="34" charset="0"/>
                <a:ea typeface="Lexend Deca" pitchFamily="34" charset="-122"/>
                <a:cs typeface="Lexend Deca" pitchFamily="34" charset="-120"/>
              </a:rPr>
              <a:t>👤  Customer</a:t>
            </a:r>
            <a:endParaRPr lang="en-US" sz="1800" dirty="0"/>
          </a:p>
        </p:txBody>
      </p:sp>
      <p:sp>
        <p:nvSpPr>
          <p:cNvPr id="9" name="Shape 7"/>
          <p:cNvSpPr/>
          <p:nvPr/>
        </p:nvSpPr>
        <p:spPr>
          <a:xfrm>
            <a:off x="658368" y="2084832"/>
            <a:ext cx="3063240" cy="420624"/>
          </a:xfrm>
          <a:prstGeom prst="rect">
            <a:avLst/>
          </a:prstGeom>
          <a:solidFill>
            <a:srgbClr val="012A3A"/>
          </a:solidFill>
          <a:ln w="12700">
            <a:solidFill>
              <a:srgbClr val="012A3A"/>
            </a:solidFill>
            <a:prstDash val="solid"/>
          </a:ln>
        </p:spPr>
      </p:sp>
      <p:sp>
        <p:nvSpPr>
          <p:cNvPr id="10" name="Text 8"/>
          <p:cNvSpPr/>
          <p:nvPr/>
        </p:nvSpPr>
        <p:spPr>
          <a:xfrm>
            <a:off x="749808" y="2121408"/>
            <a:ext cx="1920240" cy="384048"/>
          </a:xfrm>
          <a:prstGeom prst="rect">
            <a:avLst/>
          </a:prstGeom>
          <a:noFill/>
          <a:ln/>
        </p:spPr>
        <p:txBody>
          <a:bodyPr wrap="square" lIns="0" tIns="0" rIns="0" bIns="0" rtlCol="0" anchor="ctr"/>
          <a:lstStyle/>
          <a:p>
            <a:pPr indent="0" marL="0">
              <a:buNone/>
            </a:pPr>
            <a:r>
              <a:rPr lang="en-US" sz="1200" dirty="0">
                <a:solidFill>
                  <a:srgbClr val="FFFFFF"/>
                </a:solidFill>
                <a:latin typeface="Source Code Pro" pitchFamily="34" charset="0"/>
                <a:ea typeface="Source Code Pro" pitchFamily="34" charset="-122"/>
                <a:cs typeface="Source Code Pro" pitchFamily="34" charset="-120"/>
              </a:rPr>
              <a:t>id</a:t>
            </a:r>
            <a:endParaRPr lang="en-US" sz="1200" dirty="0"/>
          </a:p>
        </p:txBody>
      </p:sp>
      <p:sp>
        <p:nvSpPr>
          <p:cNvPr id="11" name="Text 9"/>
          <p:cNvSpPr/>
          <p:nvPr/>
        </p:nvSpPr>
        <p:spPr>
          <a:xfrm>
            <a:off x="2715768" y="2121408"/>
            <a:ext cx="914400" cy="384048"/>
          </a:xfrm>
          <a:prstGeom prst="rect">
            <a:avLst/>
          </a:prstGeom>
          <a:noFill/>
          <a:ln/>
        </p:spPr>
        <p:txBody>
          <a:bodyPr wrap="square" lIns="0" tIns="0" rIns="0" bIns="0" rtlCol="0" anchor="ctr"/>
          <a:lstStyle/>
          <a:p>
            <a:pPr algn="r" indent="0" marL="0">
              <a:buNone/>
            </a:pPr>
            <a:r>
              <a:rPr lang="en-US" sz="1100" dirty="0">
                <a:solidFill>
                  <a:srgbClr val="B8C4C2"/>
                </a:solidFill>
                <a:latin typeface="Source Code Pro" pitchFamily="34" charset="0"/>
                <a:ea typeface="Source Code Pro" pitchFamily="34" charset="-122"/>
                <a:cs typeface="Source Code Pro" pitchFamily="34" charset="-120"/>
              </a:rPr>
              <a:t>INT  PK</a:t>
            </a:r>
            <a:endParaRPr lang="en-US" sz="1100" dirty="0"/>
          </a:p>
        </p:txBody>
      </p:sp>
      <p:sp>
        <p:nvSpPr>
          <p:cNvPr id="12" name="Text 10"/>
          <p:cNvSpPr/>
          <p:nvPr/>
        </p:nvSpPr>
        <p:spPr>
          <a:xfrm>
            <a:off x="749808" y="2596896"/>
            <a:ext cx="1920240" cy="384048"/>
          </a:xfrm>
          <a:prstGeom prst="rect">
            <a:avLst/>
          </a:prstGeom>
          <a:noFill/>
          <a:ln/>
        </p:spPr>
        <p:txBody>
          <a:bodyPr wrap="square" lIns="0" tIns="0" rIns="0" bIns="0" rtlCol="0" anchor="ctr"/>
          <a:lstStyle/>
          <a:p>
            <a:pPr indent="0" marL="0">
              <a:buNone/>
            </a:pPr>
            <a:r>
              <a:rPr lang="en-US" sz="1200" dirty="0">
                <a:solidFill>
                  <a:srgbClr val="FFFFFF"/>
                </a:solidFill>
                <a:latin typeface="Source Code Pro" pitchFamily="34" charset="0"/>
                <a:ea typeface="Source Code Pro" pitchFamily="34" charset="-122"/>
                <a:cs typeface="Source Code Pro" pitchFamily="34" charset="-120"/>
              </a:rPr>
              <a:t>name</a:t>
            </a:r>
            <a:endParaRPr lang="en-US" sz="1200" dirty="0"/>
          </a:p>
        </p:txBody>
      </p:sp>
      <p:sp>
        <p:nvSpPr>
          <p:cNvPr id="13" name="Text 11"/>
          <p:cNvSpPr/>
          <p:nvPr/>
        </p:nvSpPr>
        <p:spPr>
          <a:xfrm>
            <a:off x="2715768" y="2596896"/>
            <a:ext cx="914400" cy="384048"/>
          </a:xfrm>
          <a:prstGeom prst="rect">
            <a:avLst/>
          </a:prstGeom>
          <a:noFill/>
          <a:ln/>
        </p:spPr>
        <p:txBody>
          <a:bodyPr wrap="square" lIns="0" tIns="0" rIns="0" bIns="0" rtlCol="0" anchor="ctr"/>
          <a:lstStyle/>
          <a:p>
            <a:pPr algn="r" indent="0" marL="0">
              <a:buNone/>
            </a:pPr>
            <a:r>
              <a:rPr lang="en-US" sz="1100" dirty="0">
                <a:solidFill>
                  <a:srgbClr val="B8C4C2"/>
                </a:solidFill>
                <a:latin typeface="Source Code Pro" pitchFamily="34" charset="0"/>
                <a:ea typeface="Source Code Pro" pitchFamily="34" charset="-122"/>
                <a:cs typeface="Source Code Pro" pitchFamily="34" charset="-120"/>
              </a:rPr>
              <a:t>VARCHAR</a:t>
            </a:r>
            <a:endParaRPr lang="en-US" sz="1100" dirty="0"/>
          </a:p>
        </p:txBody>
      </p:sp>
      <p:sp>
        <p:nvSpPr>
          <p:cNvPr id="14" name="Shape 12"/>
          <p:cNvSpPr/>
          <p:nvPr/>
        </p:nvSpPr>
        <p:spPr>
          <a:xfrm>
            <a:off x="658368" y="3035808"/>
            <a:ext cx="3063240" cy="420624"/>
          </a:xfrm>
          <a:prstGeom prst="rect">
            <a:avLst/>
          </a:prstGeom>
          <a:solidFill>
            <a:srgbClr val="012A3A"/>
          </a:solidFill>
          <a:ln w="12700">
            <a:solidFill>
              <a:srgbClr val="012A3A"/>
            </a:solidFill>
            <a:prstDash val="solid"/>
          </a:ln>
        </p:spPr>
      </p:sp>
      <p:sp>
        <p:nvSpPr>
          <p:cNvPr id="15" name="Text 13"/>
          <p:cNvSpPr/>
          <p:nvPr/>
        </p:nvSpPr>
        <p:spPr>
          <a:xfrm>
            <a:off x="749808" y="3072384"/>
            <a:ext cx="1920240" cy="384048"/>
          </a:xfrm>
          <a:prstGeom prst="rect">
            <a:avLst/>
          </a:prstGeom>
          <a:noFill/>
          <a:ln/>
        </p:spPr>
        <p:txBody>
          <a:bodyPr wrap="square" lIns="0" tIns="0" rIns="0" bIns="0" rtlCol="0" anchor="ctr"/>
          <a:lstStyle/>
          <a:p>
            <a:pPr indent="0" marL="0">
              <a:buNone/>
            </a:pPr>
            <a:r>
              <a:rPr lang="en-US" sz="1200" dirty="0">
                <a:solidFill>
                  <a:srgbClr val="FFFFFF"/>
                </a:solidFill>
                <a:latin typeface="Source Code Pro" pitchFamily="34" charset="0"/>
                <a:ea typeface="Source Code Pro" pitchFamily="34" charset="-122"/>
                <a:cs typeface="Source Code Pro" pitchFamily="34" charset="-120"/>
              </a:rPr>
              <a:t>email</a:t>
            </a:r>
            <a:endParaRPr lang="en-US" sz="1200" dirty="0"/>
          </a:p>
        </p:txBody>
      </p:sp>
      <p:sp>
        <p:nvSpPr>
          <p:cNvPr id="16" name="Text 14"/>
          <p:cNvSpPr/>
          <p:nvPr/>
        </p:nvSpPr>
        <p:spPr>
          <a:xfrm>
            <a:off x="2715768" y="3072384"/>
            <a:ext cx="914400" cy="384048"/>
          </a:xfrm>
          <a:prstGeom prst="rect">
            <a:avLst/>
          </a:prstGeom>
          <a:noFill/>
          <a:ln/>
        </p:spPr>
        <p:txBody>
          <a:bodyPr wrap="square" lIns="0" tIns="0" rIns="0" bIns="0" rtlCol="0" anchor="ctr"/>
          <a:lstStyle/>
          <a:p>
            <a:pPr algn="r" indent="0" marL="0">
              <a:buNone/>
            </a:pPr>
            <a:r>
              <a:rPr lang="en-US" sz="1100" dirty="0">
                <a:solidFill>
                  <a:srgbClr val="B8C4C2"/>
                </a:solidFill>
                <a:latin typeface="Source Code Pro" pitchFamily="34" charset="0"/>
                <a:ea typeface="Source Code Pro" pitchFamily="34" charset="-122"/>
                <a:cs typeface="Source Code Pro" pitchFamily="34" charset="-120"/>
              </a:rPr>
              <a:t>VARCHAR</a:t>
            </a:r>
            <a:endParaRPr lang="en-US" sz="1100" dirty="0"/>
          </a:p>
        </p:txBody>
      </p:sp>
      <p:sp>
        <p:nvSpPr>
          <p:cNvPr id="17" name="Text 15"/>
          <p:cNvSpPr/>
          <p:nvPr/>
        </p:nvSpPr>
        <p:spPr>
          <a:xfrm>
            <a:off x="749808" y="3547872"/>
            <a:ext cx="1920240" cy="384048"/>
          </a:xfrm>
          <a:prstGeom prst="rect">
            <a:avLst/>
          </a:prstGeom>
          <a:noFill/>
          <a:ln/>
        </p:spPr>
        <p:txBody>
          <a:bodyPr wrap="square" lIns="0" tIns="0" rIns="0" bIns="0" rtlCol="0" anchor="ctr"/>
          <a:lstStyle/>
          <a:p>
            <a:pPr indent="0" marL="0">
              <a:buNone/>
            </a:pPr>
            <a:r>
              <a:rPr lang="en-US" sz="1200" dirty="0">
                <a:solidFill>
                  <a:srgbClr val="FFFFFF"/>
                </a:solidFill>
                <a:latin typeface="Source Code Pro" pitchFamily="34" charset="0"/>
                <a:ea typeface="Source Code Pro" pitchFamily="34" charset="-122"/>
                <a:cs typeface="Source Code Pro" pitchFamily="34" charset="-120"/>
              </a:rPr>
              <a:t>region</a:t>
            </a:r>
            <a:endParaRPr lang="en-US" sz="1200" dirty="0"/>
          </a:p>
        </p:txBody>
      </p:sp>
      <p:sp>
        <p:nvSpPr>
          <p:cNvPr id="18" name="Text 16"/>
          <p:cNvSpPr/>
          <p:nvPr/>
        </p:nvSpPr>
        <p:spPr>
          <a:xfrm>
            <a:off x="2715768" y="3547872"/>
            <a:ext cx="914400" cy="384048"/>
          </a:xfrm>
          <a:prstGeom prst="rect">
            <a:avLst/>
          </a:prstGeom>
          <a:noFill/>
          <a:ln/>
        </p:spPr>
        <p:txBody>
          <a:bodyPr wrap="square" lIns="0" tIns="0" rIns="0" bIns="0" rtlCol="0" anchor="ctr"/>
          <a:lstStyle/>
          <a:p>
            <a:pPr algn="r" indent="0" marL="0">
              <a:buNone/>
            </a:pPr>
            <a:r>
              <a:rPr lang="en-US" sz="1100" dirty="0">
                <a:solidFill>
                  <a:srgbClr val="B8C4C2"/>
                </a:solidFill>
                <a:latin typeface="Source Code Pro" pitchFamily="34" charset="0"/>
                <a:ea typeface="Source Code Pro" pitchFamily="34" charset="-122"/>
                <a:cs typeface="Source Code Pro" pitchFamily="34" charset="-120"/>
              </a:rPr>
              <a:t>VARCHAR</a:t>
            </a:r>
            <a:endParaRPr lang="en-US" sz="1100" dirty="0"/>
          </a:p>
        </p:txBody>
      </p:sp>
      <p:sp>
        <p:nvSpPr>
          <p:cNvPr id="19" name="Shape 17"/>
          <p:cNvSpPr/>
          <p:nvPr/>
        </p:nvSpPr>
        <p:spPr>
          <a:xfrm>
            <a:off x="658368" y="3986784"/>
            <a:ext cx="3063240" cy="420624"/>
          </a:xfrm>
          <a:prstGeom prst="rect">
            <a:avLst/>
          </a:prstGeom>
          <a:solidFill>
            <a:srgbClr val="012A3A"/>
          </a:solidFill>
          <a:ln w="12700">
            <a:solidFill>
              <a:srgbClr val="012A3A"/>
            </a:solidFill>
            <a:prstDash val="solid"/>
          </a:ln>
        </p:spPr>
      </p:sp>
      <p:sp>
        <p:nvSpPr>
          <p:cNvPr id="20" name="Text 18"/>
          <p:cNvSpPr/>
          <p:nvPr/>
        </p:nvSpPr>
        <p:spPr>
          <a:xfrm>
            <a:off x="749808" y="4023360"/>
            <a:ext cx="1920240" cy="384048"/>
          </a:xfrm>
          <a:prstGeom prst="rect">
            <a:avLst/>
          </a:prstGeom>
          <a:noFill/>
          <a:ln/>
        </p:spPr>
        <p:txBody>
          <a:bodyPr wrap="square" lIns="0" tIns="0" rIns="0" bIns="0" rtlCol="0" anchor="ctr"/>
          <a:lstStyle/>
          <a:p>
            <a:pPr indent="0" marL="0">
              <a:buNone/>
            </a:pPr>
            <a:r>
              <a:rPr lang="en-US" sz="1200" dirty="0">
                <a:solidFill>
                  <a:srgbClr val="FFFFFF"/>
                </a:solidFill>
                <a:latin typeface="Source Code Pro" pitchFamily="34" charset="0"/>
                <a:ea typeface="Source Code Pro" pitchFamily="34" charset="-122"/>
                <a:cs typeface="Source Code Pro" pitchFamily="34" charset="-120"/>
              </a:rPr>
              <a:t>tier</a:t>
            </a:r>
            <a:endParaRPr lang="en-US" sz="1200" dirty="0"/>
          </a:p>
        </p:txBody>
      </p:sp>
      <p:sp>
        <p:nvSpPr>
          <p:cNvPr id="21" name="Text 19"/>
          <p:cNvSpPr/>
          <p:nvPr/>
        </p:nvSpPr>
        <p:spPr>
          <a:xfrm>
            <a:off x="2715768" y="4023360"/>
            <a:ext cx="914400" cy="384048"/>
          </a:xfrm>
          <a:prstGeom prst="rect">
            <a:avLst/>
          </a:prstGeom>
          <a:noFill/>
          <a:ln/>
        </p:spPr>
        <p:txBody>
          <a:bodyPr wrap="square" lIns="0" tIns="0" rIns="0" bIns="0" rtlCol="0" anchor="ctr"/>
          <a:lstStyle/>
          <a:p>
            <a:pPr algn="r" indent="0" marL="0">
              <a:buNone/>
            </a:pPr>
            <a:r>
              <a:rPr lang="en-US" sz="1100" dirty="0">
                <a:solidFill>
                  <a:srgbClr val="B8C4C2"/>
                </a:solidFill>
                <a:latin typeface="Source Code Pro" pitchFamily="34" charset="0"/>
                <a:ea typeface="Source Code Pro" pitchFamily="34" charset="-122"/>
                <a:cs typeface="Source Code Pro" pitchFamily="34" charset="-120"/>
              </a:rPr>
              <a:t>ENUM</a:t>
            </a:r>
            <a:endParaRPr lang="en-US" sz="1100" dirty="0"/>
          </a:p>
        </p:txBody>
      </p:sp>
      <p:sp>
        <p:nvSpPr>
          <p:cNvPr id="22" name="Shape 20"/>
          <p:cNvSpPr/>
          <p:nvPr/>
        </p:nvSpPr>
        <p:spPr>
          <a:xfrm>
            <a:off x="4480560" y="1426464"/>
            <a:ext cx="3246120" cy="3291840"/>
          </a:xfrm>
          <a:prstGeom prst="rect">
            <a:avLst/>
          </a:prstGeom>
          <a:solidFill>
            <a:srgbClr val="023430"/>
          </a:solidFill>
          <a:ln w="25400">
            <a:solidFill>
              <a:srgbClr val="4A9EFF"/>
            </a:solidFill>
            <a:prstDash val="solid"/>
          </a:ln>
          <a:effectLst>
            <a:outerShdw sx="100000" sy="100000" kx="0" ky="0" algn="bl" rotWithShape="0" blurRad="127000" dist="38100" dir="8100000">
              <a:srgbClr val="000000">
                <a:alpha val="28000"/>
              </a:srgbClr>
            </a:outerShdw>
          </a:effectLst>
        </p:spPr>
      </p:sp>
      <p:sp>
        <p:nvSpPr>
          <p:cNvPr id="23" name="Shape 21"/>
          <p:cNvSpPr/>
          <p:nvPr/>
        </p:nvSpPr>
        <p:spPr>
          <a:xfrm>
            <a:off x="4480560" y="1426464"/>
            <a:ext cx="3246120" cy="594360"/>
          </a:xfrm>
          <a:prstGeom prst="rect">
            <a:avLst/>
          </a:prstGeom>
          <a:solidFill>
            <a:srgbClr val="4A9EFF"/>
          </a:solidFill>
          <a:ln w="12700">
            <a:solidFill>
              <a:srgbClr val="4A9EFF"/>
            </a:solidFill>
            <a:prstDash val="solid"/>
          </a:ln>
        </p:spPr>
      </p:sp>
      <p:sp>
        <p:nvSpPr>
          <p:cNvPr id="24" name="Text 22"/>
          <p:cNvSpPr/>
          <p:nvPr/>
        </p:nvSpPr>
        <p:spPr>
          <a:xfrm>
            <a:off x="4608576" y="1481328"/>
            <a:ext cx="2990088" cy="502920"/>
          </a:xfrm>
          <a:prstGeom prst="rect">
            <a:avLst/>
          </a:prstGeom>
          <a:noFill/>
          <a:ln/>
        </p:spPr>
        <p:txBody>
          <a:bodyPr wrap="square" lIns="0" tIns="0" rIns="0" bIns="0" rtlCol="0" anchor="ctr"/>
          <a:lstStyle/>
          <a:p>
            <a:pPr indent="0" marL="0">
              <a:buNone/>
            </a:pPr>
            <a:r>
              <a:rPr lang="en-US" sz="1800" b="1" dirty="0">
                <a:solidFill>
                  <a:srgbClr val="001E2B"/>
                </a:solidFill>
                <a:latin typeface="Lexend Deca" pitchFamily="34" charset="0"/>
                <a:ea typeface="Lexend Deca" pitchFamily="34" charset="-122"/>
                <a:cs typeface="Lexend Deca" pitchFamily="34" charset="-120"/>
              </a:rPr>
              <a:t>📦  Order</a:t>
            </a:r>
            <a:endParaRPr lang="en-US" sz="1800" dirty="0"/>
          </a:p>
        </p:txBody>
      </p:sp>
      <p:sp>
        <p:nvSpPr>
          <p:cNvPr id="25" name="Shape 23"/>
          <p:cNvSpPr/>
          <p:nvPr/>
        </p:nvSpPr>
        <p:spPr>
          <a:xfrm>
            <a:off x="4572000" y="2084832"/>
            <a:ext cx="3063240" cy="420624"/>
          </a:xfrm>
          <a:prstGeom prst="rect">
            <a:avLst/>
          </a:prstGeom>
          <a:solidFill>
            <a:srgbClr val="012A3A"/>
          </a:solidFill>
          <a:ln w="12700">
            <a:solidFill>
              <a:srgbClr val="012A3A"/>
            </a:solidFill>
            <a:prstDash val="solid"/>
          </a:ln>
        </p:spPr>
      </p:sp>
      <p:sp>
        <p:nvSpPr>
          <p:cNvPr id="26" name="Text 24"/>
          <p:cNvSpPr/>
          <p:nvPr/>
        </p:nvSpPr>
        <p:spPr>
          <a:xfrm>
            <a:off x="4663440" y="2121408"/>
            <a:ext cx="1920240" cy="384048"/>
          </a:xfrm>
          <a:prstGeom prst="rect">
            <a:avLst/>
          </a:prstGeom>
          <a:noFill/>
          <a:ln/>
        </p:spPr>
        <p:txBody>
          <a:bodyPr wrap="square" lIns="0" tIns="0" rIns="0" bIns="0" rtlCol="0" anchor="ctr"/>
          <a:lstStyle/>
          <a:p>
            <a:pPr indent="0" marL="0">
              <a:buNone/>
            </a:pPr>
            <a:r>
              <a:rPr lang="en-US" sz="1200" dirty="0">
                <a:solidFill>
                  <a:srgbClr val="FFFFFF"/>
                </a:solidFill>
                <a:latin typeface="Source Code Pro" pitchFamily="34" charset="0"/>
                <a:ea typeface="Source Code Pro" pitchFamily="34" charset="-122"/>
                <a:cs typeface="Source Code Pro" pitchFamily="34" charset="-120"/>
              </a:rPr>
              <a:t>id</a:t>
            </a:r>
            <a:endParaRPr lang="en-US" sz="1200" dirty="0"/>
          </a:p>
        </p:txBody>
      </p:sp>
      <p:sp>
        <p:nvSpPr>
          <p:cNvPr id="27" name="Text 25"/>
          <p:cNvSpPr/>
          <p:nvPr/>
        </p:nvSpPr>
        <p:spPr>
          <a:xfrm>
            <a:off x="6629400" y="2121408"/>
            <a:ext cx="914400" cy="384048"/>
          </a:xfrm>
          <a:prstGeom prst="rect">
            <a:avLst/>
          </a:prstGeom>
          <a:noFill/>
          <a:ln/>
        </p:spPr>
        <p:txBody>
          <a:bodyPr wrap="square" lIns="0" tIns="0" rIns="0" bIns="0" rtlCol="0" anchor="ctr"/>
          <a:lstStyle/>
          <a:p>
            <a:pPr algn="r" indent="0" marL="0">
              <a:buNone/>
            </a:pPr>
            <a:r>
              <a:rPr lang="en-US" sz="1100" dirty="0">
                <a:solidFill>
                  <a:srgbClr val="B8C4C2"/>
                </a:solidFill>
                <a:latin typeface="Source Code Pro" pitchFamily="34" charset="0"/>
                <a:ea typeface="Source Code Pro" pitchFamily="34" charset="-122"/>
                <a:cs typeface="Source Code Pro" pitchFamily="34" charset="-120"/>
              </a:rPr>
              <a:t>INT  PK</a:t>
            </a:r>
            <a:endParaRPr lang="en-US" sz="1100" dirty="0"/>
          </a:p>
        </p:txBody>
      </p:sp>
      <p:sp>
        <p:nvSpPr>
          <p:cNvPr id="28" name="Text 26"/>
          <p:cNvSpPr/>
          <p:nvPr/>
        </p:nvSpPr>
        <p:spPr>
          <a:xfrm>
            <a:off x="4663440" y="2596896"/>
            <a:ext cx="1920240" cy="384048"/>
          </a:xfrm>
          <a:prstGeom prst="rect">
            <a:avLst/>
          </a:prstGeom>
          <a:noFill/>
          <a:ln/>
        </p:spPr>
        <p:txBody>
          <a:bodyPr wrap="square" lIns="0" tIns="0" rIns="0" bIns="0" rtlCol="0" anchor="ctr"/>
          <a:lstStyle/>
          <a:p>
            <a:pPr indent="0" marL="0">
              <a:buNone/>
            </a:pPr>
            <a:r>
              <a:rPr lang="en-US" sz="1200" dirty="0">
                <a:solidFill>
                  <a:srgbClr val="4A9EFF"/>
                </a:solidFill>
                <a:latin typeface="Source Code Pro" pitchFamily="34" charset="0"/>
                <a:ea typeface="Source Code Pro" pitchFamily="34" charset="-122"/>
                <a:cs typeface="Source Code Pro" pitchFamily="34" charset="-120"/>
              </a:rPr>
              <a:t>customer_id</a:t>
            </a:r>
            <a:endParaRPr lang="en-US" sz="1200" dirty="0"/>
          </a:p>
        </p:txBody>
      </p:sp>
      <p:sp>
        <p:nvSpPr>
          <p:cNvPr id="29" name="Text 27"/>
          <p:cNvSpPr/>
          <p:nvPr/>
        </p:nvSpPr>
        <p:spPr>
          <a:xfrm>
            <a:off x="6629400" y="2596896"/>
            <a:ext cx="914400" cy="384048"/>
          </a:xfrm>
          <a:prstGeom prst="rect">
            <a:avLst/>
          </a:prstGeom>
          <a:noFill/>
          <a:ln/>
        </p:spPr>
        <p:txBody>
          <a:bodyPr wrap="square" lIns="0" tIns="0" rIns="0" bIns="0" rtlCol="0" anchor="ctr"/>
          <a:lstStyle/>
          <a:p>
            <a:pPr algn="r" indent="0" marL="0">
              <a:buNone/>
            </a:pPr>
            <a:r>
              <a:rPr lang="en-US" sz="1100" dirty="0">
                <a:solidFill>
                  <a:srgbClr val="B8C4C2"/>
                </a:solidFill>
                <a:latin typeface="Source Code Pro" pitchFamily="34" charset="0"/>
                <a:ea typeface="Source Code Pro" pitchFamily="34" charset="-122"/>
                <a:cs typeface="Source Code Pro" pitchFamily="34" charset="-120"/>
              </a:rPr>
              <a:t>FK → Customer</a:t>
            </a:r>
            <a:endParaRPr lang="en-US" sz="1100" dirty="0"/>
          </a:p>
        </p:txBody>
      </p:sp>
      <p:sp>
        <p:nvSpPr>
          <p:cNvPr id="30" name="Shape 28"/>
          <p:cNvSpPr/>
          <p:nvPr/>
        </p:nvSpPr>
        <p:spPr>
          <a:xfrm>
            <a:off x="4572000" y="3035808"/>
            <a:ext cx="3063240" cy="420624"/>
          </a:xfrm>
          <a:prstGeom prst="rect">
            <a:avLst/>
          </a:prstGeom>
          <a:solidFill>
            <a:srgbClr val="012A3A"/>
          </a:solidFill>
          <a:ln w="12700">
            <a:solidFill>
              <a:srgbClr val="012A3A"/>
            </a:solidFill>
            <a:prstDash val="solid"/>
          </a:ln>
        </p:spPr>
      </p:sp>
      <p:sp>
        <p:nvSpPr>
          <p:cNvPr id="31" name="Text 29"/>
          <p:cNvSpPr/>
          <p:nvPr/>
        </p:nvSpPr>
        <p:spPr>
          <a:xfrm>
            <a:off x="4663440" y="3072384"/>
            <a:ext cx="1920240" cy="384048"/>
          </a:xfrm>
          <a:prstGeom prst="rect">
            <a:avLst/>
          </a:prstGeom>
          <a:noFill/>
          <a:ln/>
        </p:spPr>
        <p:txBody>
          <a:bodyPr wrap="square" lIns="0" tIns="0" rIns="0" bIns="0" rtlCol="0" anchor="ctr"/>
          <a:lstStyle/>
          <a:p>
            <a:pPr indent="0" marL="0">
              <a:buNone/>
            </a:pPr>
            <a:r>
              <a:rPr lang="en-US" sz="1200" dirty="0">
                <a:solidFill>
                  <a:srgbClr val="FFFFFF"/>
                </a:solidFill>
                <a:latin typeface="Source Code Pro" pitchFamily="34" charset="0"/>
                <a:ea typeface="Source Code Pro" pitchFamily="34" charset="-122"/>
                <a:cs typeface="Source Code Pro" pitchFamily="34" charset="-120"/>
              </a:rPr>
              <a:t>status</a:t>
            </a:r>
            <a:endParaRPr lang="en-US" sz="1200" dirty="0"/>
          </a:p>
        </p:txBody>
      </p:sp>
      <p:sp>
        <p:nvSpPr>
          <p:cNvPr id="32" name="Text 30"/>
          <p:cNvSpPr/>
          <p:nvPr/>
        </p:nvSpPr>
        <p:spPr>
          <a:xfrm>
            <a:off x="6629400" y="3072384"/>
            <a:ext cx="914400" cy="384048"/>
          </a:xfrm>
          <a:prstGeom prst="rect">
            <a:avLst/>
          </a:prstGeom>
          <a:noFill/>
          <a:ln/>
        </p:spPr>
        <p:txBody>
          <a:bodyPr wrap="square" lIns="0" tIns="0" rIns="0" bIns="0" rtlCol="0" anchor="ctr"/>
          <a:lstStyle/>
          <a:p>
            <a:pPr algn="r" indent="0" marL="0">
              <a:buNone/>
            </a:pPr>
            <a:r>
              <a:rPr lang="en-US" sz="1100" dirty="0">
                <a:solidFill>
                  <a:srgbClr val="B8C4C2"/>
                </a:solidFill>
                <a:latin typeface="Source Code Pro" pitchFamily="34" charset="0"/>
                <a:ea typeface="Source Code Pro" pitchFamily="34" charset="-122"/>
                <a:cs typeface="Source Code Pro" pitchFamily="34" charset="-120"/>
              </a:rPr>
              <a:t>VARCHAR</a:t>
            </a:r>
            <a:endParaRPr lang="en-US" sz="1100" dirty="0"/>
          </a:p>
        </p:txBody>
      </p:sp>
      <p:sp>
        <p:nvSpPr>
          <p:cNvPr id="33" name="Text 31"/>
          <p:cNvSpPr/>
          <p:nvPr/>
        </p:nvSpPr>
        <p:spPr>
          <a:xfrm>
            <a:off x="4663440" y="3547872"/>
            <a:ext cx="1920240" cy="384048"/>
          </a:xfrm>
          <a:prstGeom prst="rect">
            <a:avLst/>
          </a:prstGeom>
          <a:noFill/>
          <a:ln/>
        </p:spPr>
        <p:txBody>
          <a:bodyPr wrap="square" lIns="0" tIns="0" rIns="0" bIns="0" rtlCol="0" anchor="ctr"/>
          <a:lstStyle/>
          <a:p>
            <a:pPr indent="0" marL="0">
              <a:buNone/>
            </a:pPr>
            <a:r>
              <a:rPr lang="en-US" sz="1200" dirty="0">
                <a:solidFill>
                  <a:srgbClr val="FFFFFF"/>
                </a:solidFill>
                <a:latin typeface="Source Code Pro" pitchFamily="34" charset="0"/>
                <a:ea typeface="Source Code Pro" pitchFamily="34" charset="-122"/>
                <a:cs typeface="Source Code Pro" pitchFamily="34" charset="-120"/>
              </a:rPr>
              <a:t>amount</a:t>
            </a:r>
            <a:endParaRPr lang="en-US" sz="1200" dirty="0"/>
          </a:p>
        </p:txBody>
      </p:sp>
      <p:sp>
        <p:nvSpPr>
          <p:cNvPr id="34" name="Text 32"/>
          <p:cNvSpPr/>
          <p:nvPr/>
        </p:nvSpPr>
        <p:spPr>
          <a:xfrm>
            <a:off x="6629400" y="3547872"/>
            <a:ext cx="914400" cy="384048"/>
          </a:xfrm>
          <a:prstGeom prst="rect">
            <a:avLst/>
          </a:prstGeom>
          <a:noFill/>
          <a:ln/>
        </p:spPr>
        <p:txBody>
          <a:bodyPr wrap="square" lIns="0" tIns="0" rIns="0" bIns="0" rtlCol="0" anchor="ctr"/>
          <a:lstStyle/>
          <a:p>
            <a:pPr algn="r" indent="0" marL="0">
              <a:buNone/>
            </a:pPr>
            <a:r>
              <a:rPr lang="en-US" sz="1100" dirty="0">
                <a:solidFill>
                  <a:srgbClr val="B8C4C2"/>
                </a:solidFill>
                <a:latin typeface="Source Code Pro" pitchFamily="34" charset="0"/>
                <a:ea typeface="Source Code Pro" pitchFamily="34" charset="-122"/>
                <a:cs typeface="Source Code Pro" pitchFamily="34" charset="-120"/>
              </a:rPr>
              <a:t>DECIMAL</a:t>
            </a:r>
            <a:endParaRPr lang="en-US" sz="1100" dirty="0"/>
          </a:p>
        </p:txBody>
      </p:sp>
      <p:sp>
        <p:nvSpPr>
          <p:cNvPr id="35" name="Shape 33"/>
          <p:cNvSpPr/>
          <p:nvPr/>
        </p:nvSpPr>
        <p:spPr>
          <a:xfrm>
            <a:off x="4572000" y="3986784"/>
            <a:ext cx="3063240" cy="420624"/>
          </a:xfrm>
          <a:prstGeom prst="rect">
            <a:avLst/>
          </a:prstGeom>
          <a:solidFill>
            <a:srgbClr val="012A3A"/>
          </a:solidFill>
          <a:ln w="12700">
            <a:solidFill>
              <a:srgbClr val="012A3A"/>
            </a:solidFill>
            <a:prstDash val="solid"/>
          </a:ln>
        </p:spPr>
      </p:sp>
      <p:sp>
        <p:nvSpPr>
          <p:cNvPr id="36" name="Text 34"/>
          <p:cNvSpPr/>
          <p:nvPr/>
        </p:nvSpPr>
        <p:spPr>
          <a:xfrm>
            <a:off x="4663440" y="4023360"/>
            <a:ext cx="1920240" cy="384048"/>
          </a:xfrm>
          <a:prstGeom prst="rect">
            <a:avLst/>
          </a:prstGeom>
          <a:noFill/>
          <a:ln/>
        </p:spPr>
        <p:txBody>
          <a:bodyPr wrap="square" lIns="0" tIns="0" rIns="0" bIns="0" rtlCol="0" anchor="ctr"/>
          <a:lstStyle/>
          <a:p>
            <a:pPr indent="0" marL="0">
              <a:buNone/>
            </a:pPr>
            <a:r>
              <a:rPr lang="en-US" sz="1200" dirty="0">
                <a:solidFill>
                  <a:srgbClr val="FFFFFF"/>
                </a:solidFill>
                <a:latin typeface="Source Code Pro" pitchFamily="34" charset="0"/>
                <a:ea typeface="Source Code Pro" pitchFamily="34" charset="-122"/>
                <a:cs typeface="Source Code Pro" pitchFamily="34" charset="-120"/>
              </a:rPr>
              <a:t>created_at</a:t>
            </a:r>
            <a:endParaRPr lang="en-US" sz="1200" dirty="0"/>
          </a:p>
        </p:txBody>
      </p:sp>
      <p:sp>
        <p:nvSpPr>
          <p:cNvPr id="37" name="Text 35"/>
          <p:cNvSpPr/>
          <p:nvPr/>
        </p:nvSpPr>
        <p:spPr>
          <a:xfrm>
            <a:off x="6629400" y="4023360"/>
            <a:ext cx="914400" cy="384048"/>
          </a:xfrm>
          <a:prstGeom prst="rect">
            <a:avLst/>
          </a:prstGeom>
          <a:noFill/>
          <a:ln/>
        </p:spPr>
        <p:txBody>
          <a:bodyPr wrap="square" lIns="0" tIns="0" rIns="0" bIns="0" rtlCol="0" anchor="ctr"/>
          <a:lstStyle/>
          <a:p>
            <a:pPr algn="r" indent="0" marL="0">
              <a:buNone/>
            </a:pPr>
            <a:r>
              <a:rPr lang="en-US" sz="1100" dirty="0">
                <a:solidFill>
                  <a:srgbClr val="B8C4C2"/>
                </a:solidFill>
                <a:latin typeface="Source Code Pro" pitchFamily="34" charset="0"/>
                <a:ea typeface="Source Code Pro" pitchFamily="34" charset="-122"/>
                <a:cs typeface="Source Code Pro" pitchFamily="34" charset="-120"/>
              </a:rPr>
              <a:t>TIMESTAMP</a:t>
            </a:r>
            <a:endParaRPr lang="en-US" sz="1100" dirty="0"/>
          </a:p>
        </p:txBody>
      </p:sp>
      <p:sp>
        <p:nvSpPr>
          <p:cNvPr id="38" name="Shape 36"/>
          <p:cNvSpPr/>
          <p:nvPr/>
        </p:nvSpPr>
        <p:spPr>
          <a:xfrm>
            <a:off x="8394192" y="1426464"/>
            <a:ext cx="3246120" cy="3291840"/>
          </a:xfrm>
          <a:prstGeom prst="rect">
            <a:avLst/>
          </a:prstGeom>
          <a:solidFill>
            <a:srgbClr val="023430"/>
          </a:solidFill>
          <a:ln w="25400">
            <a:solidFill>
              <a:srgbClr val="F97316"/>
            </a:solidFill>
            <a:prstDash val="solid"/>
          </a:ln>
          <a:effectLst>
            <a:outerShdw sx="100000" sy="100000" kx="0" ky="0" algn="bl" rotWithShape="0" blurRad="127000" dist="38100" dir="8100000">
              <a:srgbClr val="000000">
                <a:alpha val="28000"/>
              </a:srgbClr>
            </a:outerShdw>
          </a:effectLst>
        </p:spPr>
      </p:sp>
      <p:sp>
        <p:nvSpPr>
          <p:cNvPr id="39" name="Shape 37"/>
          <p:cNvSpPr/>
          <p:nvPr/>
        </p:nvSpPr>
        <p:spPr>
          <a:xfrm>
            <a:off x="8394192" y="1426464"/>
            <a:ext cx="3246120" cy="594360"/>
          </a:xfrm>
          <a:prstGeom prst="rect">
            <a:avLst/>
          </a:prstGeom>
          <a:solidFill>
            <a:srgbClr val="F97316"/>
          </a:solidFill>
          <a:ln w="12700">
            <a:solidFill>
              <a:srgbClr val="F97316"/>
            </a:solidFill>
            <a:prstDash val="solid"/>
          </a:ln>
        </p:spPr>
      </p:sp>
      <p:sp>
        <p:nvSpPr>
          <p:cNvPr id="40" name="Text 38"/>
          <p:cNvSpPr/>
          <p:nvPr/>
        </p:nvSpPr>
        <p:spPr>
          <a:xfrm>
            <a:off x="8522208" y="1481328"/>
            <a:ext cx="2990088" cy="502920"/>
          </a:xfrm>
          <a:prstGeom prst="rect">
            <a:avLst/>
          </a:prstGeom>
          <a:noFill/>
          <a:ln/>
        </p:spPr>
        <p:txBody>
          <a:bodyPr wrap="square" lIns="0" tIns="0" rIns="0" bIns="0" rtlCol="0" anchor="ctr"/>
          <a:lstStyle/>
          <a:p>
            <a:pPr indent="0" marL="0">
              <a:buNone/>
            </a:pPr>
            <a:r>
              <a:rPr lang="en-US" sz="1800" b="1" dirty="0">
                <a:solidFill>
                  <a:srgbClr val="001E2B"/>
                </a:solidFill>
                <a:latin typeface="Lexend Deca" pitchFamily="34" charset="0"/>
                <a:ea typeface="Lexend Deca" pitchFamily="34" charset="-122"/>
                <a:cs typeface="Lexend Deca" pitchFamily="34" charset="-120"/>
              </a:rPr>
              <a:t>🛒  Order Item</a:t>
            </a:r>
            <a:endParaRPr lang="en-US" sz="1800" dirty="0"/>
          </a:p>
        </p:txBody>
      </p:sp>
      <p:sp>
        <p:nvSpPr>
          <p:cNvPr id="41" name="Shape 39"/>
          <p:cNvSpPr/>
          <p:nvPr/>
        </p:nvSpPr>
        <p:spPr>
          <a:xfrm>
            <a:off x="8485632" y="2084832"/>
            <a:ext cx="3063240" cy="420624"/>
          </a:xfrm>
          <a:prstGeom prst="rect">
            <a:avLst/>
          </a:prstGeom>
          <a:solidFill>
            <a:srgbClr val="012A3A"/>
          </a:solidFill>
          <a:ln w="12700">
            <a:solidFill>
              <a:srgbClr val="012A3A"/>
            </a:solidFill>
            <a:prstDash val="solid"/>
          </a:ln>
        </p:spPr>
      </p:sp>
      <p:sp>
        <p:nvSpPr>
          <p:cNvPr id="42" name="Text 40"/>
          <p:cNvSpPr/>
          <p:nvPr/>
        </p:nvSpPr>
        <p:spPr>
          <a:xfrm>
            <a:off x="8577072" y="2121408"/>
            <a:ext cx="1920240" cy="384048"/>
          </a:xfrm>
          <a:prstGeom prst="rect">
            <a:avLst/>
          </a:prstGeom>
          <a:noFill/>
          <a:ln/>
        </p:spPr>
        <p:txBody>
          <a:bodyPr wrap="square" lIns="0" tIns="0" rIns="0" bIns="0" rtlCol="0" anchor="ctr"/>
          <a:lstStyle/>
          <a:p>
            <a:pPr indent="0" marL="0">
              <a:buNone/>
            </a:pPr>
            <a:r>
              <a:rPr lang="en-US" sz="1200" dirty="0">
                <a:solidFill>
                  <a:srgbClr val="FFFFFF"/>
                </a:solidFill>
                <a:latin typeface="Source Code Pro" pitchFamily="34" charset="0"/>
                <a:ea typeface="Source Code Pro" pitchFamily="34" charset="-122"/>
                <a:cs typeface="Source Code Pro" pitchFamily="34" charset="-120"/>
              </a:rPr>
              <a:t>id</a:t>
            </a:r>
            <a:endParaRPr lang="en-US" sz="1200" dirty="0"/>
          </a:p>
        </p:txBody>
      </p:sp>
      <p:sp>
        <p:nvSpPr>
          <p:cNvPr id="43" name="Text 41"/>
          <p:cNvSpPr/>
          <p:nvPr/>
        </p:nvSpPr>
        <p:spPr>
          <a:xfrm>
            <a:off x="10543032" y="2121408"/>
            <a:ext cx="914400" cy="384048"/>
          </a:xfrm>
          <a:prstGeom prst="rect">
            <a:avLst/>
          </a:prstGeom>
          <a:noFill/>
          <a:ln/>
        </p:spPr>
        <p:txBody>
          <a:bodyPr wrap="square" lIns="0" tIns="0" rIns="0" bIns="0" rtlCol="0" anchor="ctr"/>
          <a:lstStyle/>
          <a:p>
            <a:pPr algn="r" indent="0" marL="0">
              <a:buNone/>
            </a:pPr>
            <a:r>
              <a:rPr lang="en-US" sz="1100" dirty="0">
                <a:solidFill>
                  <a:srgbClr val="B8C4C2"/>
                </a:solidFill>
                <a:latin typeface="Source Code Pro" pitchFamily="34" charset="0"/>
                <a:ea typeface="Source Code Pro" pitchFamily="34" charset="-122"/>
                <a:cs typeface="Source Code Pro" pitchFamily="34" charset="-120"/>
              </a:rPr>
              <a:t>INT  PK</a:t>
            </a:r>
            <a:endParaRPr lang="en-US" sz="1100" dirty="0"/>
          </a:p>
        </p:txBody>
      </p:sp>
      <p:sp>
        <p:nvSpPr>
          <p:cNvPr id="44" name="Text 42"/>
          <p:cNvSpPr/>
          <p:nvPr/>
        </p:nvSpPr>
        <p:spPr>
          <a:xfrm>
            <a:off x="8577072" y="2596896"/>
            <a:ext cx="1920240" cy="384048"/>
          </a:xfrm>
          <a:prstGeom prst="rect">
            <a:avLst/>
          </a:prstGeom>
          <a:noFill/>
          <a:ln/>
        </p:spPr>
        <p:txBody>
          <a:bodyPr wrap="square" lIns="0" tIns="0" rIns="0" bIns="0" rtlCol="0" anchor="ctr"/>
          <a:lstStyle/>
          <a:p>
            <a:pPr indent="0" marL="0">
              <a:buNone/>
            </a:pPr>
            <a:r>
              <a:rPr lang="en-US" sz="1200" dirty="0">
                <a:solidFill>
                  <a:srgbClr val="4A9EFF"/>
                </a:solidFill>
                <a:latin typeface="Source Code Pro" pitchFamily="34" charset="0"/>
                <a:ea typeface="Source Code Pro" pitchFamily="34" charset="-122"/>
                <a:cs typeface="Source Code Pro" pitchFamily="34" charset="-120"/>
              </a:rPr>
              <a:t>order_id</a:t>
            </a:r>
            <a:endParaRPr lang="en-US" sz="1200" dirty="0"/>
          </a:p>
        </p:txBody>
      </p:sp>
      <p:sp>
        <p:nvSpPr>
          <p:cNvPr id="45" name="Text 43"/>
          <p:cNvSpPr/>
          <p:nvPr/>
        </p:nvSpPr>
        <p:spPr>
          <a:xfrm>
            <a:off x="10543032" y="2596896"/>
            <a:ext cx="914400" cy="384048"/>
          </a:xfrm>
          <a:prstGeom prst="rect">
            <a:avLst/>
          </a:prstGeom>
          <a:noFill/>
          <a:ln/>
        </p:spPr>
        <p:txBody>
          <a:bodyPr wrap="square" lIns="0" tIns="0" rIns="0" bIns="0" rtlCol="0" anchor="ctr"/>
          <a:lstStyle/>
          <a:p>
            <a:pPr algn="r" indent="0" marL="0">
              <a:buNone/>
            </a:pPr>
            <a:r>
              <a:rPr lang="en-US" sz="1100" dirty="0">
                <a:solidFill>
                  <a:srgbClr val="B8C4C2"/>
                </a:solidFill>
                <a:latin typeface="Source Code Pro" pitchFamily="34" charset="0"/>
                <a:ea typeface="Source Code Pro" pitchFamily="34" charset="-122"/>
                <a:cs typeface="Source Code Pro" pitchFamily="34" charset="-120"/>
              </a:rPr>
              <a:t>FK → Order</a:t>
            </a:r>
            <a:endParaRPr lang="en-US" sz="1100" dirty="0"/>
          </a:p>
        </p:txBody>
      </p:sp>
      <p:sp>
        <p:nvSpPr>
          <p:cNvPr id="46" name="Shape 44"/>
          <p:cNvSpPr/>
          <p:nvPr/>
        </p:nvSpPr>
        <p:spPr>
          <a:xfrm>
            <a:off x="8485632" y="3035808"/>
            <a:ext cx="3063240" cy="420624"/>
          </a:xfrm>
          <a:prstGeom prst="rect">
            <a:avLst/>
          </a:prstGeom>
          <a:solidFill>
            <a:srgbClr val="012A3A"/>
          </a:solidFill>
          <a:ln w="12700">
            <a:solidFill>
              <a:srgbClr val="012A3A"/>
            </a:solidFill>
            <a:prstDash val="solid"/>
          </a:ln>
        </p:spPr>
      </p:sp>
      <p:sp>
        <p:nvSpPr>
          <p:cNvPr id="47" name="Text 45"/>
          <p:cNvSpPr/>
          <p:nvPr/>
        </p:nvSpPr>
        <p:spPr>
          <a:xfrm>
            <a:off x="8577072" y="3072384"/>
            <a:ext cx="1920240" cy="384048"/>
          </a:xfrm>
          <a:prstGeom prst="rect">
            <a:avLst/>
          </a:prstGeom>
          <a:noFill/>
          <a:ln/>
        </p:spPr>
        <p:txBody>
          <a:bodyPr wrap="square" lIns="0" tIns="0" rIns="0" bIns="0" rtlCol="0" anchor="ctr"/>
          <a:lstStyle/>
          <a:p>
            <a:pPr indent="0" marL="0">
              <a:buNone/>
            </a:pPr>
            <a:r>
              <a:rPr lang="en-US" sz="1200" dirty="0">
                <a:solidFill>
                  <a:srgbClr val="FFFFFF"/>
                </a:solidFill>
                <a:latin typeface="Source Code Pro" pitchFamily="34" charset="0"/>
                <a:ea typeface="Source Code Pro" pitchFamily="34" charset="-122"/>
                <a:cs typeface="Source Code Pro" pitchFamily="34" charset="-120"/>
              </a:rPr>
              <a:t>sku</a:t>
            </a:r>
            <a:endParaRPr lang="en-US" sz="1200" dirty="0"/>
          </a:p>
        </p:txBody>
      </p:sp>
      <p:sp>
        <p:nvSpPr>
          <p:cNvPr id="48" name="Text 46"/>
          <p:cNvSpPr/>
          <p:nvPr/>
        </p:nvSpPr>
        <p:spPr>
          <a:xfrm>
            <a:off x="10543032" y="3072384"/>
            <a:ext cx="914400" cy="384048"/>
          </a:xfrm>
          <a:prstGeom prst="rect">
            <a:avLst/>
          </a:prstGeom>
          <a:noFill/>
          <a:ln/>
        </p:spPr>
        <p:txBody>
          <a:bodyPr wrap="square" lIns="0" tIns="0" rIns="0" bIns="0" rtlCol="0" anchor="ctr"/>
          <a:lstStyle/>
          <a:p>
            <a:pPr algn="r" indent="0" marL="0">
              <a:buNone/>
            </a:pPr>
            <a:r>
              <a:rPr lang="en-US" sz="1100" dirty="0">
                <a:solidFill>
                  <a:srgbClr val="B8C4C2"/>
                </a:solidFill>
                <a:latin typeface="Source Code Pro" pitchFamily="34" charset="0"/>
                <a:ea typeface="Source Code Pro" pitchFamily="34" charset="-122"/>
                <a:cs typeface="Source Code Pro" pitchFamily="34" charset="-120"/>
              </a:rPr>
              <a:t>VARCHAR</a:t>
            </a:r>
            <a:endParaRPr lang="en-US" sz="1100" dirty="0"/>
          </a:p>
        </p:txBody>
      </p:sp>
      <p:sp>
        <p:nvSpPr>
          <p:cNvPr id="49" name="Text 47"/>
          <p:cNvSpPr/>
          <p:nvPr/>
        </p:nvSpPr>
        <p:spPr>
          <a:xfrm>
            <a:off x="8577072" y="3547872"/>
            <a:ext cx="1920240" cy="384048"/>
          </a:xfrm>
          <a:prstGeom prst="rect">
            <a:avLst/>
          </a:prstGeom>
          <a:noFill/>
          <a:ln/>
        </p:spPr>
        <p:txBody>
          <a:bodyPr wrap="square" lIns="0" tIns="0" rIns="0" bIns="0" rtlCol="0" anchor="ctr"/>
          <a:lstStyle/>
          <a:p>
            <a:pPr indent="0" marL="0">
              <a:buNone/>
            </a:pPr>
            <a:r>
              <a:rPr lang="en-US" sz="1200" dirty="0">
                <a:solidFill>
                  <a:srgbClr val="FFFFFF"/>
                </a:solidFill>
                <a:latin typeface="Source Code Pro" pitchFamily="34" charset="0"/>
                <a:ea typeface="Source Code Pro" pitchFamily="34" charset="-122"/>
                <a:cs typeface="Source Code Pro" pitchFamily="34" charset="-120"/>
              </a:rPr>
              <a:t>qty</a:t>
            </a:r>
            <a:endParaRPr lang="en-US" sz="1200" dirty="0"/>
          </a:p>
        </p:txBody>
      </p:sp>
      <p:sp>
        <p:nvSpPr>
          <p:cNvPr id="50" name="Text 48"/>
          <p:cNvSpPr/>
          <p:nvPr/>
        </p:nvSpPr>
        <p:spPr>
          <a:xfrm>
            <a:off x="10543032" y="3547872"/>
            <a:ext cx="914400" cy="384048"/>
          </a:xfrm>
          <a:prstGeom prst="rect">
            <a:avLst/>
          </a:prstGeom>
          <a:noFill/>
          <a:ln/>
        </p:spPr>
        <p:txBody>
          <a:bodyPr wrap="square" lIns="0" tIns="0" rIns="0" bIns="0" rtlCol="0" anchor="ctr"/>
          <a:lstStyle/>
          <a:p>
            <a:pPr algn="r" indent="0" marL="0">
              <a:buNone/>
            </a:pPr>
            <a:r>
              <a:rPr lang="en-US" sz="1100" dirty="0">
                <a:solidFill>
                  <a:srgbClr val="B8C4C2"/>
                </a:solidFill>
                <a:latin typeface="Source Code Pro" pitchFamily="34" charset="0"/>
                <a:ea typeface="Source Code Pro" pitchFamily="34" charset="-122"/>
                <a:cs typeface="Source Code Pro" pitchFamily="34" charset="-120"/>
              </a:rPr>
              <a:t>INT</a:t>
            </a:r>
            <a:endParaRPr lang="en-US" sz="1100" dirty="0"/>
          </a:p>
        </p:txBody>
      </p:sp>
      <p:sp>
        <p:nvSpPr>
          <p:cNvPr id="51" name="Shape 49"/>
          <p:cNvSpPr/>
          <p:nvPr/>
        </p:nvSpPr>
        <p:spPr>
          <a:xfrm>
            <a:off x="8485632" y="3986784"/>
            <a:ext cx="3063240" cy="420624"/>
          </a:xfrm>
          <a:prstGeom prst="rect">
            <a:avLst/>
          </a:prstGeom>
          <a:solidFill>
            <a:srgbClr val="012A3A"/>
          </a:solidFill>
          <a:ln w="12700">
            <a:solidFill>
              <a:srgbClr val="012A3A"/>
            </a:solidFill>
            <a:prstDash val="solid"/>
          </a:ln>
        </p:spPr>
      </p:sp>
      <p:sp>
        <p:nvSpPr>
          <p:cNvPr id="52" name="Text 50"/>
          <p:cNvSpPr/>
          <p:nvPr/>
        </p:nvSpPr>
        <p:spPr>
          <a:xfrm>
            <a:off x="8577072" y="4023360"/>
            <a:ext cx="1920240" cy="384048"/>
          </a:xfrm>
          <a:prstGeom prst="rect">
            <a:avLst/>
          </a:prstGeom>
          <a:noFill/>
          <a:ln/>
        </p:spPr>
        <p:txBody>
          <a:bodyPr wrap="square" lIns="0" tIns="0" rIns="0" bIns="0" rtlCol="0" anchor="ctr"/>
          <a:lstStyle/>
          <a:p>
            <a:pPr indent="0" marL="0">
              <a:buNone/>
            </a:pPr>
            <a:r>
              <a:rPr lang="en-US" sz="1200" dirty="0">
                <a:solidFill>
                  <a:srgbClr val="FFFFFF"/>
                </a:solidFill>
                <a:latin typeface="Source Code Pro" pitchFamily="34" charset="0"/>
                <a:ea typeface="Source Code Pro" pitchFamily="34" charset="-122"/>
                <a:cs typeface="Source Code Pro" pitchFamily="34" charset="-120"/>
              </a:rPr>
              <a:t>unit_price</a:t>
            </a:r>
            <a:endParaRPr lang="en-US" sz="1200" dirty="0"/>
          </a:p>
        </p:txBody>
      </p:sp>
      <p:sp>
        <p:nvSpPr>
          <p:cNvPr id="53" name="Text 51"/>
          <p:cNvSpPr/>
          <p:nvPr/>
        </p:nvSpPr>
        <p:spPr>
          <a:xfrm>
            <a:off x="10543032" y="4023360"/>
            <a:ext cx="914400" cy="384048"/>
          </a:xfrm>
          <a:prstGeom prst="rect">
            <a:avLst/>
          </a:prstGeom>
          <a:noFill/>
          <a:ln/>
        </p:spPr>
        <p:txBody>
          <a:bodyPr wrap="square" lIns="0" tIns="0" rIns="0" bIns="0" rtlCol="0" anchor="ctr"/>
          <a:lstStyle/>
          <a:p>
            <a:pPr algn="r" indent="0" marL="0">
              <a:buNone/>
            </a:pPr>
            <a:r>
              <a:rPr lang="en-US" sz="1100" dirty="0">
                <a:solidFill>
                  <a:srgbClr val="B8C4C2"/>
                </a:solidFill>
                <a:latin typeface="Source Code Pro" pitchFamily="34" charset="0"/>
                <a:ea typeface="Source Code Pro" pitchFamily="34" charset="-122"/>
                <a:cs typeface="Source Code Pro" pitchFamily="34" charset="-120"/>
              </a:rPr>
              <a:t>DECIMAL</a:t>
            </a:r>
            <a:endParaRPr lang="en-US" sz="1100" dirty="0"/>
          </a:p>
        </p:txBody>
      </p:sp>
      <p:sp>
        <p:nvSpPr>
          <p:cNvPr id="54" name="Shape 52"/>
          <p:cNvSpPr/>
          <p:nvPr/>
        </p:nvSpPr>
        <p:spPr>
          <a:xfrm>
            <a:off x="3813048" y="3108960"/>
            <a:ext cx="667512" cy="45720"/>
          </a:xfrm>
          <a:prstGeom prst="rect">
            <a:avLst/>
          </a:prstGeom>
          <a:solidFill>
            <a:srgbClr val="00ED64"/>
          </a:solidFill>
          <a:ln w="12700">
            <a:solidFill>
              <a:srgbClr val="00ED64"/>
            </a:solidFill>
            <a:prstDash val="solid"/>
          </a:ln>
        </p:spPr>
      </p:sp>
      <p:sp>
        <p:nvSpPr>
          <p:cNvPr id="55" name="Shape 53"/>
          <p:cNvSpPr/>
          <p:nvPr/>
        </p:nvSpPr>
        <p:spPr>
          <a:xfrm>
            <a:off x="4443984" y="3035808"/>
            <a:ext cx="54864" cy="201168"/>
          </a:xfrm>
          <a:prstGeom prst="rect">
            <a:avLst/>
          </a:prstGeom>
          <a:solidFill>
            <a:srgbClr val="00ED64"/>
          </a:solidFill>
          <a:ln w="12700">
            <a:solidFill>
              <a:srgbClr val="00ED64"/>
            </a:solidFill>
            <a:prstDash val="solid"/>
          </a:ln>
        </p:spPr>
      </p:sp>
      <p:sp>
        <p:nvSpPr>
          <p:cNvPr id="56" name="Text 54"/>
          <p:cNvSpPr/>
          <p:nvPr/>
        </p:nvSpPr>
        <p:spPr>
          <a:xfrm>
            <a:off x="3749040" y="2651760"/>
            <a:ext cx="804672" cy="292608"/>
          </a:xfrm>
          <a:prstGeom prst="rect">
            <a:avLst/>
          </a:prstGeom>
          <a:noFill/>
          <a:ln/>
        </p:spPr>
        <p:txBody>
          <a:bodyPr wrap="square" lIns="0" tIns="0" rIns="0" bIns="0" rtlCol="0" anchor="ctr"/>
          <a:lstStyle/>
          <a:p>
            <a:pPr algn="ctr" indent="0" marL="0">
              <a:buNone/>
            </a:pPr>
            <a:r>
              <a:rPr lang="en-US" sz="1200" i="1" dirty="0">
                <a:solidFill>
                  <a:srgbClr val="00ED64"/>
                </a:solidFill>
              </a:rPr>
              <a:t>places</a:t>
            </a:r>
            <a:endParaRPr lang="en-US" sz="1200" dirty="0"/>
          </a:p>
        </p:txBody>
      </p:sp>
      <p:sp>
        <p:nvSpPr>
          <p:cNvPr id="57" name="Text 55"/>
          <p:cNvSpPr/>
          <p:nvPr/>
        </p:nvSpPr>
        <p:spPr>
          <a:xfrm>
            <a:off x="3730752" y="3310128"/>
            <a:ext cx="804672" cy="274320"/>
          </a:xfrm>
          <a:prstGeom prst="rect">
            <a:avLst/>
          </a:prstGeom>
          <a:noFill/>
          <a:ln/>
        </p:spPr>
        <p:txBody>
          <a:bodyPr wrap="square" lIns="0" tIns="0" rIns="0" bIns="0" rtlCol="0" anchor="ctr"/>
          <a:lstStyle/>
          <a:p>
            <a:pPr algn="ctr" indent="0" marL="0">
              <a:buNone/>
            </a:pPr>
            <a:r>
              <a:rPr lang="en-US" sz="1300" b="1" dirty="0">
                <a:solidFill>
                  <a:srgbClr val="00ED64"/>
                </a:solidFill>
              </a:rPr>
              <a:t>1 : N</a:t>
            </a:r>
            <a:endParaRPr lang="en-US" sz="1300" dirty="0"/>
          </a:p>
        </p:txBody>
      </p:sp>
      <p:sp>
        <p:nvSpPr>
          <p:cNvPr id="58" name="Shape 56"/>
          <p:cNvSpPr/>
          <p:nvPr/>
        </p:nvSpPr>
        <p:spPr>
          <a:xfrm>
            <a:off x="7726680" y="3108960"/>
            <a:ext cx="667512" cy="45720"/>
          </a:xfrm>
          <a:prstGeom prst="rect">
            <a:avLst/>
          </a:prstGeom>
          <a:solidFill>
            <a:srgbClr val="4A9EFF"/>
          </a:solidFill>
          <a:ln w="12700">
            <a:solidFill>
              <a:srgbClr val="4A9EFF"/>
            </a:solidFill>
            <a:prstDash val="solid"/>
          </a:ln>
        </p:spPr>
      </p:sp>
      <p:sp>
        <p:nvSpPr>
          <p:cNvPr id="59" name="Shape 57"/>
          <p:cNvSpPr/>
          <p:nvPr/>
        </p:nvSpPr>
        <p:spPr>
          <a:xfrm>
            <a:off x="8357616" y="3035808"/>
            <a:ext cx="54864" cy="201168"/>
          </a:xfrm>
          <a:prstGeom prst="rect">
            <a:avLst/>
          </a:prstGeom>
          <a:solidFill>
            <a:srgbClr val="4A9EFF"/>
          </a:solidFill>
          <a:ln w="12700">
            <a:solidFill>
              <a:srgbClr val="4A9EFF"/>
            </a:solidFill>
            <a:prstDash val="solid"/>
          </a:ln>
        </p:spPr>
      </p:sp>
      <p:sp>
        <p:nvSpPr>
          <p:cNvPr id="60" name="Text 58"/>
          <p:cNvSpPr/>
          <p:nvPr/>
        </p:nvSpPr>
        <p:spPr>
          <a:xfrm>
            <a:off x="7662672" y="2651760"/>
            <a:ext cx="822960" cy="292608"/>
          </a:xfrm>
          <a:prstGeom prst="rect">
            <a:avLst/>
          </a:prstGeom>
          <a:noFill/>
          <a:ln/>
        </p:spPr>
        <p:txBody>
          <a:bodyPr wrap="square" lIns="0" tIns="0" rIns="0" bIns="0" rtlCol="0" anchor="ctr"/>
          <a:lstStyle/>
          <a:p>
            <a:pPr algn="ctr" indent="0" marL="0">
              <a:buNone/>
            </a:pPr>
            <a:r>
              <a:rPr lang="en-US" sz="1200" i="1" dirty="0">
                <a:solidFill>
                  <a:srgbClr val="4A9EFF"/>
                </a:solidFill>
              </a:rPr>
              <a:t>contains</a:t>
            </a:r>
            <a:endParaRPr lang="en-US" sz="1200" dirty="0"/>
          </a:p>
        </p:txBody>
      </p:sp>
      <p:sp>
        <p:nvSpPr>
          <p:cNvPr id="61" name="Text 59"/>
          <p:cNvSpPr/>
          <p:nvPr/>
        </p:nvSpPr>
        <p:spPr>
          <a:xfrm>
            <a:off x="7662672" y="3310128"/>
            <a:ext cx="822960" cy="274320"/>
          </a:xfrm>
          <a:prstGeom prst="rect">
            <a:avLst/>
          </a:prstGeom>
          <a:noFill/>
          <a:ln/>
        </p:spPr>
        <p:txBody>
          <a:bodyPr wrap="square" lIns="0" tIns="0" rIns="0" bIns="0" rtlCol="0" anchor="ctr"/>
          <a:lstStyle/>
          <a:p>
            <a:pPr algn="ctr" indent="0" marL="0">
              <a:buNone/>
            </a:pPr>
            <a:r>
              <a:rPr lang="en-US" sz="1300" b="1" dirty="0">
                <a:solidFill>
                  <a:srgbClr val="4A9EFF"/>
                </a:solidFill>
              </a:rPr>
              <a:t>1 : N</a:t>
            </a:r>
            <a:endParaRPr lang="en-US" sz="1300" dirty="0"/>
          </a:p>
        </p:txBody>
      </p:sp>
      <p:sp>
        <p:nvSpPr>
          <p:cNvPr id="62" name="Text 60"/>
          <p:cNvSpPr/>
          <p:nvPr/>
        </p:nvSpPr>
        <p:spPr>
          <a:xfrm>
            <a:off x="566928" y="4846320"/>
            <a:ext cx="11055096" cy="384048"/>
          </a:xfrm>
          <a:prstGeom prst="rect">
            <a:avLst/>
          </a:prstGeom>
          <a:noFill/>
          <a:ln/>
        </p:spPr>
        <p:txBody>
          <a:bodyPr wrap="square" lIns="0" tIns="0" rIns="0" bIns="0" rtlCol="0" anchor="ctr"/>
          <a:lstStyle/>
          <a:p>
            <a:pPr indent="0" marL="0">
              <a:buNone/>
            </a:pPr>
            <a:r>
              <a:rPr lang="en-US" sz="1500" b="1" dirty="0">
                <a:solidFill>
                  <a:srgbClr val="FFFFFF"/>
                </a:solidFill>
                <a:latin typeface="Lexend Deca" pitchFamily="34" charset="0"/>
                <a:ea typeface="Lexend Deca" pitchFamily="34" charset="-122"/>
                <a:cs typeface="Lexend Deca" pitchFamily="34" charset="-120"/>
              </a:rPr>
              <a:t>What you will see modeled with these entities:</a:t>
            </a:r>
            <a:endParaRPr lang="en-US" sz="1500" dirty="0"/>
          </a:p>
        </p:txBody>
      </p:sp>
      <p:sp>
        <p:nvSpPr>
          <p:cNvPr id="63" name="Shape 61"/>
          <p:cNvSpPr/>
          <p:nvPr/>
        </p:nvSpPr>
        <p:spPr>
          <a:xfrm>
            <a:off x="566928" y="5285232"/>
            <a:ext cx="3749040" cy="1170432"/>
          </a:xfrm>
          <a:prstGeom prst="rect">
            <a:avLst/>
          </a:prstGeom>
          <a:solidFill>
            <a:srgbClr val="023430"/>
          </a:solidFill>
          <a:ln w="19050">
            <a:solidFill>
              <a:srgbClr val="00ED64"/>
            </a:solidFill>
            <a:prstDash val="solid"/>
          </a:ln>
        </p:spPr>
      </p:sp>
      <p:sp>
        <p:nvSpPr>
          <p:cNvPr id="64" name="Shape 62"/>
          <p:cNvSpPr/>
          <p:nvPr/>
        </p:nvSpPr>
        <p:spPr>
          <a:xfrm>
            <a:off x="566928" y="5285232"/>
            <a:ext cx="3749040" cy="109728"/>
          </a:xfrm>
          <a:prstGeom prst="rect">
            <a:avLst/>
          </a:prstGeom>
          <a:solidFill>
            <a:srgbClr val="00ED64"/>
          </a:solidFill>
          <a:ln w="12700">
            <a:solidFill>
              <a:srgbClr val="00ED64"/>
            </a:solidFill>
            <a:prstDash val="solid"/>
          </a:ln>
        </p:spPr>
      </p:sp>
      <p:sp>
        <p:nvSpPr>
          <p:cNvPr id="65" name="Text 63"/>
          <p:cNvSpPr/>
          <p:nvPr/>
        </p:nvSpPr>
        <p:spPr>
          <a:xfrm>
            <a:off x="731520" y="5376672"/>
            <a:ext cx="3474720" cy="457200"/>
          </a:xfrm>
          <a:prstGeom prst="rect">
            <a:avLst/>
          </a:prstGeom>
          <a:noFill/>
          <a:ln/>
        </p:spPr>
        <p:txBody>
          <a:bodyPr wrap="square" lIns="0" tIns="0" rIns="0" bIns="0" rtlCol="0" anchor="ctr"/>
          <a:lstStyle/>
          <a:p>
            <a:pPr indent="0" marL="0">
              <a:buNone/>
            </a:pPr>
            <a:r>
              <a:rPr lang="en-US" sz="1400" b="1" dirty="0">
                <a:solidFill>
                  <a:srgbClr val="FFFFFF"/>
                </a:solidFill>
                <a:latin typeface="Lexend Deca" pitchFamily="34" charset="0"/>
                <a:ea typeface="Lexend Deca" pitchFamily="34" charset="-122"/>
                <a:cs typeface="Lexend Deca" pitchFamily="34" charset="-120"/>
              </a:rPr>
              <a:t>01  SQL — 3NF Normalized</a:t>
            </a:r>
            <a:endParaRPr lang="en-US" sz="1400" dirty="0"/>
          </a:p>
        </p:txBody>
      </p:sp>
      <p:sp>
        <p:nvSpPr>
          <p:cNvPr id="66" name="Text 64"/>
          <p:cNvSpPr/>
          <p:nvPr/>
        </p:nvSpPr>
        <p:spPr>
          <a:xfrm>
            <a:off x="731520" y="5852160"/>
            <a:ext cx="3474720" cy="530352"/>
          </a:xfrm>
          <a:prstGeom prst="rect">
            <a:avLst/>
          </a:prstGeom>
          <a:noFill/>
          <a:ln/>
        </p:spPr>
        <p:txBody>
          <a:bodyPr wrap="square" lIns="0" tIns="0" rIns="0" bIns="0" rtlCol="0" anchor="ctr"/>
          <a:lstStyle/>
          <a:p>
            <a:pPr indent="0" marL="0">
              <a:buNone/>
            </a:pPr>
            <a:r>
              <a:rPr lang="en-US" sz="1200" dirty="0">
                <a:solidFill>
                  <a:srgbClr val="B8C4C2"/>
                </a:solidFill>
                <a:latin typeface="Lexend Deca" pitchFamily="34" charset="0"/>
                <a:ea typeface="Lexend Deca" pitchFamily="34" charset="-122"/>
                <a:cs typeface="Lexend Deca" pitchFamily="34" charset="-120"/>
              </a:rPr>
              <a:t>3 separate tables · Foreign keys · JOIN query to read one order</a:t>
            </a:r>
            <a:endParaRPr lang="en-US" sz="1200" dirty="0"/>
          </a:p>
        </p:txBody>
      </p:sp>
      <p:sp>
        <p:nvSpPr>
          <p:cNvPr id="67" name="Shape 65"/>
          <p:cNvSpPr/>
          <p:nvPr/>
        </p:nvSpPr>
        <p:spPr>
          <a:xfrm>
            <a:off x="4443984" y="5285232"/>
            <a:ext cx="3749040" cy="1170432"/>
          </a:xfrm>
          <a:prstGeom prst="rect">
            <a:avLst/>
          </a:prstGeom>
          <a:solidFill>
            <a:srgbClr val="023430"/>
          </a:solidFill>
          <a:ln w="19050">
            <a:solidFill>
              <a:srgbClr val="4A9EFF"/>
            </a:solidFill>
            <a:prstDash val="solid"/>
          </a:ln>
        </p:spPr>
      </p:sp>
      <p:sp>
        <p:nvSpPr>
          <p:cNvPr id="68" name="Shape 66"/>
          <p:cNvSpPr/>
          <p:nvPr/>
        </p:nvSpPr>
        <p:spPr>
          <a:xfrm>
            <a:off x="4443984" y="5285232"/>
            <a:ext cx="3749040" cy="109728"/>
          </a:xfrm>
          <a:prstGeom prst="rect">
            <a:avLst/>
          </a:prstGeom>
          <a:solidFill>
            <a:srgbClr val="4A9EFF"/>
          </a:solidFill>
          <a:ln w="12700">
            <a:solidFill>
              <a:srgbClr val="4A9EFF"/>
            </a:solidFill>
            <a:prstDash val="solid"/>
          </a:ln>
        </p:spPr>
      </p:sp>
      <p:sp>
        <p:nvSpPr>
          <p:cNvPr id="69" name="Text 67"/>
          <p:cNvSpPr/>
          <p:nvPr/>
        </p:nvSpPr>
        <p:spPr>
          <a:xfrm>
            <a:off x="4608576" y="5376672"/>
            <a:ext cx="3474720" cy="457200"/>
          </a:xfrm>
          <a:prstGeom prst="rect">
            <a:avLst/>
          </a:prstGeom>
          <a:noFill/>
          <a:ln/>
        </p:spPr>
        <p:txBody>
          <a:bodyPr wrap="square" lIns="0" tIns="0" rIns="0" bIns="0" rtlCol="0" anchor="ctr"/>
          <a:lstStyle/>
          <a:p>
            <a:pPr indent="0" marL="0">
              <a:buNone/>
            </a:pPr>
            <a:r>
              <a:rPr lang="en-US" sz="1400" b="1" dirty="0">
                <a:solidFill>
                  <a:srgbClr val="FFFFFF"/>
                </a:solidFill>
                <a:latin typeface="Lexend Deca" pitchFamily="34" charset="0"/>
                <a:ea typeface="Lexend Deca" pitchFamily="34" charset="-122"/>
                <a:cs typeface="Lexend Deca" pitchFamily="34" charset="-120"/>
              </a:rPr>
              <a:t>02  MongoDB — Embedded Documents</a:t>
            </a:r>
            <a:endParaRPr lang="en-US" sz="1400" dirty="0"/>
          </a:p>
        </p:txBody>
      </p:sp>
      <p:sp>
        <p:nvSpPr>
          <p:cNvPr id="70" name="Text 68"/>
          <p:cNvSpPr/>
          <p:nvPr/>
        </p:nvSpPr>
        <p:spPr>
          <a:xfrm>
            <a:off x="4608576" y="5852160"/>
            <a:ext cx="3474720" cy="530352"/>
          </a:xfrm>
          <a:prstGeom prst="rect">
            <a:avLst/>
          </a:prstGeom>
          <a:noFill/>
          <a:ln/>
        </p:spPr>
        <p:txBody>
          <a:bodyPr wrap="square" lIns="0" tIns="0" rIns="0" bIns="0" rtlCol="0" anchor="ctr"/>
          <a:lstStyle/>
          <a:p>
            <a:pPr indent="0" marL="0">
              <a:buNone/>
            </a:pPr>
            <a:r>
              <a:rPr lang="en-US" sz="1200" dirty="0">
                <a:solidFill>
                  <a:srgbClr val="B8C4C2"/>
                </a:solidFill>
                <a:latin typeface="Lexend Deca" pitchFamily="34" charset="0"/>
                <a:ea typeface="Lexend Deca" pitchFamily="34" charset="-122"/>
                <a:cs typeface="Lexend Deca" pitchFamily="34" charset="-120"/>
              </a:rPr>
              <a:t>1 document · Items array embedded · Single read, zero joins</a:t>
            </a:r>
            <a:endParaRPr lang="en-US" sz="1200" dirty="0"/>
          </a:p>
        </p:txBody>
      </p:sp>
      <p:sp>
        <p:nvSpPr>
          <p:cNvPr id="71" name="Shape 69"/>
          <p:cNvSpPr/>
          <p:nvPr/>
        </p:nvSpPr>
        <p:spPr>
          <a:xfrm>
            <a:off x="8321040" y="5285232"/>
            <a:ext cx="3749040" cy="1170432"/>
          </a:xfrm>
          <a:prstGeom prst="rect">
            <a:avLst/>
          </a:prstGeom>
          <a:solidFill>
            <a:srgbClr val="023430"/>
          </a:solidFill>
          <a:ln w="19050">
            <a:solidFill>
              <a:srgbClr val="F97316"/>
            </a:solidFill>
            <a:prstDash val="solid"/>
          </a:ln>
        </p:spPr>
      </p:sp>
      <p:sp>
        <p:nvSpPr>
          <p:cNvPr id="72" name="Shape 70"/>
          <p:cNvSpPr/>
          <p:nvPr/>
        </p:nvSpPr>
        <p:spPr>
          <a:xfrm>
            <a:off x="8321040" y="5285232"/>
            <a:ext cx="3749040" cy="109728"/>
          </a:xfrm>
          <a:prstGeom prst="rect">
            <a:avLst/>
          </a:prstGeom>
          <a:solidFill>
            <a:srgbClr val="F97316"/>
          </a:solidFill>
          <a:ln w="12700">
            <a:solidFill>
              <a:srgbClr val="F97316"/>
            </a:solidFill>
            <a:prstDash val="solid"/>
          </a:ln>
        </p:spPr>
      </p:sp>
      <p:sp>
        <p:nvSpPr>
          <p:cNvPr id="73" name="Text 71"/>
          <p:cNvSpPr/>
          <p:nvPr/>
        </p:nvSpPr>
        <p:spPr>
          <a:xfrm>
            <a:off x="8485632" y="5376672"/>
            <a:ext cx="3474720" cy="457200"/>
          </a:xfrm>
          <a:prstGeom prst="rect">
            <a:avLst/>
          </a:prstGeom>
          <a:noFill/>
          <a:ln/>
        </p:spPr>
        <p:txBody>
          <a:bodyPr wrap="square" lIns="0" tIns="0" rIns="0" bIns="0" rtlCol="0" anchor="ctr"/>
          <a:lstStyle/>
          <a:p>
            <a:pPr indent="0" marL="0">
              <a:buNone/>
            </a:pPr>
            <a:r>
              <a:rPr lang="en-US" sz="1400" b="1" dirty="0">
                <a:solidFill>
                  <a:srgbClr val="FFFFFF"/>
                </a:solidFill>
                <a:latin typeface="Lexend Deca" pitchFamily="34" charset="0"/>
                <a:ea typeface="Lexend Deca" pitchFamily="34" charset="-122"/>
                <a:cs typeface="Lexend Deca" pitchFamily="34" charset="-120"/>
              </a:rPr>
              <a:t>03  Queries · Indexes · Transactions</a:t>
            </a:r>
            <a:endParaRPr lang="en-US" sz="1400" dirty="0"/>
          </a:p>
        </p:txBody>
      </p:sp>
      <p:sp>
        <p:nvSpPr>
          <p:cNvPr id="74" name="Text 72"/>
          <p:cNvSpPr/>
          <p:nvPr/>
        </p:nvSpPr>
        <p:spPr>
          <a:xfrm>
            <a:off x="8485632" y="5852160"/>
            <a:ext cx="3474720" cy="530352"/>
          </a:xfrm>
          <a:prstGeom prst="rect">
            <a:avLst/>
          </a:prstGeom>
          <a:noFill/>
          <a:ln/>
        </p:spPr>
        <p:txBody>
          <a:bodyPr wrap="square" lIns="0" tIns="0" rIns="0" bIns="0" rtlCol="0" anchor="ctr"/>
          <a:lstStyle/>
          <a:p>
            <a:pPr indent="0" marL="0">
              <a:buNone/>
            </a:pPr>
            <a:r>
              <a:rPr lang="en-US" sz="1200" dirty="0">
                <a:solidFill>
                  <a:srgbClr val="B8C4C2"/>
                </a:solidFill>
                <a:latin typeface="Lexend Deca" pitchFamily="34" charset="0"/>
                <a:ea typeface="Lexend Deca" pitchFamily="34" charset="-122"/>
                <a:cs typeface="Lexend Deca" pitchFamily="34" charset="-120"/>
              </a:rPr>
              <a:t>Same entities, same data — SQL vs MongoDB side by side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1E2B"/>
        </a:solidFill>
      </p:bgPr>
    </p:bg>
    <p:spTree>
      <p:nvGrpSpPr>
        <p:cNvPr id="1" name=""/>
        <p:cNvGrpSpPr/>
        <p:nvPr/>
      </p:nvGrpSpPr>
      <p:grpSpPr>
        <a:xfrm>
          <a:off x="0" y="0"/>
          <a:ext cx="0" cy="0"/>
          <a:chOff x="0" y="0"/>
          <a:chExt cx="0" cy="0"/>
        </a:xfrm>
      </p:grpSpPr>
      <p:sp>
        <p:nvSpPr>
          <p:cNvPr id="2" name="Shape 0"/>
          <p:cNvSpPr/>
          <p:nvPr/>
        </p:nvSpPr>
        <p:spPr>
          <a:xfrm>
            <a:off x="0" y="6656832"/>
            <a:ext cx="12188952" cy="201168"/>
          </a:xfrm>
          <a:prstGeom prst="rect">
            <a:avLst/>
          </a:prstGeom>
          <a:solidFill>
            <a:srgbClr val="00ED64"/>
          </a:solidFill>
          <a:ln w="12700">
            <a:solidFill>
              <a:srgbClr val="00ED64"/>
            </a:solidFill>
            <a:prstDash val="solid"/>
          </a:ln>
        </p:spPr>
      </p:sp>
      <p:sp>
        <p:nvSpPr>
          <p:cNvPr id="3" name="Text 1"/>
          <p:cNvSpPr/>
          <p:nvPr/>
        </p:nvSpPr>
        <p:spPr>
          <a:xfrm>
            <a:off x="566928" y="201168"/>
            <a:ext cx="11055096" cy="594360"/>
          </a:xfrm>
          <a:prstGeom prst="rect">
            <a:avLst/>
          </a:prstGeom>
          <a:noFill/>
          <a:ln/>
        </p:spPr>
        <p:txBody>
          <a:bodyPr wrap="square" lIns="0" tIns="0" rIns="0" bIns="0" rtlCol="0" anchor="ctr"/>
          <a:lstStyle/>
          <a:p>
            <a:pPr indent="0" marL="0">
              <a:buNone/>
            </a:pPr>
            <a:r>
              <a:rPr lang="en-US" sz="3000" b="1" dirty="0">
                <a:solidFill>
                  <a:srgbClr val="FFFFFF"/>
                </a:solidFill>
                <a:latin typeface="Lexend Deca" pitchFamily="34" charset="0"/>
                <a:ea typeface="Lexend Deca" pitchFamily="34" charset="-122"/>
                <a:cs typeface="Lexend Deca" pitchFamily="34" charset="-120"/>
              </a:rPr>
              <a:t>SQL Normalized Schema — The Starting Point</a:t>
            </a:r>
            <a:endParaRPr lang="en-US" sz="3000" dirty="0"/>
          </a:p>
        </p:txBody>
      </p:sp>
      <p:sp>
        <p:nvSpPr>
          <p:cNvPr id="4" name="Shape 2"/>
          <p:cNvSpPr/>
          <p:nvPr/>
        </p:nvSpPr>
        <p:spPr>
          <a:xfrm>
            <a:off x="566928" y="822960"/>
            <a:ext cx="1280160" cy="54864"/>
          </a:xfrm>
          <a:prstGeom prst="rect">
            <a:avLst/>
          </a:prstGeom>
          <a:solidFill>
            <a:srgbClr val="00ED64"/>
          </a:solidFill>
          <a:ln w="12700">
            <a:solidFill>
              <a:srgbClr val="00ED64"/>
            </a:solidFill>
            <a:prstDash val="solid"/>
          </a:ln>
        </p:spPr>
      </p:sp>
      <p:sp>
        <p:nvSpPr>
          <p:cNvPr id="5" name="Text 3"/>
          <p:cNvSpPr/>
          <p:nvPr/>
        </p:nvSpPr>
        <p:spPr>
          <a:xfrm>
            <a:off x="566928" y="914400"/>
            <a:ext cx="11055096" cy="384048"/>
          </a:xfrm>
          <a:prstGeom prst="rect">
            <a:avLst/>
          </a:prstGeom>
          <a:noFill/>
          <a:ln/>
        </p:spPr>
        <p:txBody>
          <a:bodyPr wrap="square" lIns="0" tIns="0" rIns="0" bIns="0" rtlCol="0" anchor="ctr"/>
          <a:lstStyle/>
          <a:p>
            <a:pPr indent="0" marL="0">
              <a:buNone/>
            </a:pPr>
            <a:r>
              <a:rPr lang="en-US" sz="1500" dirty="0">
                <a:solidFill>
                  <a:srgbClr val="B8C4C2"/>
                </a:solidFill>
                <a:latin typeface="Lexend Deca" pitchFamily="34" charset="0"/>
                <a:ea typeface="Lexend Deca" pitchFamily="34" charset="-122"/>
                <a:cs typeface="Lexend Deca" pitchFamily="34" charset="-120"/>
              </a:rPr>
              <a:t>A single order requires 3 tables and 2 JOINs to display completely:</a:t>
            </a:r>
            <a:endParaRPr lang="en-US" sz="1500" dirty="0"/>
          </a:p>
        </p:txBody>
      </p:sp>
      <p:sp>
        <p:nvSpPr>
          <p:cNvPr id="6" name="Shape 4"/>
          <p:cNvSpPr/>
          <p:nvPr/>
        </p:nvSpPr>
        <p:spPr>
          <a:xfrm>
            <a:off x="566928" y="1389888"/>
            <a:ext cx="3383280" cy="3200400"/>
          </a:xfrm>
          <a:prstGeom prst="rect">
            <a:avLst/>
          </a:prstGeom>
          <a:solidFill>
            <a:srgbClr val="023430"/>
          </a:solidFill>
          <a:ln w="19050">
            <a:solidFill>
              <a:srgbClr val="00ED64"/>
            </a:solidFill>
            <a:prstDash val="solid"/>
          </a:ln>
        </p:spPr>
      </p:sp>
      <p:sp>
        <p:nvSpPr>
          <p:cNvPr id="7" name="Shape 5"/>
          <p:cNvSpPr/>
          <p:nvPr/>
        </p:nvSpPr>
        <p:spPr>
          <a:xfrm>
            <a:off x="566928" y="1389888"/>
            <a:ext cx="3383280" cy="502920"/>
          </a:xfrm>
          <a:prstGeom prst="rect">
            <a:avLst/>
          </a:prstGeom>
          <a:solidFill>
            <a:srgbClr val="00ED64"/>
          </a:solidFill>
          <a:ln w="12700">
            <a:solidFill>
              <a:srgbClr val="00ED64"/>
            </a:solidFill>
            <a:prstDash val="solid"/>
          </a:ln>
        </p:spPr>
      </p:sp>
      <p:sp>
        <p:nvSpPr>
          <p:cNvPr id="8" name="Text 6"/>
          <p:cNvSpPr/>
          <p:nvPr/>
        </p:nvSpPr>
        <p:spPr>
          <a:xfrm>
            <a:off x="676656" y="1435608"/>
            <a:ext cx="3163824" cy="438912"/>
          </a:xfrm>
          <a:prstGeom prst="rect">
            <a:avLst/>
          </a:prstGeom>
          <a:noFill/>
          <a:ln/>
        </p:spPr>
        <p:txBody>
          <a:bodyPr wrap="square" lIns="0" tIns="0" rIns="0" bIns="0" rtlCol="0" anchor="ctr"/>
          <a:lstStyle/>
          <a:p>
            <a:pPr indent="0" marL="0">
              <a:buNone/>
            </a:pPr>
            <a:r>
              <a:rPr lang="en-US" sz="1600" b="1" dirty="0">
                <a:solidFill>
                  <a:srgbClr val="001E2B"/>
                </a:solidFill>
                <a:latin typeface="Lexend Deca" pitchFamily="34" charset="0"/>
                <a:ea typeface="Lexend Deca" pitchFamily="34" charset="-122"/>
                <a:cs typeface="Lexend Deca" pitchFamily="34" charset="-120"/>
              </a:rPr>
              <a:t>customers</a:t>
            </a:r>
            <a:endParaRPr lang="en-US" sz="1600" dirty="0"/>
          </a:p>
        </p:txBody>
      </p:sp>
      <p:sp>
        <p:nvSpPr>
          <p:cNvPr id="9" name="Shape 7"/>
          <p:cNvSpPr/>
          <p:nvPr/>
        </p:nvSpPr>
        <p:spPr>
          <a:xfrm>
            <a:off x="676656" y="1956816"/>
            <a:ext cx="3163824" cy="347472"/>
          </a:xfrm>
          <a:prstGeom prst="rect">
            <a:avLst/>
          </a:prstGeom>
          <a:solidFill>
            <a:srgbClr val="012A3A"/>
          </a:solidFill>
          <a:ln w="12700">
            <a:solidFill>
              <a:srgbClr val="012A3A"/>
            </a:solidFill>
            <a:prstDash val="solid"/>
          </a:ln>
        </p:spPr>
      </p:sp>
      <p:sp>
        <p:nvSpPr>
          <p:cNvPr id="10" name="Text 8"/>
          <p:cNvSpPr/>
          <p:nvPr/>
        </p:nvSpPr>
        <p:spPr>
          <a:xfrm>
            <a:off x="749808" y="1975104"/>
            <a:ext cx="3017520" cy="310896"/>
          </a:xfrm>
          <a:prstGeom prst="rect">
            <a:avLst/>
          </a:prstGeom>
          <a:noFill/>
          <a:ln/>
        </p:spPr>
        <p:txBody>
          <a:bodyPr wrap="square" lIns="0" tIns="0" rIns="0" bIns="0" rtlCol="0" anchor="ctr"/>
          <a:lstStyle/>
          <a:p>
            <a:pPr indent="0" marL="0">
              <a:buNone/>
            </a:pPr>
            <a:r>
              <a:rPr lang="en-US" sz="1200" b="1" dirty="0">
                <a:solidFill>
                  <a:srgbClr val="00ED64"/>
                </a:solidFill>
                <a:latin typeface="Source Code Pro" pitchFamily="34" charset="0"/>
                <a:ea typeface="Source Code Pro" pitchFamily="34" charset="-122"/>
                <a:cs typeface="Source Code Pro" pitchFamily="34" charset="-120"/>
              </a:rPr>
              <a:t>🔑 id  INT  PK</a:t>
            </a:r>
            <a:endParaRPr lang="en-US" sz="1200" dirty="0"/>
          </a:p>
        </p:txBody>
      </p:sp>
      <p:sp>
        <p:nvSpPr>
          <p:cNvPr id="11" name="Text 9"/>
          <p:cNvSpPr/>
          <p:nvPr/>
        </p:nvSpPr>
        <p:spPr>
          <a:xfrm>
            <a:off x="749808" y="2359152"/>
            <a:ext cx="3017520" cy="347472"/>
          </a:xfrm>
          <a:prstGeom prst="rect">
            <a:avLst/>
          </a:prstGeom>
          <a:noFill/>
          <a:ln/>
        </p:spPr>
        <p:txBody>
          <a:bodyPr wrap="square" lIns="0" tIns="0" rIns="0" bIns="0" rtlCol="0" anchor="ctr"/>
          <a:lstStyle/>
          <a:p>
            <a:pPr indent="0" marL="0">
              <a:buNone/>
            </a:pPr>
            <a:r>
              <a:rPr lang="en-US" sz="1200" dirty="0">
                <a:solidFill>
                  <a:srgbClr val="FFFFFF"/>
                </a:solidFill>
                <a:latin typeface="Source Code Pro" pitchFamily="34" charset="0"/>
                <a:ea typeface="Source Code Pro" pitchFamily="34" charset="-122"/>
                <a:cs typeface="Source Code Pro" pitchFamily="34" charset="-120"/>
              </a:rPr>
              <a:t>      name  VARCHAR</a:t>
            </a:r>
            <a:endParaRPr lang="en-US" sz="1200" dirty="0"/>
          </a:p>
        </p:txBody>
      </p:sp>
      <p:sp>
        <p:nvSpPr>
          <p:cNvPr id="12" name="Text 10"/>
          <p:cNvSpPr/>
          <p:nvPr/>
        </p:nvSpPr>
        <p:spPr>
          <a:xfrm>
            <a:off x="749808" y="2743200"/>
            <a:ext cx="3017520" cy="347472"/>
          </a:xfrm>
          <a:prstGeom prst="rect">
            <a:avLst/>
          </a:prstGeom>
          <a:noFill/>
          <a:ln/>
        </p:spPr>
        <p:txBody>
          <a:bodyPr wrap="square" lIns="0" tIns="0" rIns="0" bIns="0" rtlCol="0" anchor="ctr"/>
          <a:lstStyle/>
          <a:p>
            <a:pPr indent="0" marL="0">
              <a:buNone/>
            </a:pPr>
            <a:r>
              <a:rPr lang="en-US" sz="1200" dirty="0">
                <a:solidFill>
                  <a:srgbClr val="FFFFFF"/>
                </a:solidFill>
                <a:latin typeface="Source Code Pro" pitchFamily="34" charset="0"/>
                <a:ea typeface="Source Code Pro" pitchFamily="34" charset="-122"/>
                <a:cs typeface="Source Code Pro" pitchFamily="34" charset="-120"/>
              </a:rPr>
              <a:t>      email  VARCHAR</a:t>
            </a:r>
            <a:endParaRPr lang="en-US" sz="1200" dirty="0"/>
          </a:p>
        </p:txBody>
      </p:sp>
      <p:sp>
        <p:nvSpPr>
          <p:cNvPr id="13" name="Text 11"/>
          <p:cNvSpPr/>
          <p:nvPr/>
        </p:nvSpPr>
        <p:spPr>
          <a:xfrm>
            <a:off x="749808" y="3127248"/>
            <a:ext cx="3017520" cy="347472"/>
          </a:xfrm>
          <a:prstGeom prst="rect">
            <a:avLst/>
          </a:prstGeom>
          <a:noFill/>
          <a:ln/>
        </p:spPr>
        <p:txBody>
          <a:bodyPr wrap="square" lIns="0" tIns="0" rIns="0" bIns="0" rtlCol="0" anchor="ctr"/>
          <a:lstStyle/>
          <a:p>
            <a:pPr indent="0" marL="0">
              <a:buNone/>
            </a:pPr>
            <a:r>
              <a:rPr lang="en-US" sz="1200" dirty="0">
                <a:solidFill>
                  <a:srgbClr val="FFFFFF"/>
                </a:solidFill>
                <a:latin typeface="Source Code Pro" pitchFamily="34" charset="0"/>
                <a:ea typeface="Source Code Pro" pitchFamily="34" charset="-122"/>
                <a:cs typeface="Source Code Pro" pitchFamily="34" charset="-120"/>
              </a:rPr>
              <a:t>      region  VARCHAR</a:t>
            </a:r>
            <a:endParaRPr lang="en-US" sz="1200" dirty="0"/>
          </a:p>
        </p:txBody>
      </p:sp>
      <p:sp>
        <p:nvSpPr>
          <p:cNvPr id="14" name="Text 12"/>
          <p:cNvSpPr/>
          <p:nvPr/>
        </p:nvSpPr>
        <p:spPr>
          <a:xfrm>
            <a:off x="749808" y="3511296"/>
            <a:ext cx="3017520" cy="347472"/>
          </a:xfrm>
          <a:prstGeom prst="rect">
            <a:avLst/>
          </a:prstGeom>
          <a:noFill/>
          <a:ln/>
        </p:spPr>
        <p:txBody>
          <a:bodyPr wrap="square" lIns="0" tIns="0" rIns="0" bIns="0" rtlCol="0" anchor="ctr"/>
          <a:lstStyle/>
          <a:p>
            <a:pPr indent="0" marL="0">
              <a:buNone/>
            </a:pPr>
            <a:r>
              <a:rPr lang="en-US" sz="1200" dirty="0">
                <a:solidFill>
                  <a:srgbClr val="FFFFFF"/>
                </a:solidFill>
                <a:latin typeface="Source Code Pro" pitchFamily="34" charset="0"/>
                <a:ea typeface="Source Code Pro" pitchFamily="34" charset="-122"/>
                <a:cs typeface="Source Code Pro" pitchFamily="34" charset="-120"/>
              </a:rPr>
              <a:t>      tier  VARCHAR</a:t>
            </a:r>
            <a:endParaRPr lang="en-US" sz="1200" dirty="0"/>
          </a:p>
        </p:txBody>
      </p:sp>
      <p:sp>
        <p:nvSpPr>
          <p:cNvPr id="15" name="Shape 13"/>
          <p:cNvSpPr/>
          <p:nvPr/>
        </p:nvSpPr>
        <p:spPr>
          <a:xfrm>
            <a:off x="4407408" y="1389888"/>
            <a:ext cx="3383280" cy="3200400"/>
          </a:xfrm>
          <a:prstGeom prst="rect">
            <a:avLst/>
          </a:prstGeom>
          <a:solidFill>
            <a:srgbClr val="023430"/>
          </a:solidFill>
          <a:ln w="19050">
            <a:solidFill>
              <a:srgbClr val="4A9EFF"/>
            </a:solidFill>
            <a:prstDash val="solid"/>
          </a:ln>
        </p:spPr>
      </p:sp>
      <p:sp>
        <p:nvSpPr>
          <p:cNvPr id="16" name="Shape 14"/>
          <p:cNvSpPr/>
          <p:nvPr/>
        </p:nvSpPr>
        <p:spPr>
          <a:xfrm>
            <a:off x="4407408" y="1389888"/>
            <a:ext cx="3383280" cy="502920"/>
          </a:xfrm>
          <a:prstGeom prst="rect">
            <a:avLst/>
          </a:prstGeom>
          <a:solidFill>
            <a:srgbClr val="4A9EFF"/>
          </a:solidFill>
          <a:ln w="12700">
            <a:solidFill>
              <a:srgbClr val="4A9EFF"/>
            </a:solidFill>
            <a:prstDash val="solid"/>
          </a:ln>
        </p:spPr>
      </p:sp>
      <p:sp>
        <p:nvSpPr>
          <p:cNvPr id="17" name="Text 15"/>
          <p:cNvSpPr/>
          <p:nvPr/>
        </p:nvSpPr>
        <p:spPr>
          <a:xfrm>
            <a:off x="4517136" y="1435608"/>
            <a:ext cx="3163824" cy="438912"/>
          </a:xfrm>
          <a:prstGeom prst="rect">
            <a:avLst/>
          </a:prstGeom>
          <a:noFill/>
          <a:ln/>
        </p:spPr>
        <p:txBody>
          <a:bodyPr wrap="square" lIns="0" tIns="0" rIns="0" bIns="0" rtlCol="0" anchor="ctr"/>
          <a:lstStyle/>
          <a:p>
            <a:pPr indent="0" marL="0">
              <a:buNone/>
            </a:pPr>
            <a:r>
              <a:rPr lang="en-US" sz="1600" b="1" dirty="0">
                <a:solidFill>
                  <a:srgbClr val="001E2B"/>
                </a:solidFill>
                <a:latin typeface="Lexend Deca" pitchFamily="34" charset="0"/>
                <a:ea typeface="Lexend Deca" pitchFamily="34" charset="-122"/>
                <a:cs typeface="Lexend Deca" pitchFamily="34" charset="-120"/>
              </a:rPr>
              <a:t>orders</a:t>
            </a:r>
            <a:endParaRPr lang="en-US" sz="1600" dirty="0"/>
          </a:p>
        </p:txBody>
      </p:sp>
      <p:sp>
        <p:nvSpPr>
          <p:cNvPr id="18" name="Shape 16"/>
          <p:cNvSpPr/>
          <p:nvPr/>
        </p:nvSpPr>
        <p:spPr>
          <a:xfrm>
            <a:off x="4517136" y="1956816"/>
            <a:ext cx="3163824" cy="347472"/>
          </a:xfrm>
          <a:prstGeom prst="rect">
            <a:avLst/>
          </a:prstGeom>
          <a:solidFill>
            <a:srgbClr val="012A3A"/>
          </a:solidFill>
          <a:ln w="12700">
            <a:solidFill>
              <a:srgbClr val="012A3A"/>
            </a:solidFill>
            <a:prstDash val="solid"/>
          </a:ln>
        </p:spPr>
      </p:sp>
      <p:sp>
        <p:nvSpPr>
          <p:cNvPr id="19" name="Text 17"/>
          <p:cNvSpPr/>
          <p:nvPr/>
        </p:nvSpPr>
        <p:spPr>
          <a:xfrm>
            <a:off x="4590288" y="1975104"/>
            <a:ext cx="3017520" cy="310896"/>
          </a:xfrm>
          <a:prstGeom prst="rect">
            <a:avLst/>
          </a:prstGeom>
          <a:noFill/>
          <a:ln/>
        </p:spPr>
        <p:txBody>
          <a:bodyPr wrap="square" lIns="0" tIns="0" rIns="0" bIns="0" rtlCol="0" anchor="ctr"/>
          <a:lstStyle/>
          <a:p>
            <a:pPr indent="0" marL="0">
              <a:buNone/>
            </a:pPr>
            <a:r>
              <a:rPr lang="en-US" sz="1200" b="1" dirty="0">
                <a:solidFill>
                  <a:srgbClr val="00ED64"/>
                </a:solidFill>
                <a:latin typeface="Source Code Pro" pitchFamily="34" charset="0"/>
                <a:ea typeface="Source Code Pro" pitchFamily="34" charset="-122"/>
                <a:cs typeface="Source Code Pro" pitchFamily="34" charset="-120"/>
              </a:rPr>
              <a:t>🔑 id  INT  PK</a:t>
            </a:r>
            <a:endParaRPr lang="en-US" sz="1200" dirty="0"/>
          </a:p>
        </p:txBody>
      </p:sp>
      <p:sp>
        <p:nvSpPr>
          <p:cNvPr id="20" name="Text 18"/>
          <p:cNvSpPr/>
          <p:nvPr/>
        </p:nvSpPr>
        <p:spPr>
          <a:xfrm>
            <a:off x="4590288" y="2359152"/>
            <a:ext cx="3017520" cy="347472"/>
          </a:xfrm>
          <a:prstGeom prst="rect">
            <a:avLst/>
          </a:prstGeom>
          <a:noFill/>
          <a:ln/>
        </p:spPr>
        <p:txBody>
          <a:bodyPr wrap="square" lIns="0" tIns="0" rIns="0" bIns="0" rtlCol="0" anchor="ctr"/>
          <a:lstStyle/>
          <a:p>
            <a:pPr indent="0" marL="0">
              <a:buNone/>
            </a:pPr>
            <a:r>
              <a:rPr lang="en-US" sz="1200" dirty="0">
                <a:solidFill>
                  <a:srgbClr val="4A9EFF"/>
                </a:solidFill>
                <a:latin typeface="Source Code Pro" pitchFamily="34" charset="0"/>
                <a:ea typeface="Source Code Pro" pitchFamily="34" charset="-122"/>
                <a:cs typeface="Source Code Pro" pitchFamily="34" charset="-120"/>
              </a:rPr>
              <a:t>🔗  customer_id → customers</a:t>
            </a:r>
            <a:endParaRPr lang="en-US" sz="1200" dirty="0"/>
          </a:p>
        </p:txBody>
      </p:sp>
      <p:sp>
        <p:nvSpPr>
          <p:cNvPr id="21" name="Text 19"/>
          <p:cNvSpPr/>
          <p:nvPr/>
        </p:nvSpPr>
        <p:spPr>
          <a:xfrm>
            <a:off x="4590288" y="2743200"/>
            <a:ext cx="3017520" cy="347472"/>
          </a:xfrm>
          <a:prstGeom prst="rect">
            <a:avLst/>
          </a:prstGeom>
          <a:noFill/>
          <a:ln/>
        </p:spPr>
        <p:txBody>
          <a:bodyPr wrap="square" lIns="0" tIns="0" rIns="0" bIns="0" rtlCol="0" anchor="ctr"/>
          <a:lstStyle/>
          <a:p>
            <a:pPr indent="0" marL="0">
              <a:buNone/>
            </a:pPr>
            <a:r>
              <a:rPr lang="en-US" sz="1200" dirty="0">
                <a:solidFill>
                  <a:srgbClr val="FFFFFF"/>
                </a:solidFill>
                <a:latin typeface="Source Code Pro" pitchFamily="34" charset="0"/>
                <a:ea typeface="Source Code Pro" pitchFamily="34" charset="-122"/>
                <a:cs typeface="Source Code Pro" pitchFamily="34" charset="-120"/>
              </a:rPr>
              <a:t>      status  VARCHAR</a:t>
            </a:r>
            <a:endParaRPr lang="en-US" sz="1200" dirty="0"/>
          </a:p>
        </p:txBody>
      </p:sp>
      <p:sp>
        <p:nvSpPr>
          <p:cNvPr id="22" name="Text 20"/>
          <p:cNvSpPr/>
          <p:nvPr/>
        </p:nvSpPr>
        <p:spPr>
          <a:xfrm>
            <a:off x="4590288" y="3127248"/>
            <a:ext cx="3017520" cy="347472"/>
          </a:xfrm>
          <a:prstGeom prst="rect">
            <a:avLst/>
          </a:prstGeom>
          <a:noFill/>
          <a:ln/>
        </p:spPr>
        <p:txBody>
          <a:bodyPr wrap="square" lIns="0" tIns="0" rIns="0" bIns="0" rtlCol="0" anchor="ctr"/>
          <a:lstStyle/>
          <a:p>
            <a:pPr indent="0" marL="0">
              <a:buNone/>
            </a:pPr>
            <a:r>
              <a:rPr lang="en-US" sz="1200" dirty="0">
                <a:solidFill>
                  <a:srgbClr val="FFFFFF"/>
                </a:solidFill>
                <a:latin typeface="Source Code Pro" pitchFamily="34" charset="0"/>
                <a:ea typeface="Source Code Pro" pitchFamily="34" charset="-122"/>
                <a:cs typeface="Source Code Pro" pitchFamily="34" charset="-120"/>
              </a:rPr>
              <a:t>      amount  DECIMAL</a:t>
            </a:r>
            <a:endParaRPr lang="en-US" sz="1200" dirty="0"/>
          </a:p>
        </p:txBody>
      </p:sp>
      <p:sp>
        <p:nvSpPr>
          <p:cNvPr id="23" name="Text 21"/>
          <p:cNvSpPr/>
          <p:nvPr/>
        </p:nvSpPr>
        <p:spPr>
          <a:xfrm>
            <a:off x="4590288" y="3511296"/>
            <a:ext cx="3017520" cy="347472"/>
          </a:xfrm>
          <a:prstGeom prst="rect">
            <a:avLst/>
          </a:prstGeom>
          <a:noFill/>
          <a:ln/>
        </p:spPr>
        <p:txBody>
          <a:bodyPr wrap="square" lIns="0" tIns="0" rIns="0" bIns="0" rtlCol="0" anchor="ctr"/>
          <a:lstStyle/>
          <a:p>
            <a:pPr indent="0" marL="0">
              <a:buNone/>
            </a:pPr>
            <a:r>
              <a:rPr lang="en-US" sz="1200" dirty="0">
                <a:solidFill>
                  <a:srgbClr val="FFFFFF"/>
                </a:solidFill>
                <a:latin typeface="Source Code Pro" pitchFamily="34" charset="0"/>
                <a:ea typeface="Source Code Pro" pitchFamily="34" charset="-122"/>
                <a:cs typeface="Source Code Pro" pitchFamily="34" charset="-120"/>
              </a:rPr>
              <a:t>      created_at  TIMESTAMP</a:t>
            </a:r>
            <a:endParaRPr lang="en-US" sz="1200" dirty="0"/>
          </a:p>
        </p:txBody>
      </p:sp>
      <p:sp>
        <p:nvSpPr>
          <p:cNvPr id="24" name="Shape 22"/>
          <p:cNvSpPr/>
          <p:nvPr/>
        </p:nvSpPr>
        <p:spPr>
          <a:xfrm>
            <a:off x="8247888" y="1389888"/>
            <a:ext cx="3383280" cy="3200400"/>
          </a:xfrm>
          <a:prstGeom prst="rect">
            <a:avLst/>
          </a:prstGeom>
          <a:solidFill>
            <a:srgbClr val="023430"/>
          </a:solidFill>
          <a:ln w="19050">
            <a:solidFill>
              <a:srgbClr val="F97316"/>
            </a:solidFill>
            <a:prstDash val="solid"/>
          </a:ln>
        </p:spPr>
      </p:sp>
      <p:sp>
        <p:nvSpPr>
          <p:cNvPr id="25" name="Shape 23"/>
          <p:cNvSpPr/>
          <p:nvPr/>
        </p:nvSpPr>
        <p:spPr>
          <a:xfrm>
            <a:off x="8247888" y="1389888"/>
            <a:ext cx="3383280" cy="502920"/>
          </a:xfrm>
          <a:prstGeom prst="rect">
            <a:avLst/>
          </a:prstGeom>
          <a:solidFill>
            <a:srgbClr val="F97316"/>
          </a:solidFill>
          <a:ln w="12700">
            <a:solidFill>
              <a:srgbClr val="F97316"/>
            </a:solidFill>
            <a:prstDash val="solid"/>
          </a:ln>
        </p:spPr>
      </p:sp>
      <p:sp>
        <p:nvSpPr>
          <p:cNvPr id="26" name="Text 24"/>
          <p:cNvSpPr/>
          <p:nvPr/>
        </p:nvSpPr>
        <p:spPr>
          <a:xfrm>
            <a:off x="8357616" y="1435608"/>
            <a:ext cx="3163824" cy="438912"/>
          </a:xfrm>
          <a:prstGeom prst="rect">
            <a:avLst/>
          </a:prstGeom>
          <a:noFill/>
          <a:ln/>
        </p:spPr>
        <p:txBody>
          <a:bodyPr wrap="square" lIns="0" tIns="0" rIns="0" bIns="0" rtlCol="0" anchor="ctr"/>
          <a:lstStyle/>
          <a:p>
            <a:pPr indent="0" marL="0">
              <a:buNone/>
            </a:pPr>
            <a:r>
              <a:rPr lang="en-US" sz="1600" b="1" dirty="0">
                <a:solidFill>
                  <a:srgbClr val="001E2B"/>
                </a:solidFill>
                <a:latin typeface="Lexend Deca" pitchFamily="34" charset="0"/>
                <a:ea typeface="Lexend Deca" pitchFamily="34" charset="-122"/>
                <a:cs typeface="Lexend Deca" pitchFamily="34" charset="-120"/>
              </a:rPr>
              <a:t>order_items</a:t>
            </a:r>
            <a:endParaRPr lang="en-US" sz="1600" dirty="0"/>
          </a:p>
        </p:txBody>
      </p:sp>
      <p:sp>
        <p:nvSpPr>
          <p:cNvPr id="27" name="Shape 25"/>
          <p:cNvSpPr/>
          <p:nvPr/>
        </p:nvSpPr>
        <p:spPr>
          <a:xfrm>
            <a:off x="8357616" y="1956816"/>
            <a:ext cx="3163824" cy="347472"/>
          </a:xfrm>
          <a:prstGeom prst="rect">
            <a:avLst/>
          </a:prstGeom>
          <a:solidFill>
            <a:srgbClr val="012A3A"/>
          </a:solidFill>
          <a:ln w="12700">
            <a:solidFill>
              <a:srgbClr val="012A3A"/>
            </a:solidFill>
            <a:prstDash val="solid"/>
          </a:ln>
        </p:spPr>
      </p:sp>
      <p:sp>
        <p:nvSpPr>
          <p:cNvPr id="28" name="Text 26"/>
          <p:cNvSpPr/>
          <p:nvPr/>
        </p:nvSpPr>
        <p:spPr>
          <a:xfrm>
            <a:off x="8430768" y="1975104"/>
            <a:ext cx="3017520" cy="310896"/>
          </a:xfrm>
          <a:prstGeom prst="rect">
            <a:avLst/>
          </a:prstGeom>
          <a:noFill/>
          <a:ln/>
        </p:spPr>
        <p:txBody>
          <a:bodyPr wrap="square" lIns="0" tIns="0" rIns="0" bIns="0" rtlCol="0" anchor="ctr"/>
          <a:lstStyle/>
          <a:p>
            <a:pPr indent="0" marL="0">
              <a:buNone/>
            </a:pPr>
            <a:r>
              <a:rPr lang="en-US" sz="1200" b="1" dirty="0">
                <a:solidFill>
                  <a:srgbClr val="00ED64"/>
                </a:solidFill>
                <a:latin typeface="Source Code Pro" pitchFamily="34" charset="0"/>
                <a:ea typeface="Source Code Pro" pitchFamily="34" charset="-122"/>
                <a:cs typeface="Source Code Pro" pitchFamily="34" charset="-120"/>
              </a:rPr>
              <a:t>🔑 id  INT  PK</a:t>
            </a:r>
            <a:endParaRPr lang="en-US" sz="1200" dirty="0"/>
          </a:p>
        </p:txBody>
      </p:sp>
      <p:sp>
        <p:nvSpPr>
          <p:cNvPr id="29" name="Text 27"/>
          <p:cNvSpPr/>
          <p:nvPr/>
        </p:nvSpPr>
        <p:spPr>
          <a:xfrm>
            <a:off x="8430768" y="2359152"/>
            <a:ext cx="3017520" cy="347472"/>
          </a:xfrm>
          <a:prstGeom prst="rect">
            <a:avLst/>
          </a:prstGeom>
          <a:noFill/>
          <a:ln/>
        </p:spPr>
        <p:txBody>
          <a:bodyPr wrap="square" lIns="0" tIns="0" rIns="0" bIns="0" rtlCol="0" anchor="ctr"/>
          <a:lstStyle/>
          <a:p>
            <a:pPr indent="0" marL="0">
              <a:buNone/>
            </a:pPr>
            <a:r>
              <a:rPr lang="en-US" sz="1200" dirty="0">
                <a:solidFill>
                  <a:srgbClr val="4A9EFF"/>
                </a:solidFill>
                <a:latin typeface="Source Code Pro" pitchFamily="34" charset="0"/>
                <a:ea typeface="Source Code Pro" pitchFamily="34" charset="-122"/>
                <a:cs typeface="Source Code Pro" pitchFamily="34" charset="-120"/>
              </a:rPr>
              <a:t>🔗  order_id → orders</a:t>
            </a:r>
            <a:endParaRPr lang="en-US" sz="1200" dirty="0"/>
          </a:p>
        </p:txBody>
      </p:sp>
      <p:sp>
        <p:nvSpPr>
          <p:cNvPr id="30" name="Text 28"/>
          <p:cNvSpPr/>
          <p:nvPr/>
        </p:nvSpPr>
        <p:spPr>
          <a:xfrm>
            <a:off x="8430768" y="2743200"/>
            <a:ext cx="3017520" cy="347472"/>
          </a:xfrm>
          <a:prstGeom prst="rect">
            <a:avLst/>
          </a:prstGeom>
          <a:noFill/>
          <a:ln/>
        </p:spPr>
        <p:txBody>
          <a:bodyPr wrap="square" lIns="0" tIns="0" rIns="0" bIns="0" rtlCol="0" anchor="ctr"/>
          <a:lstStyle/>
          <a:p>
            <a:pPr indent="0" marL="0">
              <a:buNone/>
            </a:pPr>
            <a:r>
              <a:rPr lang="en-US" sz="1200" dirty="0">
                <a:solidFill>
                  <a:srgbClr val="FFFFFF"/>
                </a:solidFill>
                <a:latin typeface="Source Code Pro" pitchFamily="34" charset="0"/>
                <a:ea typeface="Source Code Pro" pitchFamily="34" charset="-122"/>
                <a:cs typeface="Source Code Pro" pitchFamily="34" charset="-120"/>
              </a:rPr>
              <a:t>      sku  VARCHAR</a:t>
            </a:r>
            <a:endParaRPr lang="en-US" sz="1200" dirty="0"/>
          </a:p>
        </p:txBody>
      </p:sp>
      <p:sp>
        <p:nvSpPr>
          <p:cNvPr id="31" name="Text 29"/>
          <p:cNvSpPr/>
          <p:nvPr/>
        </p:nvSpPr>
        <p:spPr>
          <a:xfrm>
            <a:off x="8430768" y="3127248"/>
            <a:ext cx="3017520" cy="347472"/>
          </a:xfrm>
          <a:prstGeom prst="rect">
            <a:avLst/>
          </a:prstGeom>
          <a:noFill/>
          <a:ln/>
        </p:spPr>
        <p:txBody>
          <a:bodyPr wrap="square" lIns="0" tIns="0" rIns="0" bIns="0" rtlCol="0" anchor="ctr"/>
          <a:lstStyle/>
          <a:p>
            <a:pPr indent="0" marL="0">
              <a:buNone/>
            </a:pPr>
            <a:r>
              <a:rPr lang="en-US" sz="1200" dirty="0">
                <a:solidFill>
                  <a:srgbClr val="FFFFFF"/>
                </a:solidFill>
                <a:latin typeface="Source Code Pro" pitchFamily="34" charset="0"/>
                <a:ea typeface="Source Code Pro" pitchFamily="34" charset="-122"/>
                <a:cs typeface="Source Code Pro" pitchFamily="34" charset="-120"/>
              </a:rPr>
              <a:t>      qty  INT</a:t>
            </a:r>
            <a:endParaRPr lang="en-US" sz="1200" dirty="0"/>
          </a:p>
        </p:txBody>
      </p:sp>
      <p:sp>
        <p:nvSpPr>
          <p:cNvPr id="32" name="Text 30"/>
          <p:cNvSpPr/>
          <p:nvPr/>
        </p:nvSpPr>
        <p:spPr>
          <a:xfrm>
            <a:off x="8430768" y="3511296"/>
            <a:ext cx="3017520" cy="347472"/>
          </a:xfrm>
          <a:prstGeom prst="rect">
            <a:avLst/>
          </a:prstGeom>
          <a:noFill/>
          <a:ln/>
        </p:spPr>
        <p:txBody>
          <a:bodyPr wrap="square" lIns="0" tIns="0" rIns="0" bIns="0" rtlCol="0" anchor="ctr"/>
          <a:lstStyle/>
          <a:p>
            <a:pPr indent="0" marL="0">
              <a:buNone/>
            </a:pPr>
            <a:r>
              <a:rPr lang="en-US" sz="1200" dirty="0">
                <a:solidFill>
                  <a:srgbClr val="FFFFFF"/>
                </a:solidFill>
                <a:latin typeface="Source Code Pro" pitchFamily="34" charset="0"/>
                <a:ea typeface="Source Code Pro" pitchFamily="34" charset="-122"/>
                <a:cs typeface="Source Code Pro" pitchFamily="34" charset="-120"/>
              </a:rPr>
              <a:t>      unit_price  DECIMAL</a:t>
            </a:r>
            <a:endParaRPr lang="en-US" sz="1200" dirty="0"/>
          </a:p>
        </p:txBody>
      </p:sp>
      <p:sp>
        <p:nvSpPr>
          <p:cNvPr id="33" name="Shape 31"/>
          <p:cNvSpPr/>
          <p:nvPr/>
        </p:nvSpPr>
        <p:spPr>
          <a:xfrm>
            <a:off x="3950208" y="3017520"/>
            <a:ext cx="457200" cy="45720"/>
          </a:xfrm>
          <a:prstGeom prst="rect">
            <a:avLst/>
          </a:prstGeom>
          <a:solidFill>
            <a:srgbClr val="00ED64"/>
          </a:solidFill>
          <a:ln w="12700">
            <a:solidFill>
              <a:srgbClr val="00ED64"/>
            </a:solidFill>
            <a:prstDash val="solid"/>
          </a:ln>
        </p:spPr>
      </p:sp>
      <p:sp>
        <p:nvSpPr>
          <p:cNvPr id="34" name="Shape 32"/>
          <p:cNvSpPr/>
          <p:nvPr/>
        </p:nvSpPr>
        <p:spPr>
          <a:xfrm>
            <a:off x="4370832" y="2944368"/>
            <a:ext cx="54864" cy="201168"/>
          </a:xfrm>
          <a:prstGeom prst="rect">
            <a:avLst/>
          </a:prstGeom>
          <a:solidFill>
            <a:srgbClr val="00ED64"/>
          </a:solidFill>
          <a:ln w="12700">
            <a:solidFill>
              <a:srgbClr val="00ED64"/>
            </a:solidFill>
            <a:prstDash val="solid"/>
          </a:ln>
        </p:spPr>
      </p:sp>
      <p:sp>
        <p:nvSpPr>
          <p:cNvPr id="35" name="Text 33"/>
          <p:cNvSpPr/>
          <p:nvPr/>
        </p:nvSpPr>
        <p:spPr>
          <a:xfrm>
            <a:off x="3794760" y="2615184"/>
            <a:ext cx="731520" cy="274320"/>
          </a:xfrm>
          <a:prstGeom prst="rect">
            <a:avLst/>
          </a:prstGeom>
          <a:noFill/>
          <a:ln/>
        </p:spPr>
        <p:txBody>
          <a:bodyPr wrap="square" lIns="0" tIns="0" rIns="0" bIns="0" rtlCol="0" anchor="ctr"/>
          <a:lstStyle/>
          <a:p>
            <a:pPr algn="ctr" indent="0" marL="0">
              <a:buNone/>
            </a:pPr>
            <a:r>
              <a:rPr lang="en-US" sz="1100" b="1" dirty="0">
                <a:solidFill>
                  <a:srgbClr val="00ED64"/>
                </a:solidFill>
              </a:rPr>
              <a:t>1 : N</a:t>
            </a:r>
            <a:endParaRPr lang="en-US" sz="1100" dirty="0"/>
          </a:p>
        </p:txBody>
      </p:sp>
      <p:sp>
        <p:nvSpPr>
          <p:cNvPr id="36" name="Shape 34"/>
          <p:cNvSpPr/>
          <p:nvPr/>
        </p:nvSpPr>
        <p:spPr>
          <a:xfrm>
            <a:off x="7790688" y="3017520"/>
            <a:ext cx="457200" cy="45720"/>
          </a:xfrm>
          <a:prstGeom prst="rect">
            <a:avLst/>
          </a:prstGeom>
          <a:solidFill>
            <a:srgbClr val="4A9EFF"/>
          </a:solidFill>
          <a:ln w="12700">
            <a:solidFill>
              <a:srgbClr val="4A9EFF"/>
            </a:solidFill>
            <a:prstDash val="solid"/>
          </a:ln>
        </p:spPr>
      </p:sp>
      <p:sp>
        <p:nvSpPr>
          <p:cNvPr id="37" name="Shape 35"/>
          <p:cNvSpPr/>
          <p:nvPr/>
        </p:nvSpPr>
        <p:spPr>
          <a:xfrm>
            <a:off x="8211312" y="2944368"/>
            <a:ext cx="54864" cy="201168"/>
          </a:xfrm>
          <a:prstGeom prst="rect">
            <a:avLst/>
          </a:prstGeom>
          <a:solidFill>
            <a:srgbClr val="4A9EFF"/>
          </a:solidFill>
          <a:ln w="12700">
            <a:solidFill>
              <a:srgbClr val="4A9EFF"/>
            </a:solidFill>
            <a:prstDash val="solid"/>
          </a:ln>
        </p:spPr>
      </p:sp>
      <p:sp>
        <p:nvSpPr>
          <p:cNvPr id="38" name="Text 36"/>
          <p:cNvSpPr/>
          <p:nvPr/>
        </p:nvSpPr>
        <p:spPr>
          <a:xfrm>
            <a:off x="7635240" y="2615184"/>
            <a:ext cx="731520" cy="274320"/>
          </a:xfrm>
          <a:prstGeom prst="rect">
            <a:avLst/>
          </a:prstGeom>
          <a:noFill/>
          <a:ln/>
        </p:spPr>
        <p:txBody>
          <a:bodyPr wrap="square" lIns="0" tIns="0" rIns="0" bIns="0" rtlCol="0" anchor="ctr"/>
          <a:lstStyle/>
          <a:p>
            <a:pPr algn="ctr" indent="0" marL="0">
              <a:buNone/>
            </a:pPr>
            <a:r>
              <a:rPr lang="en-US" sz="1100" b="1" dirty="0">
                <a:solidFill>
                  <a:srgbClr val="4A9EFF"/>
                </a:solidFill>
              </a:rPr>
              <a:t>1 : N</a:t>
            </a:r>
            <a:endParaRPr lang="en-US" sz="1100" dirty="0"/>
          </a:p>
        </p:txBody>
      </p:sp>
      <p:sp>
        <p:nvSpPr>
          <p:cNvPr id="39" name="Shape 37"/>
          <p:cNvSpPr/>
          <p:nvPr/>
        </p:nvSpPr>
        <p:spPr>
          <a:xfrm>
            <a:off x="566928" y="4736592"/>
            <a:ext cx="11055096" cy="1664208"/>
          </a:xfrm>
          <a:prstGeom prst="rect">
            <a:avLst/>
          </a:prstGeom>
          <a:solidFill>
            <a:srgbClr val="011520"/>
          </a:solidFill>
          <a:ln w="15240">
            <a:solidFill>
              <a:srgbClr val="00ED64"/>
            </a:solidFill>
            <a:prstDash val="solid"/>
          </a:ln>
          <a:effectLst>
            <a:outerShdw sx="100000" sy="100000" kx="0" ky="0" algn="bl" rotWithShape="0" blurRad="127000" dist="38100" dir="8100000">
              <a:srgbClr val="000000">
                <a:alpha val="28000"/>
              </a:srgbClr>
            </a:outerShdw>
          </a:effectLst>
        </p:spPr>
      </p:sp>
      <p:sp>
        <p:nvSpPr>
          <p:cNvPr id="40" name="Text 38"/>
          <p:cNvSpPr/>
          <p:nvPr/>
        </p:nvSpPr>
        <p:spPr>
          <a:xfrm>
            <a:off x="704088" y="4855464"/>
            <a:ext cx="10780776" cy="1426464"/>
          </a:xfrm>
          <a:prstGeom prst="rect">
            <a:avLst/>
          </a:prstGeom>
          <a:noFill/>
          <a:ln/>
        </p:spPr>
        <p:txBody>
          <a:bodyPr wrap="square" lIns="0" tIns="0" rIns="0" bIns="0" rtlCol="0" anchor="t"/>
          <a:lstStyle/>
          <a:p>
            <a:pPr indent="0" marL="0">
              <a:buNone/>
            </a:pPr>
            <a:r>
              <a:rPr lang="en-US" sz="1100" dirty="0">
                <a:solidFill>
                  <a:srgbClr val="00ED64"/>
                </a:solidFill>
                <a:latin typeface="Source Code Pro" pitchFamily="34" charset="0"/>
                <a:ea typeface="Source Code Pro" pitchFamily="34" charset="-122"/>
                <a:cs typeface="Source Code Pro" pitchFamily="34" charset="-120"/>
              </a:rPr>
              <a:t>SELECT c.name, c.region, o.status, o.amount, oi.sku, oi.qty, oi.unit_price</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FROM   customers   c</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JOIN   orders      o   ON  o.customer_id = c.id</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JOIN   order_items oi  ON  oi.order_id   = o.id</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WHERE  c.id = 42;</a:t>
            </a:r>
            <a:endParaRPr lang="en-US" sz="1100" dirty="0"/>
          </a:p>
        </p:txBody>
      </p:sp>
      <p:sp>
        <p:nvSpPr>
          <p:cNvPr id="41" name="Text 39"/>
          <p:cNvSpPr/>
          <p:nvPr/>
        </p:nvSpPr>
        <p:spPr>
          <a:xfrm>
            <a:off x="566928" y="6437376"/>
            <a:ext cx="11055096" cy="274320"/>
          </a:xfrm>
          <a:prstGeom prst="rect">
            <a:avLst/>
          </a:prstGeom>
          <a:noFill/>
          <a:ln/>
        </p:spPr>
        <p:txBody>
          <a:bodyPr wrap="square" lIns="0" tIns="0" rIns="0" bIns="0" rtlCol="0" anchor="ctr"/>
          <a:lstStyle/>
          <a:p>
            <a:pPr indent="0" marL="0">
              <a:buNone/>
            </a:pPr>
            <a:r>
              <a:rPr lang="en-US" sz="1300" i="1" dirty="0">
                <a:solidFill>
                  <a:srgbClr val="00ED64"/>
                </a:solidFill>
                <a:latin typeface="Lexend Deca" pitchFamily="34" charset="0"/>
                <a:ea typeface="Lexend Deca" pitchFamily="34" charset="-122"/>
                <a:cs typeface="Lexend Deca" pitchFamily="34" charset="-120"/>
              </a:rPr>
              <a:t>→  In MongoDB this is ONE document read — no JOINs, no multiple round-trips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1E2B"/>
        </a:solidFill>
      </p:bgPr>
    </p:bg>
    <p:spTree>
      <p:nvGrpSpPr>
        <p:cNvPr id="1" name=""/>
        <p:cNvGrpSpPr/>
        <p:nvPr/>
      </p:nvGrpSpPr>
      <p:grpSpPr>
        <a:xfrm>
          <a:off x="0" y="0"/>
          <a:ext cx="0" cy="0"/>
          <a:chOff x="0" y="0"/>
          <a:chExt cx="0" cy="0"/>
        </a:xfrm>
      </p:grpSpPr>
      <p:sp>
        <p:nvSpPr>
          <p:cNvPr id="2" name="Shape 0"/>
          <p:cNvSpPr/>
          <p:nvPr/>
        </p:nvSpPr>
        <p:spPr>
          <a:xfrm>
            <a:off x="0" y="6656832"/>
            <a:ext cx="12188952" cy="201168"/>
          </a:xfrm>
          <a:prstGeom prst="rect">
            <a:avLst/>
          </a:prstGeom>
          <a:solidFill>
            <a:srgbClr val="00ED64"/>
          </a:solidFill>
          <a:ln w="12700">
            <a:solidFill>
              <a:srgbClr val="00ED64"/>
            </a:solidFill>
            <a:prstDash val="solid"/>
          </a:ln>
        </p:spPr>
      </p:sp>
      <p:sp>
        <p:nvSpPr>
          <p:cNvPr id="3" name="Text 1"/>
          <p:cNvSpPr/>
          <p:nvPr/>
        </p:nvSpPr>
        <p:spPr>
          <a:xfrm>
            <a:off x="566928" y="201168"/>
            <a:ext cx="11055096" cy="594360"/>
          </a:xfrm>
          <a:prstGeom prst="rect">
            <a:avLst/>
          </a:prstGeom>
          <a:noFill/>
          <a:ln/>
        </p:spPr>
        <p:txBody>
          <a:bodyPr wrap="square" lIns="0" tIns="0" rIns="0" bIns="0" rtlCol="0" anchor="ctr"/>
          <a:lstStyle/>
          <a:p>
            <a:pPr indent="0" marL="0">
              <a:buNone/>
            </a:pPr>
            <a:r>
              <a:rPr lang="en-US" sz="3000" b="1" dirty="0">
                <a:solidFill>
                  <a:srgbClr val="FFFFFF"/>
                </a:solidFill>
                <a:latin typeface="Lexend Deca" pitchFamily="34" charset="0"/>
                <a:ea typeface="Lexend Deca" pitchFamily="34" charset="-122"/>
                <a:cs typeface="Lexend Deca" pitchFamily="34" charset="-120"/>
              </a:rPr>
              <a:t>Embedding vs Referencing — The #1 Design Decision</a:t>
            </a:r>
            <a:endParaRPr lang="en-US" sz="3000" dirty="0"/>
          </a:p>
        </p:txBody>
      </p:sp>
      <p:sp>
        <p:nvSpPr>
          <p:cNvPr id="4" name="Shape 2"/>
          <p:cNvSpPr/>
          <p:nvPr/>
        </p:nvSpPr>
        <p:spPr>
          <a:xfrm>
            <a:off x="566928" y="822960"/>
            <a:ext cx="1280160" cy="54864"/>
          </a:xfrm>
          <a:prstGeom prst="rect">
            <a:avLst/>
          </a:prstGeom>
          <a:solidFill>
            <a:srgbClr val="00ED64"/>
          </a:solidFill>
          <a:ln w="12700">
            <a:solidFill>
              <a:srgbClr val="00ED64"/>
            </a:solidFill>
            <a:prstDash val="solid"/>
          </a:ln>
        </p:spPr>
      </p:sp>
      <p:sp>
        <p:nvSpPr>
          <p:cNvPr id="5" name="Shape 3"/>
          <p:cNvSpPr/>
          <p:nvPr/>
        </p:nvSpPr>
        <p:spPr>
          <a:xfrm>
            <a:off x="566928" y="960120"/>
            <a:ext cx="5440680" cy="5303520"/>
          </a:xfrm>
          <a:prstGeom prst="rect">
            <a:avLst/>
          </a:prstGeom>
          <a:solidFill>
            <a:srgbClr val="023430"/>
          </a:solidFill>
          <a:ln w="19050">
            <a:solidFill>
              <a:srgbClr val="00ED64"/>
            </a:solidFill>
            <a:prstDash val="solid"/>
          </a:ln>
          <a:effectLst>
            <a:outerShdw sx="100000" sy="100000" kx="0" ky="0" algn="bl" rotWithShape="0" blurRad="127000" dist="38100" dir="8100000">
              <a:srgbClr val="000000">
                <a:alpha val="28000"/>
              </a:srgbClr>
            </a:outerShdw>
          </a:effectLst>
        </p:spPr>
      </p:sp>
      <p:sp>
        <p:nvSpPr>
          <p:cNvPr id="6" name="Text 4"/>
          <p:cNvSpPr/>
          <p:nvPr/>
        </p:nvSpPr>
        <p:spPr>
          <a:xfrm>
            <a:off x="749808" y="1024128"/>
            <a:ext cx="5029200" cy="502920"/>
          </a:xfrm>
          <a:prstGeom prst="rect">
            <a:avLst/>
          </a:prstGeom>
          <a:noFill/>
          <a:ln/>
        </p:spPr>
        <p:txBody>
          <a:bodyPr wrap="square" lIns="0" tIns="0" rIns="0" bIns="0" rtlCol="0" anchor="ctr"/>
          <a:lstStyle/>
          <a:p>
            <a:pPr indent="0" marL="0">
              <a:buNone/>
            </a:pPr>
            <a:r>
              <a:rPr lang="en-US" sz="1600" b="1" dirty="0">
                <a:solidFill>
                  <a:srgbClr val="00ED64"/>
                </a:solidFill>
                <a:latin typeface="Lexend Deca" pitchFamily="34" charset="0"/>
                <a:ea typeface="Lexend Deca" pitchFamily="34" charset="-122"/>
                <a:cs typeface="Lexend Deca" pitchFamily="34" charset="-120"/>
              </a:rPr>
              <a:t>EMBED  (nest inside document)</a:t>
            </a:r>
            <a:endParaRPr lang="en-US" sz="1600" dirty="0"/>
          </a:p>
        </p:txBody>
      </p:sp>
      <p:sp>
        <p:nvSpPr>
          <p:cNvPr id="7" name="Text 5"/>
          <p:cNvSpPr/>
          <p:nvPr/>
        </p:nvSpPr>
        <p:spPr>
          <a:xfrm>
            <a:off x="795528" y="1627632"/>
            <a:ext cx="4983480" cy="502920"/>
          </a:xfrm>
          <a:prstGeom prst="rect">
            <a:avLst/>
          </a:prstGeom>
          <a:noFill/>
          <a:ln/>
        </p:spPr>
        <p:txBody>
          <a:bodyPr wrap="square" lIns="0" tIns="0" rIns="0" bIns="0" rtlCol="0" anchor="ctr"/>
          <a:lstStyle/>
          <a:p>
            <a:pPr marL="342900" indent="-342900">
              <a:buSzPct val="100000"/>
              <a:buChar char="•"/>
            </a:pPr>
            <a:r>
              <a:rPr lang="en-US" sz="1400" dirty="0">
                <a:solidFill>
                  <a:srgbClr val="FFFFFF"/>
                </a:solidFill>
                <a:latin typeface="Lexend Deca" pitchFamily="34" charset="0"/>
                <a:ea typeface="Lexend Deca" pitchFamily="34" charset="-122"/>
                <a:cs typeface="Lexend Deca" pitchFamily="34" charset="-120"/>
              </a:rPr>
              <a:t>Data always accessed together</a:t>
            </a:r>
            <a:endParaRPr lang="en-US" sz="1400" dirty="0"/>
          </a:p>
        </p:txBody>
      </p:sp>
      <p:sp>
        <p:nvSpPr>
          <p:cNvPr id="8" name="Text 6"/>
          <p:cNvSpPr/>
          <p:nvPr/>
        </p:nvSpPr>
        <p:spPr>
          <a:xfrm>
            <a:off x="795528" y="2176272"/>
            <a:ext cx="4983480" cy="502920"/>
          </a:xfrm>
          <a:prstGeom prst="rect">
            <a:avLst/>
          </a:prstGeom>
          <a:noFill/>
          <a:ln/>
        </p:spPr>
        <p:txBody>
          <a:bodyPr wrap="square" lIns="0" tIns="0" rIns="0" bIns="0" rtlCol="0" anchor="ctr"/>
          <a:lstStyle/>
          <a:p>
            <a:pPr marL="342900" indent="-342900">
              <a:buSzPct val="100000"/>
              <a:buChar char="•"/>
            </a:pPr>
            <a:r>
              <a:rPr lang="en-US" sz="1400" dirty="0">
                <a:solidFill>
                  <a:srgbClr val="FFFFFF"/>
                </a:solidFill>
                <a:latin typeface="Lexend Deca" pitchFamily="34" charset="0"/>
                <a:ea typeface="Lexend Deca" pitchFamily="34" charset="-122"/>
                <a:cs typeface="Lexend Deca" pitchFamily="34" charset="-120"/>
              </a:rPr>
              <a:t>One-to-few relationship</a:t>
            </a:r>
            <a:endParaRPr lang="en-US" sz="1400" dirty="0"/>
          </a:p>
        </p:txBody>
      </p:sp>
      <p:sp>
        <p:nvSpPr>
          <p:cNvPr id="9" name="Text 7"/>
          <p:cNvSpPr/>
          <p:nvPr/>
        </p:nvSpPr>
        <p:spPr>
          <a:xfrm>
            <a:off x="795528" y="2724912"/>
            <a:ext cx="4983480" cy="502920"/>
          </a:xfrm>
          <a:prstGeom prst="rect">
            <a:avLst/>
          </a:prstGeom>
          <a:noFill/>
          <a:ln/>
        </p:spPr>
        <p:txBody>
          <a:bodyPr wrap="square" lIns="0" tIns="0" rIns="0" bIns="0" rtlCol="0" anchor="ctr"/>
          <a:lstStyle/>
          <a:p>
            <a:pPr marL="342900" indent="-342900">
              <a:buSzPct val="100000"/>
              <a:buChar char="•"/>
            </a:pPr>
            <a:r>
              <a:rPr lang="en-US" sz="1400" dirty="0">
                <a:solidFill>
                  <a:srgbClr val="FFFFFF"/>
                </a:solidFill>
                <a:latin typeface="Lexend Deca" pitchFamily="34" charset="0"/>
                <a:ea typeface="Lexend Deca" pitchFamily="34" charset="-122"/>
                <a:cs typeface="Lexend Deca" pitchFamily="34" charset="-120"/>
              </a:rPr>
              <a:t>Child data rarely changes alone</a:t>
            </a:r>
            <a:endParaRPr lang="en-US" sz="1400" dirty="0"/>
          </a:p>
        </p:txBody>
      </p:sp>
      <p:sp>
        <p:nvSpPr>
          <p:cNvPr id="10" name="Text 8"/>
          <p:cNvSpPr/>
          <p:nvPr/>
        </p:nvSpPr>
        <p:spPr>
          <a:xfrm>
            <a:off x="795528" y="3273552"/>
            <a:ext cx="4983480" cy="502920"/>
          </a:xfrm>
          <a:prstGeom prst="rect">
            <a:avLst/>
          </a:prstGeom>
          <a:noFill/>
          <a:ln/>
        </p:spPr>
        <p:txBody>
          <a:bodyPr wrap="square" lIns="0" tIns="0" rIns="0" bIns="0" rtlCol="0" anchor="ctr"/>
          <a:lstStyle/>
          <a:p>
            <a:pPr marL="342900" indent="-342900">
              <a:buSzPct val="100000"/>
              <a:buChar char="•"/>
            </a:pPr>
            <a:r>
              <a:rPr lang="en-US" sz="1400" dirty="0">
                <a:solidFill>
                  <a:srgbClr val="FFFFFF"/>
                </a:solidFill>
                <a:latin typeface="Lexend Deca" pitchFamily="34" charset="0"/>
                <a:ea typeface="Lexend Deca" pitchFamily="34" charset="-122"/>
                <a:cs typeface="Lexend Deca" pitchFamily="34" charset="-120"/>
              </a:rPr>
              <a:t>Read performance is priority</a:t>
            </a:r>
            <a:endParaRPr lang="en-US" sz="1400" dirty="0"/>
          </a:p>
        </p:txBody>
      </p:sp>
      <p:sp>
        <p:nvSpPr>
          <p:cNvPr id="11" name="Shape 9"/>
          <p:cNvSpPr/>
          <p:nvPr/>
        </p:nvSpPr>
        <p:spPr>
          <a:xfrm>
            <a:off x="704088" y="3931920"/>
            <a:ext cx="5120640" cy="2148840"/>
          </a:xfrm>
          <a:prstGeom prst="rect">
            <a:avLst/>
          </a:prstGeom>
          <a:solidFill>
            <a:srgbClr val="011520"/>
          </a:solidFill>
          <a:ln w="15240">
            <a:solidFill>
              <a:srgbClr val="00ED64"/>
            </a:solidFill>
            <a:prstDash val="solid"/>
          </a:ln>
          <a:effectLst>
            <a:outerShdw sx="100000" sy="100000" kx="0" ky="0" algn="bl" rotWithShape="0" blurRad="127000" dist="38100" dir="8100000">
              <a:srgbClr val="000000">
                <a:alpha val="28000"/>
              </a:srgbClr>
            </a:outerShdw>
          </a:effectLst>
        </p:spPr>
      </p:sp>
      <p:sp>
        <p:nvSpPr>
          <p:cNvPr id="12" name="Text 10"/>
          <p:cNvSpPr/>
          <p:nvPr/>
        </p:nvSpPr>
        <p:spPr>
          <a:xfrm>
            <a:off x="841248" y="4050792"/>
            <a:ext cx="4846320" cy="1911096"/>
          </a:xfrm>
          <a:prstGeom prst="rect">
            <a:avLst/>
          </a:prstGeom>
          <a:noFill/>
          <a:ln/>
        </p:spPr>
        <p:txBody>
          <a:bodyPr wrap="square" lIns="0" tIns="0" rIns="0" bIns="0" rtlCol="0" anchor="t"/>
          <a:lstStyle/>
          <a:p>
            <a:pPr indent="0" marL="0">
              <a:buNone/>
            </a:pPr>
            <a:r>
              <a:rPr lang="en-US" sz="1100" dirty="0">
                <a:solidFill>
                  <a:srgbClr val="00ED64"/>
                </a:solidFill>
                <a:latin typeface="Source Code Pro" pitchFamily="34" charset="0"/>
                <a:ea typeface="Source Code Pro" pitchFamily="34" charset="-122"/>
                <a:cs typeface="Source Code Pro" pitchFamily="34" charset="-120"/>
              </a:rPr>
              <a:t>// Order with embedded line items</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_id: ObjectId("ord001"),</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customer: "Acme Corp",</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status: "completed",</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items: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sku:"A1", qty:2, price:10.00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sku:"B3", qty:1, price:25.00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a:t>
            </a:r>
            <a:endParaRPr lang="en-US" sz="1100" dirty="0"/>
          </a:p>
        </p:txBody>
      </p:sp>
      <p:sp>
        <p:nvSpPr>
          <p:cNvPr id="13" name="Text 11"/>
          <p:cNvSpPr/>
          <p:nvPr/>
        </p:nvSpPr>
        <p:spPr>
          <a:xfrm>
            <a:off x="6144768" y="3291840"/>
            <a:ext cx="731520" cy="548640"/>
          </a:xfrm>
          <a:prstGeom prst="rect">
            <a:avLst/>
          </a:prstGeom>
          <a:noFill/>
          <a:ln/>
        </p:spPr>
        <p:txBody>
          <a:bodyPr wrap="square" lIns="0" tIns="0" rIns="0" bIns="0" rtlCol="0" anchor="ctr"/>
          <a:lstStyle/>
          <a:p>
            <a:pPr algn="ctr" indent="0" marL="0">
              <a:buNone/>
            </a:pPr>
            <a:r>
              <a:rPr lang="en-US" sz="2200" dirty="0">
                <a:solidFill>
                  <a:srgbClr val="B8C4C2"/>
                </a:solidFill>
              </a:rPr>
              <a:t>vs</a:t>
            </a:r>
            <a:endParaRPr lang="en-US" sz="2200" dirty="0"/>
          </a:p>
        </p:txBody>
      </p:sp>
      <p:sp>
        <p:nvSpPr>
          <p:cNvPr id="14" name="Shape 12"/>
          <p:cNvSpPr/>
          <p:nvPr/>
        </p:nvSpPr>
        <p:spPr>
          <a:xfrm>
            <a:off x="7104888" y="960120"/>
            <a:ext cx="5120640" cy="5303520"/>
          </a:xfrm>
          <a:prstGeom prst="rect">
            <a:avLst/>
          </a:prstGeom>
          <a:solidFill>
            <a:srgbClr val="023430"/>
          </a:solidFill>
          <a:ln w="19050">
            <a:solidFill>
              <a:srgbClr val="4A9EFF"/>
            </a:solidFill>
            <a:prstDash val="solid"/>
          </a:ln>
          <a:effectLst>
            <a:outerShdw sx="100000" sy="100000" kx="0" ky="0" algn="bl" rotWithShape="0" blurRad="127000" dist="38100" dir="8100000">
              <a:srgbClr val="000000">
                <a:alpha val="28000"/>
              </a:srgbClr>
            </a:outerShdw>
          </a:effectLst>
        </p:spPr>
      </p:sp>
      <p:sp>
        <p:nvSpPr>
          <p:cNvPr id="15" name="Text 13"/>
          <p:cNvSpPr/>
          <p:nvPr/>
        </p:nvSpPr>
        <p:spPr>
          <a:xfrm>
            <a:off x="7287768" y="1024128"/>
            <a:ext cx="4754880" cy="502920"/>
          </a:xfrm>
          <a:prstGeom prst="rect">
            <a:avLst/>
          </a:prstGeom>
          <a:noFill/>
          <a:ln/>
        </p:spPr>
        <p:txBody>
          <a:bodyPr wrap="square" lIns="0" tIns="0" rIns="0" bIns="0" rtlCol="0" anchor="ctr"/>
          <a:lstStyle/>
          <a:p>
            <a:pPr indent="0" marL="0">
              <a:buNone/>
            </a:pPr>
            <a:r>
              <a:rPr lang="en-US" sz="1600" b="1" dirty="0">
                <a:solidFill>
                  <a:srgbClr val="4A9EFF"/>
                </a:solidFill>
                <a:latin typeface="Lexend Deca" pitchFamily="34" charset="0"/>
                <a:ea typeface="Lexend Deca" pitchFamily="34" charset="-122"/>
                <a:cs typeface="Lexend Deca" pitchFamily="34" charset="-120"/>
              </a:rPr>
              <a:t>REFERENCE  (store _id pointer)</a:t>
            </a:r>
            <a:endParaRPr lang="en-US" sz="1600" dirty="0"/>
          </a:p>
        </p:txBody>
      </p:sp>
      <p:sp>
        <p:nvSpPr>
          <p:cNvPr id="16" name="Text 14"/>
          <p:cNvSpPr/>
          <p:nvPr/>
        </p:nvSpPr>
        <p:spPr>
          <a:xfrm>
            <a:off x="7333488" y="1627632"/>
            <a:ext cx="4663440" cy="502920"/>
          </a:xfrm>
          <a:prstGeom prst="rect">
            <a:avLst/>
          </a:prstGeom>
          <a:noFill/>
          <a:ln/>
        </p:spPr>
        <p:txBody>
          <a:bodyPr wrap="square" lIns="0" tIns="0" rIns="0" bIns="0" rtlCol="0" anchor="ctr"/>
          <a:lstStyle/>
          <a:p>
            <a:pPr marL="342900" indent="-342900">
              <a:buSzPct val="100000"/>
              <a:buChar char="•"/>
            </a:pPr>
            <a:r>
              <a:rPr lang="en-US" sz="1400" dirty="0">
                <a:solidFill>
                  <a:srgbClr val="FFFFFF"/>
                </a:solidFill>
                <a:latin typeface="Lexend Deca" pitchFamily="34" charset="0"/>
                <a:ea typeface="Lexend Deca" pitchFamily="34" charset="-122"/>
                <a:cs typeface="Lexend Deca" pitchFamily="34" charset="-120"/>
              </a:rPr>
              <a:t>Data accessed independently</a:t>
            </a:r>
            <a:endParaRPr lang="en-US" sz="1400" dirty="0"/>
          </a:p>
        </p:txBody>
      </p:sp>
      <p:sp>
        <p:nvSpPr>
          <p:cNvPr id="17" name="Text 15"/>
          <p:cNvSpPr/>
          <p:nvPr/>
        </p:nvSpPr>
        <p:spPr>
          <a:xfrm>
            <a:off x="7333488" y="2176272"/>
            <a:ext cx="4663440" cy="502920"/>
          </a:xfrm>
          <a:prstGeom prst="rect">
            <a:avLst/>
          </a:prstGeom>
          <a:noFill/>
          <a:ln/>
        </p:spPr>
        <p:txBody>
          <a:bodyPr wrap="square" lIns="0" tIns="0" rIns="0" bIns="0" rtlCol="0" anchor="ctr"/>
          <a:lstStyle/>
          <a:p>
            <a:pPr marL="342900" indent="-342900">
              <a:buSzPct val="100000"/>
              <a:buChar char="•"/>
            </a:pPr>
            <a:r>
              <a:rPr lang="en-US" sz="1400" dirty="0">
                <a:solidFill>
                  <a:srgbClr val="FFFFFF"/>
                </a:solidFill>
                <a:latin typeface="Lexend Deca" pitchFamily="34" charset="0"/>
                <a:ea typeface="Lexend Deca" pitchFamily="34" charset="-122"/>
                <a:cs typeface="Lexend Deca" pitchFamily="34" charset="-120"/>
              </a:rPr>
              <a:t>One-to-many-large relationship</a:t>
            </a:r>
            <a:endParaRPr lang="en-US" sz="1400" dirty="0"/>
          </a:p>
        </p:txBody>
      </p:sp>
      <p:sp>
        <p:nvSpPr>
          <p:cNvPr id="18" name="Text 16"/>
          <p:cNvSpPr/>
          <p:nvPr/>
        </p:nvSpPr>
        <p:spPr>
          <a:xfrm>
            <a:off x="7333488" y="2724912"/>
            <a:ext cx="4663440" cy="502920"/>
          </a:xfrm>
          <a:prstGeom prst="rect">
            <a:avLst/>
          </a:prstGeom>
          <a:noFill/>
          <a:ln/>
        </p:spPr>
        <p:txBody>
          <a:bodyPr wrap="square" lIns="0" tIns="0" rIns="0" bIns="0" rtlCol="0" anchor="ctr"/>
          <a:lstStyle/>
          <a:p>
            <a:pPr marL="342900" indent="-342900">
              <a:buSzPct val="100000"/>
              <a:buChar char="•"/>
            </a:pPr>
            <a:r>
              <a:rPr lang="en-US" sz="1400" dirty="0">
                <a:solidFill>
                  <a:srgbClr val="FFFFFF"/>
                </a:solidFill>
                <a:latin typeface="Lexend Deca" pitchFamily="34" charset="0"/>
                <a:ea typeface="Lexend Deca" pitchFamily="34" charset="-122"/>
                <a:cs typeface="Lexend Deca" pitchFamily="34" charset="-120"/>
              </a:rPr>
              <a:t>Many-to-many relationships</a:t>
            </a:r>
            <a:endParaRPr lang="en-US" sz="1400" dirty="0"/>
          </a:p>
        </p:txBody>
      </p:sp>
      <p:sp>
        <p:nvSpPr>
          <p:cNvPr id="19" name="Text 17"/>
          <p:cNvSpPr/>
          <p:nvPr/>
        </p:nvSpPr>
        <p:spPr>
          <a:xfrm>
            <a:off x="7333488" y="3273552"/>
            <a:ext cx="4663440" cy="502920"/>
          </a:xfrm>
          <a:prstGeom prst="rect">
            <a:avLst/>
          </a:prstGeom>
          <a:noFill/>
          <a:ln/>
        </p:spPr>
        <p:txBody>
          <a:bodyPr wrap="square" lIns="0" tIns="0" rIns="0" bIns="0" rtlCol="0" anchor="ctr"/>
          <a:lstStyle/>
          <a:p>
            <a:pPr marL="342900" indent="-342900">
              <a:buSzPct val="100000"/>
              <a:buChar char="•"/>
            </a:pPr>
            <a:r>
              <a:rPr lang="en-US" sz="1400" dirty="0">
                <a:solidFill>
                  <a:srgbClr val="FFFFFF"/>
                </a:solidFill>
                <a:latin typeface="Lexend Deca" pitchFamily="34" charset="0"/>
                <a:ea typeface="Lexend Deca" pitchFamily="34" charset="-122"/>
                <a:cs typeface="Lexend Deca" pitchFamily="34" charset="-120"/>
              </a:rPr>
              <a:t>Child data updated frequently</a:t>
            </a:r>
            <a:endParaRPr lang="en-US" sz="1400" dirty="0"/>
          </a:p>
        </p:txBody>
      </p:sp>
      <p:sp>
        <p:nvSpPr>
          <p:cNvPr id="20" name="Shape 18"/>
          <p:cNvSpPr/>
          <p:nvPr/>
        </p:nvSpPr>
        <p:spPr>
          <a:xfrm>
            <a:off x="7242048" y="3931920"/>
            <a:ext cx="4846320" cy="2148840"/>
          </a:xfrm>
          <a:prstGeom prst="rect">
            <a:avLst/>
          </a:prstGeom>
          <a:solidFill>
            <a:srgbClr val="011520"/>
          </a:solidFill>
          <a:ln w="15240">
            <a:solidFill>
              <a:srgbClr val="00ED64"/>
            </a:solidFill>
            <a:prstDash val="solid"/>
          </a:ln>
          <a:effectLst>
            <a:outerShdw sx="100000" sy="100000" kx="0" ky="0" algn="bl" rotWithShape="0" blurRad="127000" dist="38100" dir="8100000">
              <a:srgbClr val="000000">
                <a:alpha val="28000"/>
              </a:srgbClr>
            </a:outerShdw>
          </a:effectLst>
        </p:spPr>
      </p:sp>
      <p:sp>
        <p:nvSpPr>
          <p:cNvPr id="21" name="Text 19"/>
          <p:cNvSpPr/>
          <p:nvPr/>
        </p:nvSpPr>
        <p:spPr>
          <a:xfrm>
            <a:off x="7379208" y="4050792"/>
            <a:ext cx="4572000" cy="1911096"/>
          </a:xfrm>
          <a:prstGeom prst="rect">
            <a:avLst/>
          </a:prstGeom>
          <a:noFill/>
          <a:ln/>
        </p:spPr>
        <p:txBody>
          <a:bodyPr wrap="square" lIns="0" tIns="0" rIns="0" bIns="0" rtlCol="0" anchor="t"/>
          <a:lstStyle/>
          <a:p>
            <a:pPr indent="0" marL="0">
              <a:buNone/>
            </a:pPr>
            <a:r>
              <a:rPr lang="en-US" sz="1100" dirty="0">
                <a:solidFill>
                  <a:srgbClr val="00ED64"/>
                </a:solidFill>
                <a:latin typeface="Source Code Pro" pitchFamily="34" charset="0"/>
                <a:ea typeface="Source Code Pro" pitchFamily="34" charset="-122"/>
                <a:cs typeface="Source Code Pro" pitchFamily="34" charset="-120"/>
              </a:rPr>
              <a:t>// Order references customer by ID</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_id: ObjectId("ord001"),</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customerId: ObjectId("cust42"),</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items: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a:t>
            </a:r>
            <a:endParaRPr lang="en-US" sz="1100" dirty="0"/>
          </a:p>
          <a:p>
            <a:pPr indent="0" marL="0">
              <a:buNone/>
            </a:pP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Customer lives in its own collection</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fetch independently when needed</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1E2B"/>
        </a:solidFill>
      </p:bgPr>
    </p:bg>
    <p:spTree>
      <p:nvGrpSpPr>
        <p:cNvPr id="1" name=""/>
        <p:cNvGrpSpPr/>
        <p:nvPr/>
      </p:nvGrpSpPr>
      <p:grpSpPr>
        <a:xfrm>
          <a:off x="0" y="0"/>
          <a:ext cx="0" cy="0"/>
          <a:chOff x="0" y="0"/>
          <a:chExt cx="0" cy="0"/>
        </a:xfrm>
      </p:grpSpPr>
      <p:sp>
        <p:nvSpPr>
          <p:cNvPr id="2" name="Shape 0"/>
          <p:cNvSpPr/>
          <p:nvPr/>
        </p:nvSpPr>
        <p:spPr>
          <a:xfrm>
            <a:off x="0" y="6656832"/>
            <a:ext cx="12188952" cy="201168"/>
          </a:xfrm>
          <a:prstGeom prst="rect">
            <a:avLst/>
          </a:prstGeom>
          <a:solidFill>
            <a:srgbClr val="00ED64"/>
          </a:solidFill>
          <a:ln w="12700">
            <a:solidFill>
              <a:srgbClr val="00ED64"/>
            </a:solidFill>
            <a:prstDash val="solid"/>
          </a:ln>
        </p:spPr>
      </p:sp>
      <p:sp>
        <p:nvSpPr>
          <p:cNvPr id="3" name="Text 1"/>
          <p:cNvSpPr/>
          <p:nvPr/>
        </p:nvSpPr>
        <p:spPr>
          <a:xfrm>
            <a:off x="566928" y="201168"/>
            <a:ext cx="11055096" cy="594360"/>
          </a:xfrm>
          <a:prstGeom prst="rect">
            <a:avLst/>
          </a:prstGeom>
          <a:noFill/>
          <a:ln/>
        </p:spPr>
        <p:txBody>
          <a:bodyPr wrap="square" lIns="0" tIns="0" rIns="0" bIns="0" rtlCol="0" anchor="ctr"/>
          <a:lstStyle/>
          <a:p>
            <a:pPr indent="0" marL="0">
              <a:buNone/>
            </a:pPr>
            <a:r>
              <a:rPr lang="en-US" sz="3000" b="1" dirty="0">
                <a:solidFill>
                  <a:srgbClr val="FFFFFF"/>
                </a:solidFill>
                <a:latin typeface="Lexend Deca" pitchFamily="34" charset="0"/>
                <a:ea typeface="Lexend Deca" pitchFamily="34" charset="-122"/>
                <a:cs typeface="Lexend Deca" pitchFamily="34" charset="-120"/>
              </a:rPr>
              <a:t>Schema Flexibility — No Migrations Needed</a:t>
            </a:r>
            <a:endParaRPr lang="en-US" sz="3000" dirty="0"/>
          </a:p>
        </p:txBody>
      </p:sp>
      <p:sp>
        <p:nvSpPr>
          <p:cNvPr id="4" name="Shape 2"/>
          <p:cNvSpPr/>
          <p:nvPr/>
        </p:nvSpPr>
        <p:spPr>
          <a:xfrm>
            <a:off x="566928" y="822960"/>
            <a:ext cx="1280160" cy="54864"/>
          </a:xfrm>
          <a:prstGeom prst="rect">
            <a:avLst/>
          </a:prstGeom>
          <a:solidFill>
            <a:srgbClr val="00ED64"/>
          </a:solidFill>
          <a:ln w="12700">
            <a:solidFill>
              <a:srgbClr val="00ED64"/>
            </a:solidFill>
            <a:prstDash val="solid"/>
          </a:ln>
        </p:spPr>
      </p:sp>
      <p:sp>
        <p:nvSpPr>
          <p:cNvPr id="5" name="Text 3"/>
          <p:cNvSpPr/>
          <p:nvPr/>
        </p:nvSpPr>
        <p:spPr>
          <a:xfrm>
            <a:off x="566928" y="914400"/>
            <a:ext cx="11055096" cy="411480"/>
          </a:xfrm>
          <a:prstGeom prst="rect">
            <a:avLst/>
          </a:prstGeom>
          <a:noFill/>
          <a:ln/>
        </p:spPr>
        <p:txBody>
          <a:bodyPr wrap="square" lIns="0" tIns="0" rIns="0" bIns="0" rtlCol="0" anchor="ctr"/>
          <a:lstStyle/>
          <a:p>
            <a:pPr indent="0" marL="0">
              <a:buNone/>
            </a:pPr>
            <a:r>
              <a:rPr lang="en-US" sz="1600" dirty="0">
                <a:solidFill>
                  <a:srgbClr val="B8C4C2"/>
                </a:solidFill>
                <a:latin typeface="Lexend Deca" pitchFamily="34" charset="0"/>
                <a:ea typeface="Lexend Deca" pitchFamily="34" charset="-122"/>
                <a:cs typeface="Lexend Deca" pitchFamily="34" charset="-120"/>
              </a:rPr>
              <a:t>Old and new document shapes coexist in the same collection:</a:t>
            </a:r>
            <a:endParaRPr lang="en-US" sz="1600" dirty="0"/>
          </a:p>
        </p:txBody>
      </p:sp>
      <p:sp>
        <p:nvSpPr>
          <p:cNvPr id="6" name="Shape 4"/>
          <p:cNvSpPr/>
          <p:nvPr/>
        </p:nvSpPr>
        <p:spPr>
          <a:xfrm>
            <a:off x="566928" y="1417320"/>
            <a:ext cx="5257800" cy="2240280"/>
          </a:xfrm>
          <a:prstGeom prst="rect">
            <a:avLst/>
          </a:prstGeom>
          <a:solidFill>
            <a:srgbClr val="011520"/>
          </a:solidFill>
          <a:ln w="15240">
            <a:solidFill>
              <a:srgbClr val="00ED64"/>
            </a:solidFill>
            <a:prstDash val="solid"/>
          </a:ln>
          <a:effectLst>
            <a:outerShdw sx="100000" sy="100000" kx="0" ky="0" algn="bl" rotWithShape="0" blurRad="127000" dist="38100" dir="8100000">
              <a:srgbClr val="000000">
                <a:alpha val="28000"/>
              </a:srgbClr>
            </a:outerShdw>
          </a:effectLst>
        </p:spPr>
      </p:sp>
      <p:sp>
        <p:nvSpPr>
          <p:cNvPr id="7" name="Text 5"/>
          <p:cNvSpPr/>
          <p:nvPr/>
        </p:nvSpPr>
        <p:spPr>
          <a:xfrm>
            <a:off x="704088" y="1536192"/>
            <a:ext cx="4983480" cy="2002536"/>
          </a:xfrm>
          <a:prstGeom prst="rect">
            <a:avLst/>
          </a:prstGeom>
          <a:noFill/>
          <a:ln/>
        </p:spPr>
        <p:txBody>
          <a:bodyPr wrap="square" lIns="0" tIns="0" rIns="0" bIns="0" rtlCol="0" anchor="t"/>
          <a:lstStyle/>
          <a:p>
            <a:pPr indent="0" marL="0">
              <a:buNone/>
            </a:pPr>
            <a:r>
              <a:rPr lang="en-US" sz="1100" dirty="0">
                <a:solidFill>
                  <a:srgbClr val="00ED64"/>
                </a:solidFill>
                <a:latin typeface="Source Code Pro" pitchFamily="34" charset="0"/>
                <a:ea typeface="Source Code Pro" pitchFamily="34" charset="-122"/>
                <a:cs typeface="Source Code Pro" pitchFamily="34" charset="-120"/>
              </a:rPr>
              <a:t>// v1 document — deployed 2022</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_id: ObjectId("aaa111"),</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name:  "Alice",</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email: "alice@acme.com"</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a:t>
            </a:r>
            <a:endParaRPr lang="en-US" sz="1100" dirty="0"/>
          </a:p>
        </p:txBody>
      </p:sp>
      <p:sp>
        <p:nvSpPr>
          <p:cNvPr id="8" name="Text 6"/>
          <p:cNvSpPr/>
          <p:nvPr/>
        </p:nvSpPr>
        <p:spPr>
          <a:xfrm>
            <a:off x="6144768" y="2331720"/>
            <a:ext cx="731520" cy="548640"/>
          </a:xfrm>
          <a:prstGeom prst="rect">
            <a:avLst/>
          </a:prstGeom>
          <a:noFill/>
          <a:ln/>
        </p:spPr>
        <p:txBody>
          <a:bodyPr wrap="square" lIns="0" tIns="0" rIns="0" bIns="0" rtlCol="0" anchor="ctr"/>
          <a:lstStyle/>
          <a:p>
            <a:pPr algn="ctr" indent="0" marL="0">
              <a:buNone/>
            </a:pPr>
            <a:r>
              <a:rPr lang="en-US" sz="3200" dirty="0">
                <a:solidFill>
                  <a:srgbClr val="00ED64"/>
                </a:solidFill>
              </a:rPr>
              <a:t>→</a:t>
            </a:r>
            <a:endParaRPr lang="en-US" sz="3200" dirty="0"/>
          </a:p>
        </p:txBody>
      </p:sp>
      <p:sp>
        <p:nvSpPr>
          <p:cNvPr id="9" name="Shape 7"/>
          <p:cNvSpPr/>
          <p:nvPr/>
        </p:nvSpPr>
        <p:spPr>
          <a:xfrm>
            <a:off x="7059168" y="1417320"/>
            <a:ext cx="5120640" cy="2697480"/>
          </a:xfrm>
          <a:prstGeom prst="rect">
            <a:avLst/>
          </a:prstGeom>
          <a:solidFill>
            <a:srgbClr val="011520"/>
          </a:solidFill>
          <a:ln w="15240">
            <a:solidFill>
              <a:srgbClr val="00ED64"/>
            </a:solidFill>
            <a:prstDash val="solid"/>
          </a:ln>
          <a:effectLst>
            <a:outerShdw sx="100000" sy="100000" kx="0" ky="0" algn="bl" rotWithShape="0" blurRad="127000" dist="38100" dir="8100000">
              <a:srgbClr val="000000">
                <a:alpha val="28000"/>
              </a:srgbClr>
            </a:outerShdw>
          </a:effectLst>
        </p:spPr>
      </p:sp>
      <p:sp>
        <p:nvSpPr>
          <p:cNvPr id="10" name="Text 8"/>
          <p:cNvSpPr/>
          <p:nvPr/>
        </p:nvSpPr>
        <p:spPr>
          <a:xfrm>
            <a:off x="7196328" y="1536192"/>
            <a:ext cx="4846320" cy="2459736"/>
          </a:xfrm>
          <a:prstGeom prst="rect">
            <a:avLst/>
          </a:prstGeom>
          <a:noFill/>
          <a:ln/>
        </p:spPr>
        <p:txBody>
          <a:bodyPr wrap="square" lIns="0" tIns="0" rIns="0" bIns="0" rtlCol="0" anchor="t"/>
          <a:lstStyle/>
          <a:p>
            <a:pPr indent="0" marL="0">
              <a:buNone/>
            </a:pPr>
            <a:r>
              <a:rPr lang="en-US" sz="1100" dirty="0">
                <a:solidFill>
                  <a:srgbClr val="00ED64"/>
                </a:solidFill>
                <a:latin typeface="Source Code Pro" pitchFamily="34" charset="0"/>
                <a:ea typeface="Source Code Pro" pitchFamily="34" charset="-122"/>
                <a:cs typeface="Source Code Pro" pitchFamily="34" charset="-120"/>
              </a:rPr>
              <a:t>// v2 document — deployed 2024, same collection</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_id: ObjectId("bbb222"),</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name:  "Bob",</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email: "bob@acme.com",</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phone: "+1-555-0199",</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preferences: { theme:"dark", lang:"en"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tier: "premium",</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createdAt: ISODate("2024-03-10")</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a:t>
            </a:r>
            <a:endParaRPr lang="en-US" sz="1100" dirty="0"/>
          </a:p>
        </p:txBody>
      </p:sp>
      <p:sp>
        <p:nvSpPr>
          <p:cNvPr id="11" name="Text 9"/>
          <p:cNvSpPr/>
          <p:nvPr/>
        </p:nvSpPr>
        <p:spPr>
          <a:xfrm>
            <a:off x="566928" y="4251960"/>
            <a:ext cx="11055096" cy="2011680"/>
          </a:xfrm>
          <a:prstGeom prst="rect">
            <a:avLst/>
          </a:prstGeom>
          <a:noFill/>
          <a:ln/>
        </p:spPr>
        <p:txBody>
          <a:bodyPr wrap="square" lIns="0" tIns="0" rIns="0" bIns="0" rtlCol="0" anchor="ctr"/>
          <a:lstStyle/>
          <a:p>
            <a:pPr marL="342900" indent="-342900">
              <a:buSzPct val="100000"/>
              <a:buChar char="•"/>
            </a:pPr>
            <a:r>
              <a:rPr lang="en-US" sz="1500" dirty="0">
                <a:solidFill>
                  <a:srgbClr val="FFFFFF"/>
                </a:solidFill>
                <a:latin typeface="Lexend Deca" pitchFamily="34" charset="0"/>
                <a:ea typeface="Lexend Deca" pitchFamily="34" charset="-122"/>
                <a:cs typeface="Lexend Deca" pitchFamily="34" charset="-120"/>
              </a:rPr>
              <a:t>No ALTER TABLE — ship new app version instantly, new fields appear automatically</a:t>
            </a:r>
            <a:endParaRPr lang="en-US" sz="1500" dirty="0"/>
          </a:p>
          <a:p>
            <a:pPr marL="342900" indent="-342900">
              <a:buSzPct val="100000"/>
              <a:buChar char="•"/>
            </a:pPr>
            <a:r>
              <a:rPr lang="en-US" sz="1500" dirty="0">
                <a:solidFill>
                  <a:srgbClr val="FFFFFF"/>
                </a:solidFill>
                <a:latin typeface="Lexend Deca" pitchFamily="34" charset="0"/>
                <a:ea typeface="Lexend Deca" pitchFamily="34" charset="-122"/>
                <a:cs typeface="Lexend Deca" pitchFamily="34" charset="-120"/>
              </a:rPr>
              <a:t>Old documents remain valid — app code handles missing fields gracefully</a:t>
            </a:r>
            <a:endParaRPr lang="en-US" sz="1500" dirty="0"/>
          </a:p>
          <a:p>
            <a:pPr marL="342900" indent="-342900">
              <a:buSzPct val="100000"/>
              <a:buChar char="•"/>
            </a:pPr>
            <a:r>
              <a:rPr lang="en-US" sz="1500" dirty="0">
                <a:solidFill>
                  <a:srgbClr val="FFFFFF"/>
                </a:solidFill>
                <a:latin typeface="Lexend Deca" pitchFamily="34" charset="0"/>
                <a:ea typeface="Lexend Deca" pitchFamily="34" charset="-122"/>
                <a:cs typeface="Lexend Deca" pitchFamily="34" charset="-120"/>
              </a:rPr>
              <a:t>Optional: enforce shape with JSON Schema validation ($jsonSchema) for guardrails</a:t>
            </a:r>
            <a:endParaRPr lang="en-US" sz="1500" dirty="0"/>
          </a:p>
          <a:p>
            <a:pPr marL="342900" indent="-342900">
              <a:buSzPct val="100000"/>
              <a:buChar char="•"/>
            </a:pPr>
            <a:r>
              <a:rPr lang="en-US" sz="1500" dirty="0">
                <a:solidFill>
                  <a:srgbClr val="FFFFFF"/>
                </a:solidFill>
                <a:latin typeface="Lexend Deca" pitchFamily="34" charset="0"/>
                <a:ea typeface="Lexend Deca" pitchFamily="34" charset="-122"/>
                <a:cs typeface="Lexend Deca" pitchFamily="34" charset="-120"/>
              </a:rPr>
              <a:t>Perfect for microservices, iterative product builds, and A/B rollouts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1E2B"/>
        </a:solidFill>
      </p:bgPr>
    </p:bg>
    <p:spTree>
      <p:nvGrpSpPr>
        <p:cNvPr id="1" name=""/>
        <p:cNvGrpSpPr/>
        <p:nvPr/>
      </p:nvGrpSpPr>
      <p:grpSpPr>
        <a:xfrm>
          <a:off x="0" y="0"/>
          <a:ext cx="0" cy="0"/>
          <a:chOff x="0" y="0"/>
          <a:chExt cx="0" cy="0"/>
        </a:xfrm>
      </p:grpSpPr>
      <p:sp>
        <p:nvSpPr>
          <p:cNvPr id="2" name="Shape 0"/>
          <p:cNvSpPr/>
          <p:nvPr/>
        </p:nvSpPr>
        <p:spPr>
          <a:xfrm>
            <a:off x="0" y="6656832"/>
            <a:ext cx="12188952" cy="201168"/>
          </a:xfrm>
          <a:prstGeom prst="rect">
            <a:avLst/>
          </a:prstGeom>
          <a:solidFill>
            <a:srgbClr val="00ED64"/>
          </a:solidFill>
          <a:ln w="12700">
            <a:solidFill>
              <a:srgbClr val="00ED64"/>
            </a:solidFill>
            <a:prstDash val="solid"/>
          </a:ln>
        </p:spPr>
      </p:sp>
      <p:sp>
        <p:nvSpPr>
          <p:cNvPr id="3" name="Shape 1"/>
          <p:cNvSpPr/>
          <p:nvPr/>
        </p:nvSpPr>
        <p:spPr>
          <a:xfrm>
            <a:off x="0" y="0"/>
            <a:ext cx="502920" cy="6858000"/>
          </a:xfrm>
          <a:prstGeom prst="rect">
            <a:avLst/>
          </a:prstGeom>
          <a:solidFill>
            <a:srgbClr val="00ED64"/>
          </a:solidFill>
          <a:ln w="12700">
            <a:solidFill>
              <a:srgbClr val="00ED64"/>
            </a:solidFill>
            <a:prstDash val="solid"/>
          </a:ln>
        </p:spPr>
      </p:sp>
      <p:sp>
        <p:nvSpPr>
          <p:cNvPr id="4" name="Shape 2"/>
          <p:cNvSpPr/>
          <p:nvPr/>
        </p:nvSpPr>
        <p:spPr>
          <a:xfrm>
            <a:off x="8686800" y="-914400"/>
            <a:ext cx="5486400" cy="5486400"/>
          </a:xfrm>
          <a:prstGeom prst="ellipse">
            <a:avLst/>
          </a:prstGeom>
          <a:solidFill>
            <a:srgbClr val="023430">
              <a:alpha val="60000"/>
            </a:srgbClr>
          </a:solidFill>
          <a:ln w="12700">
            <a:solidFill>
              <a:srgbClr val="023430"/>
            </a:solidFill>
            <a:prstDash val="solid"/>
          </a:ln>
        </p:spPr>
      </p:sp>
      <p:sp>
        <p:nvSpPr>
          <p:cNvPr id="5" name="Text 3"/>
          <p:cNvSpPr/>
          <p:nvPr/>
        </p:nvSpPr>
        <p:spPr>
          <a:xfrm>
            <a:off x="822960" y="1645920"/>
            <a:ext cx="2286000" cy="2011680"/>
          </a:xfrm>
          <a:prstGeom prst="rect">
            <a:avLst/>
          </a:prstGeom>
          <a:noFill/>
          <a:ln/>
        </p:spPr>
        <p:txBody>
          <a:bodyPr wrap="square" lIns="0" tIns="0" rIns="0" bIns="0" rtlCol="0" anchor="ctr"/>
          <a:lstStyle/>
          <a:p>
            <a:pPr indent="0" marL="0">
              <a:buNone/>
            </a:pPr>
            <a:r>
              <a:rPr lang="en-US" sz="12000" b="1" dirty="0">
                <a:solidFill>
                  <a:srgbClr val="00ED64">
                    <a:alpha val="80000"/>
                  </a:srgbClr>
                </a:solidFill>
                <a:latin typeface="Lexend Deca" pitchFamily="34" charset="0"/>
                <a:ea typeface="Lexend Deca" pitchFamily="34" charset="-122"/>
                <a:cs typeface="Lexend Deca" pitchFamily="34" charset="-120"/>
              </a:rPr>
              <a:t>02</a:t>
            </a:r>
            <a:endParaRPr lang="en-US" sz="12000" dirty="0"/>
          </a:p>
        </p:txBody>
      </p:sp>
      <p:sp>
        <p:nvSpPr>
          <p:cNvPr id="6" name="Text 4"/>
          <p:cNvSpPr/>
          <p:nvPr/>
        </p:nvSpPr>
        <p:spPr>
          <a:xfrm>
            <a:off x="822960" y="3749040"/>
            <a:ext cx="9144000" cy="1097280"/>
          </a:xfrm>
          <a:prstGeom prst="rect">
            <a:avLst/>
          </a:prstGeom>
          <a:noFill/>
          <a:ln/>
        </p:spPr>
        <p:txBody>
          <a:bodyPr wrap="square" lIns="0" tIns="0" rIns="0" bIns="0" rtlCol="0" anchor="ctr"/>
          <a:lstStyle/>
          <a:p>
            <a:pPr indent="0" marL="0">
              <a:buNone/>
            </a:pPr>
            <a:r>
              <a:rPr lang="en-US" sz="4800" b="1" dirty="0">
                <a:solidFill>
                  <a:srgbClr val="FFFFFF"/>
                </a:solidFill>
                <a:latin typeface="Lexend Deca" pitchFamily="34" charset="0"/>
                <a:ea typeface="Lexend Deca" pitchFamily="34" charset="-122"/>
                <a:cs typeface="Lexend Deca" pitchFamily="34" charset="-120"/>
              </a:rPr>
              <a:t>Querying</a:t>
            </a:r>
            <a:endParaRPr lang="en-US" sz="4800" dirty="0"/>
          </a:p>
        </p:txBody>
      </p:sp>
      <p:sp>
        <p:nvSpPr>
          <p:cNvPr id="7" name="Text 5"/>
          <p:cNvSpPr/>
          <p:nvPr/>
        </p:nvSpPr>
        <p:spPr>
          <a:xfrm>
            <a:off x="822960" y="4937760"/>
            <a:ext cx="8229600" cy="640080"/>
          </a:xfrm>
          <a:prstGeom prst="rect">
            <a:avLst/>
          </a:prstGeom>
          <a:noFill/>
          <a:ln/>
        </p:spPr>
        <p:txBody>
          <a:bodyPr wrap="square" lIns="0" tIns="0" rIns="0" bIns="0" rtlCol="0" anchor="ctr"/>
          <a:lstStyle/>
          <a:p>
            <a:pPr indent="0" marL="0">
              <a:buNone/>
            </a:pPr>
            <a:r>
              <a:rPr lang="en-US" sz="1800" i="1" dirty="0">
                <a:solidFill>
                  <a:srgbClr val="B8C4C2"/>
                </a:solidFill>
                <a:latin typeface="Lexend Deca" pitchFamily="34" charset="0"/>
                <a:ea typeface="Lexend Deca" pitchFamily="34" charset="-122"/>
                <a:cs typeface="Lexend Deca" pitchFamily="34" charset="-120"/>
              </a:rPr>
              <a:t>CRUD · Filter Operators · Arrays · Aggregation Pipeline</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1E2B"/>
        </a:solidFill>
      </p:bgPr>
    </p:bg>
    <p:spTree>
      <p:nvGrpSpPr>
        <p:cNvPr id="1" name=""/>
        <p:cNvGrpSpPr/>
        <p:nvPr/>
      </p:nvGrpSpPr>
      <p:grpSpPr>
        <a:xfrm>
          <a:off x="0" y="0"/>
          <a:ext cx="0" cy="0"/>
          <a:chOff x="0" y="0"/>
          <a:chExt cx="0" cy="0"/>
        </a:xfrm>
      </p:grpSpPr>
      <p:sp>
        <p:nvSpPr>
          <p:cNvPr id="2" name="Shape 0"/>
          <p:cNvSpPr/>
          <p:nvPr/>
        </p:nvSpPr>
        <p:spPr>
          <a:xfrm>
            <a:off x="0" y="6656832"/>
            <a:ext cx="12188952" cy="201168"/>
          </a:xfrm>
          <a:prstGeom prst="rect">
            <a:avLst/>
          </a:prstGeom>
          <a:solidFill>
            <a:srgbClr val="00ED64"/>
          </a:solidFill>
          <a:ln w="12700">
            <a:solidFill>
              <a:srgbClr val="00ED64"/>
            </a:solidFill>
            <a:prstDash val="solid"/>
          </a:ln>
        </p:spPr>
      </p:sp>
      <p:sp>
        <p:nvSpPr>
          <p:cNvPr id="3" name="Text 1"/>
          <p:cNvSpPr/>
          <p:nvPr/>
        </p:nvSpPr>
        <p:spPr>
          <a:xfrm>
            <a:off x="566928" y="201168"/>
            <a:ext cx="11055096" cy="594360"/>
          </a:xfrm>
          <a:prstGeom prst="rect">
            <a:avLst/>
          </a:prstGeom>
          <a:noFill/>
          <a:ln/>
        </p:spPr>
        <p:txBody>
          <a:bodyPr wrap="square" lIns="0" tIns="0" rIns="0" bIns="0" rtlCol="0" anchor="ctr"/>
          <a:lstStyle/>
          <a:p>
            <a:pPr indent="0" marL="0">
              <a:buNone/>
            </a:pPr>
            <a:r>
              <a:rPr lang="en-US" sz="3000" b="1" dirty="0">
                <a:solidFill>
                  <a:srgbClr val="FFFFFF"/>
                </a:solidFill>
                <a:latin typeface="Lexend Deca" pitchFamily="34" charset="0"/>
                <a:ea typeface="Lexend Deca" pitchFamily="34" charset="-122"/>
                <a:cs typeface="Lexend Deca" pitchFamily="34" charset="-120"/>
              </a:rPr>
              <a:t>SQL ↔ MongoDB CRUD — Side by Side</a:t>
            </a:r>
            <a:endParaRPr lang="en-US" sz="3000" dirty="0"/>
          </a:p>
        </p:txBody>
      </p:sp>
      <p:sp>
        <p:nvSpPr>
          <p:cNvPr id="4" name="Shape 2"/>
          <p:cNvSpPr/>
          <p:nvPr/>
        </p:nvSpPr>
        <p:spPr>
          <a:xfrm>
            <a:off x="566928" y="822960"/>
            <a:ext cx="1280160" cy="54864"/>
          </a:xfrm>
          <a:prstGeom prst="rect">
            <a:avLst/>
          </a:prstGeom>
          <a:solidFill>
            <a:srgbClr val="00ED64"/>
          </a:solidFill>
          <a:ln w="12700">
            <a:solidFill>
              <a:srgbClr val="00ED64"/>
            </a:solidFill>
            <a:prstDash val="solid"/>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932688"/>
          <a:ext cx="11055096" cy="5486400"/>
        </p:xfrm>
        <a:graphic>
          <a:graphicData uri="http://schemas.openxmlformats.org/drawingml/2006/table">
            <a:tbl>
              <a:tblPr/>
              <a:tblGrid>
                <a:gridCol w="1828800"/>
                <a:gridCol w="4800600"/>
                <a:gridCol w="4800600"/>
              </a:tblGrid>
              <a:tr h="612648">
                <a:tc>
                  <a:txBody>
                    <a:bodyPr/>
                    <a:lstStyle/>
                    <a:p>
                      <a:pPr algn="ctr" indent="0" marL="0">
                        <a:buNone/>
                      </a:pPr>
                      <a:r>
                        <a:rPr lang="en-US" sz="1400" b="1" dirty="0">
                          <a:solidFill>
                            <a:srgbClr val="00ED64"/>
                          </a:solidFill>
                          <a:latin typeface="Lexend Deca" pitchFamily="34" charset="0"/>
                          <a:ea typeface="Lexend Deca" pitchFamily="34" charset="-122"/>
                          <a:cs typeface="Lexend Deca" pitchFamily="34" charset="-120"/>
                        </a:rPr>
                        <a:t>Operation</a:t>
                      </a:r>
                      <a:endParaRPr lang="en-US" sz="1400" dirty="0">
                        <a:latin typeface="Lexend Deca" charset="0"/>
                        <a:ea typeface="Lexend Deca" charset="0"/>
                        <a:cs typeface="Lexend Deca" charset="0"/>
                      </a:endParaRPr>
                    </a:p>
                  </a:txBody>
                  <a:tcPr marL="91440" marR="91440" marT="45720" marB="45720">
                    <a:lnL w="12700" cap="flat" cmpd="sng" algn="ctr">
                      <a:solidFill>
                        <a:srgbClr val="012A3A"/>
                      </a:solidFill>
                      <a:prstDash val="solid"/>
                      <a:round/>
                      <a:headEnd type="none" w="med" len="med"/>
                      <a:tailEnd type="none" w="med" len="med"/>
                    </a:lnL>
                    <a:lnR w="12700" cap="flat" cmpd="sng" algn="ctr">
                      <a:solidFill>
                        <a:srgbClr val="012A3A"/>
                      </a:solidFill>
                      <a:prstDash val="solid"/>
                      <a:round/>
                      <a:headEnd type="none" w="med" len="med"/>
                      <a:tailEnd type="none" w="med" len="med"/>
                    </a:lnR>
                    <a:lnT w="12700" cap="flat" cmpd="sng" algn="ctr">
                      <a:solidFill>
                        <a:srgbClr val="012A3A"/>
                      </a:solidFill>
                      <a:prstDash val="solid"/>
                      <a:round/>
                      <a:headEnd type="none" w="med" len="med"/>
                      <a:tailEnd type="none" w="med" len="med"/>
                    </a:lnT>
                    <a:lnB w="12700" cap="flat" cmpd="sng" algn="ctr">
                      <a:solidFill>
                        <a:srgbClr val="012A3A"/>
                      </a:solidFill>
                      <a:prstDash val="solid"/>
                      <a:round/>
                      <a:headEnd type="none" w="med" len="med"/>
                      <a:tailEnd type="none" w="med" len="med"/>
                    </a:lnB>
                    <a:solidFill>
                      <a:srgbClr val="012A3A"/>
                    </a:solidFill>
                  </a:tcPr>
                </a:tc>
                <a:tc>
                  <a:txBody>
                    <a:bodyPr/>
                    <a:lstStyle/>
                    <a:p>
                      <a:pPr algn="ctr" indent="0" marL="0">
                        <a:buNone/>
                      </a:pPr>
                      <a:r>
                        <a:rPr lang="en-US" sz="1400" b="1" dirty="0">
                          <a:solidFill>
                            <a:srgbClr val="00ED64"/>
                          </a:solidFill>
                          <a:latin typeface="Lexend Deca" pitchFamily="34" charset="0"/>
                          <a:ea typeface="Lexend Deca" pitchFamily="34" charset="-122"/>
                          <a:cs typeface="Lexend Deca" pitchFamily="34" charset="-120"/>
                        </a:rPr>
                        <a:t>SQL</a:t>
                      </a:r>
                      <a:endParaRPr lang="en-US" sz="1400" dirty="0">
                        <a:latin typeface="Lexend Deca" charset="0"/>
                        <a:ea typeface="Lexend Deca" charset="0"/>
                        <a:cs typeface="Lexend Deca" charset="0"/>
                      </a:endParaRPr>
                    </a:p>
                  </a:txBody>
                  <a:tcPr marL="91440" marR="91440" marT="45720" marB="45720">
                    <a:lnL w="12700" cap="flat" cmpd="sng" algn="ctr">
                      <a:solidFill>
                        <a:srgbClr val="012A3A"/>
                      </a:solidFill>
                      <a:prstDash val="solid"/>
                      <a:round/>
                      <a:headEnd type="none" w="med" len="med"/>
                      <a:tailEnd type="none" w="med" len="med"/>
                    </a:lnL>
                    <a:lnR w="12700" cap="flat" cmpd="sng" algn="ctr">
                      <a:solidFill>
                        <a:srgbClr val="012A3A"/>
                      </a:solidFill>
                      <a:prstDash val="solid"/>
                      <a:round/>
                      <a:headEnd type="none" w="med" len="med"/>
                      <a:tailEnd type="none" w="med" len="med"/>
                    </a:lnR>
                    <a:lnT w="12700" cap="flat" cmpd="sng" algn="ctr">
                      <a:solidFill>
                        <a:srgbClr val="012A3A"/>
                      </a:solidFill>
                      <a:prstDash val="solid"/>
                      <a:round/>
                      <a:headEnd type="none" w="med" len="med"/>
                      <a:tailEnd type="none" w="med" len="med"/>
                    </a:lnT>
                    <a:lnB w="12700" cap="flat" cmpd="sng" algn="ctr">
                      <a:solidFill>
                        <a:srgbClr val="012A3A"/>
                      </a:solidFill>
                      <a:prstDash val="solid"/>
                      <a:round/>
                      <a:headEnd type="none" w="med" len="med"/>
                      <a:tailEnd type="none" w="med" len="med"/>
                    </a:lnB>
                    <a:solidFill>
                      <a:srgbClr val="012A3A"/>
                    </a:solidFill>
                  </a:tcPr>
                </a:tc>
                <a:tc>
                  <a:txBody>
                    <a:bodyPr/>
                    <a:lstStyle/>
                    <a:p>
                      <a:pPr algn="ctr" indent="0" marL="0">
                        <a:buNone/>
                      </a:pPr>
                      <a:r>
                        <a:rPr lang="en-US" sz="1400" b="1" dirty="0">
                          <a:solidFill>
                            <a:srgbClr val="00ED64"/>
                          </a:solidFill>
                          <a:latin typeface="Lexend Deca" pitchFamily="34" charset="0"/>
                          <a:ea typeface="Lexend Deca" pitchFamily="34" charset="-122"/>
                          <a:cs typeface="Lexend Deca" pitchFamily="34" charset="-120"/>
                        </a:rPr>
                        <a:t>MongoDB</a:t>
                      </a:r>
                      <a:endParaRPr lang="en-US" sz="1400" dirty="0">
                        <a:latin typeface="Lexend Deca" charset="0"/>
                        <a:ea typeface="Lexend Deca" charset="0"/>
                        <a:cs typeface="Lexend Deca" charset="0"/>
                      </a:endParaRPr>
                    </a:p>
                  </a:txBody>
                  <a:tcPr marL="91440" marR="91440" marT="45720" marB="45720">
                    <a:lnL w="12700" cap="flat" cmpd="sng" algn="ctr">
                      <a:solidFill>
                        <a:srgbClr val="012A3A"/>
                      </a:solidFill>
                      <a:prstDash val="solid"/>
                      <a:round/>
                      <a:headEnd type="none" w="med" len="med"/>
                      <a:tailEnd type="none" w="med" len="med"/>
                    </a:lnL>
                    <a:lnR w="12700" cap="flat" cmpd="sng" algn="ctr">
                      <a:solidFill>
                        <a:srgbClr val="012A3A"/>
                      </a:solidFill>
                      <a:prstDash val="solid"/>
                      <a:round/>
                      <a:headEnd type="none" w="med" len="med"/>
                      <a:tailEnd type="none" w="med" len="med"/>
                    </a:lnR>
                    <a:lnT w="12700" cap="flat" cmpd="sng" algn="ctr">
                      <a:solidFill>
                        <a:srgbClr val="012A3A"/>
                      </a:solidFill>
                      <a:prstDash val="solid"/>
                      <a:round/>
                      <a:headEnd type="none" w="med" len="med"/>
                      <a:tailEnd type="none" w="med" len="med"/>
                    </a:lnT>
                    <a:lnB w="12700" cap="flat" cmpd="sng" algn="ctr">
                      <a:solidFill>
                        <a:srgbClr val="012A3A"/>
                      </a:solidFill>
                      <a:prstDash val="solid"/>
                      <a:round/>
                      <a:headEnd type="none" w="med" len="med"/>
                      <a:tailEnd type="none" w="med" len="med"/>
                    </a:lnB>
                    <a:solidFill>
                      <a:srgbClr val="012A3A"/>
                    </a:solidFill>
                  </a:tcPr>
                </a:tc>
              </a:tr>
              <a:tr h="612648">
                <a:tc>
                  <a:txBody>
                    <a:bodyPr/>
                    <a:lstStyle/>
                    <a:p>
                      <a:pPr indent="0" marL="0">
                        <a:buNone/>
                      </a:pPr>
                      <a:r>
                        <a:rPr lang="en-US" sz="1200" dirty="0">
                          <a:solidFill>
                            <a:srgbClr val="FFFFFF"/>
                          </a:solidFill>
                          <a:latin typeface="Source Code Pro" pitchFamily="34" charset="0"/>
                          <a:ea typeface="Source Code Pro" pitchFamily="34" charset="-122"/>
                          <a:cs typeface="Source Code Pro" pitchFamily="34" charset="-120"/>
                        </a:rPr>
                        <a:t>Read all</a:t>
                      </a:r>
                      <a:endParaRPr lang="en-US" sz="1200" dirty="0">
                        <a:latin typeface="Source Code Pro" charset="0"/>
                        <a:ea typeface="Source Code Pro" charset="0"/>
                        <a:cs typeface="Source Code Pro" charset="0"/>
                      </a:endParaRPr>
                    </a:p>
                  </a:txBody>
                  <a:tcPr marL="91440" marR="91440" marT="45720" marB="45720">
                    <a:lnL w="12700" cap="flat" cmpd="sng" algn="ctr">
                      <a:solidFill>
                        <a:srgbClr val="012A3A"/>
                      </a:solidFill>
                      <a:prstDash val="solid"/>
                      <a:round/>
                      <a:headEnd type="none" w="med" len="med"/>
                      <a:tailEnd type="none" w="med" len="med"/>
                    </a:lnL>
                    <a:lnR w="12700" cap="flat" cmpd="sng" algn="ctr">
                      <a:solidFill>
                        <a:srgbClr val="012A3A"/>
                      </a:solidFill>
                      <a:prstDash val="solid"/>
                      <a:round/>
                      <a:headEnd type="none" w="med" len="med"/>
                      <a:tailEnd type="none" w="med" len="med"/>
                    </a:lnR>
                    <a:lnT w="12700" cap="flat" cmpd="sng" algn="ctr">
                      <a:solidFill>
                        <a:srgbClr val="012A3A"/>
                      </a:solidFill>
                      <a:prstDash val="solid"/>
                      <a:round/>
                      <a:headEnd type="none" w="med" len="med"/>
                      <a:tailEnd type="none" w="med" len="med"/>
                    </a:lnT>
                    <a:lnB w="12700" cap="flat" cmpd="sng" algn="ctr">
                      <a:solidFill>
                        <a:srgbClr val="012A3A"/>
                      </a:solidFill>
                      <a:prstDash val="solid"/>
                      <a:round/>
                      <a:headEnd type="none" w="med" len="med"/>
                      <a:tailEnd type="none" w="med" len="med"/>
                    </a:lnB>
                    <a:solidFill>
                      <a:srgbClr val="023430"/>
                    </a:solidFill>
                  </a:tcPr>
                </a:tc>
                <a:tc>
                  <a:txBody>
                    <a:bodyPr/>
                    <a:lstStyle/>
                    <a:p>
                      <a:pPr indent="0" marL="0">
                        <a:buNone/>
                      </a:pPr>
                      <a:r>
                        <a:rPr lang="en-US" sz="1200" dirty="0">
                          <a:solidFill>
                            <a:srgbClr val="FFFFFF"/>
                          </a:solidFill>
                          <a:latin typeface="Source Code Pro" pitchFamily="34" charset="0"/>
                          <a:ea typeface="Source Code Pro" pitchFamily="34" charset="-122"/>
                          <a:cs typeface="Source Code Pro" pitchFamily="34" charset="-120"/>
                        </a:rPr>
                        <a:t>SELECT * FROM users</a:t>
                      </a:r>
                      <a:endParaRPr lang="en-US" sz="1200" dirty="0">
                        <a:latin typeface="Source Code Pro" charset="0"/>
                        <a:ea typeface="Source Code Pro" charset="0"/>
                        <a:cs typeface="Source Code Pro" charset="0"/>
                      </a:endParaRPr>
                    </a:p>
                  </a:txBody>
                  <a:tcPr marL="91440" marR="91440" marT="45720" marB="45720">
                    <a:lnL w="12700" cap="flat" cmpd="sng" algn="ctr">
                      <a:solidFill>
                        <a:srgbClr val="012A3A"/>
                      </a:solidFill>
                      <a:prstDash val="solid"/>
                      <a:round/>
                      <a:headEnd type="none" w="med" len="med"/>
                      <a:tailEnd type="none" w="med" len="med"/>
                    </a:lnL>
                    <a:lnR w="12700" cap="flat" cmpd="sng" algn="ctr">
                      <a:solidFill>
                        <a:srgbClr val="012A3A"/>
                      </a:solidFill>
                      <a:prstDash val="solid"/>
                      <a:round/>
                      <a:headEnd type="none" w="med" len="med"/>
                      <a:tailEnd type="none" w="med" len="med"/>
                    </a:lnR>
                    <a:lnT w="12700" cap="flat" cmpd="sng" algn="ctr">
                      <a:solidFill>
                        <a:srgbClr val="012A3A"/>
                      </a:solidFill>
                      <a:prstDash val="solid"/>
                      <a:round/>
                      <a:headEnd type="none" w="med" len="med"/>
                      <a:tailEnd type="none" w="med" len="med"/>
                    </a:lnT>
                    <a:lnB w="12700" cap="flat" cmpd="sng" algn="ctr">
                      <a:solidFill>
                        <a:srgbClr val="012A3A"/>
                      </a:solidFill>
                      <a:prstDash val="solid"/>
                      <a:round/>
                      <a:headEnd type="none" w="med" len="med"/>
                      <a:tailEnd type="none" w="med" len="med"/>
                    </a:lnB>
                    <a:solidFill>
                      <a:srgbClr val="023430"/>
                    </a:solidFill>
                  </a:tcPr>
                </a:tc>
                <a:tc>
                  <a:txBody>
                    <a:bodyPr/>
                    <a:lstStyle/>
                    <a:p>
                      <a:pPr indent="0" marL="0">
                        <a:buNone/>
                      </a:pPr>
                      <a:r>
                        <a:rPr lang="en-US" sz="1200" dirty="0">
                          <a:solidFill>
                            <a:srgbClr val="00ED64"/>
                          </a:solidFill>
                          <a:latin typeface="Source Code Pro" pitchFamily="34" charset="0"/>
                          <a:ea typeface="Source Code Pro" pitchFamily="34" charset="-122"/>
                          <a:cs typeface="Source Code Pro" pitchFamily="34" charset="-120"/>
                        </a:rPr>
                        <a:t>db.users.find({})</a:t>
                      </a:r>
                      <a:endParaRPr lang="en-US" sz="1200" dirty="0">
                        <a:latin typeface="Source Code Pro" charset="0"/>
                        <a:ea typeface="Source Code Pro" charset="0"/>
                        <a:cs typeface="Source Code Pro" charset="0"/>
                      </a:endParaRPr>
                    </a:p>
                  </a:txBody>
                  <a:tcPr marL="91440" marR="91440" marT="45720" marB="45720">
                    <a:lnL w="12700" cap="flat" cmpd="sng" algn="ctr">
                      <a:solidFill>
                        <a:srgbClr val="012A3A"/>
                      </a:solidFill>
                      <a:prstDash val="solid"/>
                      <a:round/>
                      <a:headEnd type="none" w="med" len="med"/>
                      <a:tailEnd type="none" w="med" len="med"/>
                    </a:lnL>
                    <a:lnR w="12700" cap="flat" cmpd="sng" algn="ctr">
                      <a:solidFill>
                        <a:srgbClr val="012A3A"/>
                      </a:solidFill>
                      <a:prstDash val="solid"/>
                      <a:round/>
                      <a:headEnd type="none" w="med" len="med"/>
                      <a:tailEnd type="none" w="med" len="med"/>
                    </a:lnR>
                    <a:lnT w="12700" cap="flat" cmpd="sng" algn="ctr">
                      <a:solidFill>
                        <a:srgbClr val="012A3A"/>
                      </a:solidFill>
                      <a:prstDash val="solid"/>
                      <a:round/>
                      <a:headEnd type="none" w="med" len="med"/>
                      <a:tailEnd type="none" w="med" len="med"/>
                    </a:lnT>
                    <a:lnB w="12700" cap="flat" cmpd="sng" algn="ctr">
                      <a:solidFill>
                        <a:srgbClr val="012A3A"/>
                      </a:solidFill>
                      <a:prstDash val="solid"/>
                      <a:round/>
                      <a:headEnd type="none" w="med" len="med"/>
                      <a:tailEnd type="none" w="med" len="med"/>
                    </a:lnB>
                    <a:solidFill>
                      <a:srgbClr val="023430"/>
                    </a:solidFill>
                  </a:tcPr>
                </a:tc>
              </a:tr>
              <a:tr h="612648">
                <a:tc>
                  <a:txBody>
                    <a:bodyPr/>
                    <a:lstStyle/>
                    <a:p>
                      <a:pPr indent="0" marL="0">
                        <a:buNone/>
                      </a:pPr>
                      <a:r>
                        <a:rPr lang="en-US" sz="1200" dirty="0">
                          <a:solidFill>
                            <a:srgbClr val="FFFFFF"/>
                          </a:solidFill>
                          <a:latin typeface="Source Code Pro" pitchFamily="34" charset="0"/>
                          <a:ea typeface="Source Code Pro" pitchFamily="34" charset="-122"/>
                          <a:cs typeface="Source Code Pro" pitchFamily="34" charset="-120"/>
                        </a:rPr>
                        <a:t>Read + filter</a:t>
                      </a:r>
                      <a:endParaRPr lang="en-US" sz="1200" dirty="0">
                        <a:latin typeface="Source Code Pro" charset="0"/>
                        <a:ea typeface="Source Code Pro" charset="0"/>
                        <a:cs typeface="Source Code Pro" charset="0"/>
                      </a:endParaRPr>
                    </a:p>
                  </a:txBody>
                  <a:tcPr marL="91440" marR="91440" marT="45720" marB="45720">
                    <a:lnL w="12700" cap="flat" cmpd="sng" algn="ctr">
                      <a:solidFill>
                        <a:srgbClr val="012A3A"/>
                      </a:solidFill>
                      <a:prstDash val="solid"/>
                      <a:round/>
                      <a:headEnd type="none" w="med" len="med"/>
                      <a:tailEnd type="none" w="med" len="med"/>
                    </a:lnL>
                    <a:lnR w="12700" cap="flat" cmpd="sng" algn="ctr">
                      <a:solidFill>
                        <a:srgbClr val="012A3A"/>
                      </a:solidFill>
                      <a:prstDash val="solid"/>
                      <a:round/>
                      <a:headEnd type="none" w="med" len="med"/>
                      <a:tailEnd type="none" w="med" len="med"/>
                    </a:lnR>
                    <a:lnT w="12700" cap="flat" cmpd="sng" algn="ctr">
                      <a:solidFill>
                        <a:srgbClr val="012A3A"/>
                      </a:solidFill>
                      <a:prstDash val="solid"/>
                      <a:round/>
                      <a:headEnd type="none" w="med" len="med"/>
                      <a:tailEnd type="none" w="med" len="med"/>
                    </a:lnT>
                    <a:lnB w="12700" cap="flat" cmpd="sng" algn="ctr">
                      <a:solidFill>
                        <a:srgbClr val="012A3A"/>
                      </a:solidFill>
                      <a:prstDash val="solid"/>
                      <a:round/>
                      <a:headEnd type="none" w="med" len="med"/>
                      <a:tailEnd type="none" w="med" len="med"/>
                    </a:lnB>
                    <a:solidFill>
                      <a:srgbClr val="011F2E"/>
                    </a:solidFill>
                  </a:tcPr>
                </a:tc>
                <a:tc>
                  <a:txBody>
                    <a:bodyPr/>
                    <a:lstStyle/>
                    <a:p>
                      <a:pPr indent="0" marL="0">
                        <a:buNone/>
                      </a:pPr>
                      <a:r>
                        <a:rPr lang="en-US" sz="1200" dirty="0">
                          <a:solidFill>
                            <a:srgbClr val="FFFFFF"/>
                          </a:solidFill>
                          <a:latin typeface="Source Code Pro" pitchFamily="34" charset="0"/>
                          <a:ea typeface="Source Code Pro" pitchFamily="34" charset="-122"/>
                          <a:cs typeface="Source Code Pro" pitchFamily="34" charset="-120"/>
                        </a:rPr>
                        <a:t>SELECT * FROM users WHERE age &gt; 30</a:t>
                      </a:r>
                      <a:endParaRPr lang="en-US" sz="1200" dirty="0">
                        <a:latin typeface="Source Code Pro" charset="0"/>
                        <a:ea typeface="Source Code Pro" charset="0"/>
                        <a:cs typeface="Source Code Pro" charset="0"/>
                      </a:endParaRPr>
                    </a:p>
                  </a:txBody>
                  <a:tcPr marL="91440" marR="91440" marT="45720" marB="45720">
                    <a:lnL w="12700" cap="flat" cmpd="sng" algn="ctr">
                      <a:solidFill>
                        <a:srgbClr val="012A3A"/>
                      </a:solidFill>
                      <a:prstDash val="solid"/>
                      <a:round/>
                      <a:headEnd type="none" w="med" len="med"/>
                      <a:tailEnd type="none" w="med" len="med"/>
                    </a:lnL>
                    <a:lnR w="12700" cap="flat" cmpd="sng" algn="ctr">
                      <a:solidFill>
                        <a:srgbClr val="012A3A"/>
                      </a:solidFill>
                      <a:prstDash val="solid"/>
                      <a:round/>
                      <a:headEnd type="none" w="med" len="med"/>
                      <a:tailEnd type="none" w="med" len="med"/>
                    </a:lnR>
                    <a:lnT w="12700" cap="flat" cmpd="sng" algn="ctr">
                      <a:solidFill>
                        <a:srgbClr val="012A3A"/>
                      </a:solidFill>
                      <a:prstDash val="solid"/>
                      <a:round/>
                      <a:headEnd type="none" w="med" len="med"/>
                      <a:tailEnd type="none" w="med" len="med"/>
                    </a:lnT>
                    <a:lnB w="12700" cap="flat" cmpd="sng" algn="ctr">
                      <a:solidFill>
                        <a:srgbClr val="012A3A"/>
                      </a:solidFill>
                      <a:prstDash val="solid"/>
                      <a:round/>
                      <a:headEnd type="none" w="med" len="med"/>
                      <a:tailEnd type="none" w="med" len="med"/>
                    </a:lnB>
                    <a:solidFill>
                      <a:srgbClr val="011F2E"/>
                    </a:solidFill>
                  </a:tcPr>
                </a:tc>
                <a:tc>
                  <a:txBody>
                    <a:bodyPr/>
                    <a:lstStyle/>
                    <a:p>
                      <a:pPr indent="0" marL="0">
                        <a:buNone/>
                      </a:pPr>
                      <a:r>
                        <a:rPr lang="en-US" sz="1200" dirty="0">
                          <a:solidFill>
                            <a:srgbClr val="00ED64"/>
                          </a:solidFill>
                          <a:latin typeface="Source Code Pro" pitchFamily="34" charset="0"/>
                          <a:ea typeface="Source Code Pro" pitchFamily="34" charset="-122"/>
                          <a:cs typeface="Source Code Pro" pitchFamily="34" charset="-120"/>
                        </a:rPr>
                        <a:t>db.users.find({ age:{ $gt:30 } })</a:t>
                      </a:r>
                      <a:endParaRPr lang="en-US" sz="1200" dirty="0">
                        <a:latin typeface="Source Code Pro" charset="0"/>
                        <a:ea typeface="Source Code Pro" charset="0"/>
                        <a:cs typeface="Source Code Pro" charset="0"/>
                      </a:endParaRPr>
                    </a:p>
                  </a:txBody>
                  <a:tcPr marL="91440" marR="91440" marT="45720" marB="45720">
                    <a:lnL w="12700" cap="flat" cmpd="sng" algn="ctr">
                      <a:solidFill>
                        <a:srgbClr val="012A3A"/>
                      </a:solidFill>
                      <a:prstDash val="solid"/>
                      <a:round/>
                      <a:headEnd type="none" w="med" len="med"/>
                      <a:tailEnd type="none" w="med" len="med"/>
                    </a:lnL>
                    <a:lnR w="12700" cap="flat" cmpd="sng" algn="ctr">
                      <a:solidFill>
                        <a:srgbClr val="012A3A"/>
                      </a:solidFill>
                      <a:prstDash val="solid"/>
                      <a:round/>
                      <a:headEnd type="none" w="med" len="med"/>
                      <a:tailEnd type="none" w="med" len="med"/>
                    </a:lnR>
                    <a:lnT w="12700" cap="flat" cmpd="sng" algn="ctr">
                      <a:solidFill>
                        <a:srgbClr val="012A3A"/>
                      </a:solidFill>
                      <a:prstDash val="solid"/>
                      <a:round/>
                      <a:headEnd type="none" w="med" len="med"/>
                      <a:tailEnd type="none" w="med" len="med"/>
                    </a:lnT>
                    <a:lnB w="12700" cap="flat" cmpd="sng" algn="ctr">
                      <a:solidFill>
                        <a:srgbClr val="012A3A"/>
                      </a:solidFill>
                      <a:prstDash val="solid"/>
                      <a:round/>
                      <a:headEnd type="none" w="med" len="med"/>
                      <a:tailEnd type="none" w="med" len="med"/>
                    </a:lnB>
                    <a:solidFill>
                      <a:srgbClr val="011F2E"/>
                    </a:solidFill>
                  </a:tcPr>
                </a:tc>
              </a:tr>
              <a:tr h="612648">
                <a:tc>
                  <a:txBody>
                    <a:bodyPr/>
                    <a:lstStyle/>
                    <a:p>
                      <a:pPr indent="0" marL="0">
                        <a:buNone/>
                      </a:pPr>
                      <a:r>
                        <a:rPr lang="en-US" sz="1200" dirty="0">
                          <a:solidFill>
                            <a:srgbClr val="FFFFFF"/>
                          </a:solidFill>
                          <a:latin typeface="Source Code Pro" pitchFamily="34" charset="0"/>
                          <a:ea typeface="Source Code Pro" pitchFamily="34" charset="-122"/>
                          <a:cs typeface="Source Code Pro" pitchFamily="34" charset="-120"/>
                        </a:rPr>
                        <a:t>Read + project</a:t>
                      </a:r>
                      <a:endParaRPr lang="en-US" sz="1200" dirty="0">
                        <a:latin typeface="Source Code Pro" charset="0"/>
                        <a:ea typeface="Source Code Pro" charset="0"/>
                        <a:cs typeface="Source Code Pro" charset="0"/>
                      </a:endParaRPr>
                    </a:p>
                  </a:txBody>
                  <a:tcPr marL="91440" marR="91440" marT="45720" marB="45720">
                    <a:lnL w="12700" cap="flat" cmpd="sng" algn="ctr">
                      <a:solidFill>
                        <a:srgbClr val="012A3A"/>
                      </a:solidFill>
                      <a:prstDash val="solid"/>
                      <a:round/>
                      <a:headEnd type="none" w="med" len="med"/>
                      <a:tailEnd type="none" w="med" len="med"/>
                    </a:lnL>
                    <a:lnR w="12700" cap="flat" cmpd="sng" algn="ctr">
                      <a:solidFill>
                        <a:srgbClr val="012A3A"/>
                      </a:solidFill>
                      <a:prstDash val="solid"/>
                      <a:round/>
                      <a:headEnd type="none" w="med" len="med"/>
                      <a:tailEnd type="none" w="med" len="med"/>
                    </a:lnR>
                    <a:lnT w="12700" cap="flat" cmpd="sng" algn="ctr">
                      <a:solidFill>
                        <a:srgbClr val="012A3A"/>
                      </a:solidFill>
                      <a:prstDash val="solid"/>
                      <a:round/>
                      <a:headEnd type="none" w="med" len="med"/>
                      <a:tailEnd type="none" w="med" len="med"/>
                    </a:lnT>
                    <a:lnB w="12700" cap="flat" cmpd="sng" algn="ctr">
                      <a:solidFill>
                        <a:srgbClr val="012A3A"/>
                      </a:solidFill>
                      <a:prstDash val="solid"/>
                      <a:round/>
                      <a:headEnd type="none" w="med" len="med"/>
                      <a:tailEnd type="none" w="med" len="med"/>
                    </a:lnB>
                    <a:solidFill>
                      <a:srgbClr val="023430"/>
                    </a:solidFill>
                  </a:tcPr>
                </a:tc>
                <a:tc>
                  <a:txBody>
                    <a:bodyPr/>
                    <a:lstStyle/>
                    <a:p>
                      <a:pPr indent="0" marL="0">
                        <a:buNone/>
                      </a:pPr>
                      <a:r>
                        <a:rPr lang="en-US" sz="1200" dirty="0">
                          <a:solidFill>
                            <a:srgbClr val="FFFFFF"/>
                          </a:solidFill>
                          <a:latin typeface="Source Code Pro" pitchFamily="34" charset="0"/>
                          <a:ea typeface="Source Code Pro" pitchFamily="34" charset="-122"/>
                          <a:cs typeface="Source Code Pro" pitchFamily="34" charset="-120"/>
                        </a:rPr>
                        <a:t>SELECT name, email FROM users WHERE active=1</a:t>
                      </a:r>
                      <a:endParaRPr lang="en-US" sz="1200" dirty="0">
                        <a:latin typeface="Source Code Pro" charset="0"/>
                        <a:ea typeface="Source Code Pro" charset="0"/>
                        <a:cs typeface="Source Code Pro" charset="0"/>
                      </a:endParaRPr>
                    </a:p>
                  </a:txBody>
                  <a:tcPr marL="91440" marR="91440" marT="45720" marB="45720">
                    <a:lnL w="12700" cap="flat" cmpd="sng" algn="ctr">
                      <a:solidFill>
                        <a:srgbClr val="012A3A"/>
                      </a:solidFill>
                      <a:prstDash val="solid"/>
                      <a:round/>
                      <a:headEnd type="none" w="med" len="med"/>
                      <a:tailEnd type="none" w="med" len="med"/>
                    </a:lnL>
                    <a:lnR w="12700" cap="flat" cmpd="sng" algn="ctr">
                      <a:solidFill>
                        <a:srgbClr val="012A3A"/>
                      </a:solidFill>
                      <a:prstDash val="solid"/>
                      <a:round/>
                      <a:headEnd type="none" w="med" len="med"/>
                      <a:tailEnd type="none" w="med" len="med"/>
                    </a:lnR>
                    <a:lnT w="12700" cap="flat" cmpd="sng" algn="ctr">
                      <a:solidFill>
                        <a:srgbClr val="012A3A"/>
                      </a:solidFill>
                      <a:prstDash val="solid"/>
                      <a:round/>
                      <a:headEnd type="none" w="med" len="med"/>
                      <a:tailEnd type="none" w="med" len="med"/>
                    </a:lnT>
                    <a:lnB w="12700" cap="flat" cmpd="sng" algn="ctr">
                      <a:solidFill>
                        <a:srgbClr val="012A3A"/>
                      </a:solidFill>
                      <a:prstDash val="solid"/>
                      <a:round/>
                      <a:headEnd type="none" w="med" len="med"/>
                      <a:tailEnd type="none" w="med" len="med"/>
                    </a:lnB>
                    <a:solidFill>
                      <a:srgbClr val="023430"/>
                    </a:solidFill>
                  </a:tcPr>
                </a:tc>
                <a:tc>
                  <a:txBody>
                    <a:bodyPr/>
                    <a:lstStyle/>
                    <a:p>
                      <a:pPr indent="0" marL="0">
                        <a:buNone/>
                      </a:pPr>
                      <a:r>
                        <a:rPr lang="en-US" sz="1200" dirty="0">
                          <a:solidFill>
                            <a:srgbClr val="00ED64"/>
                          </a:solidFill>
                          <a:latin typeface="Source Code Pro" pitchFamily="34" charset="0"/>
                          <a:ea typeface="Source Code Pro" pitchFamily="34" charset="-122"/>
                          <a:cs typeface="Source Code Pro" pitchFamily="34" charset="-120"/>
                        </a:rPr>
                        <a:t>db.users.find({active:1},{name:1,email:1})</a:t>
                      </a:r>
                      <a:endParaRPr lang="en-US" sz="1200" dirty="0">
                        <a:latin typeface="Source Code Pro" charset="0"/>
                        <a:ea typeface="Source Code Pro" charset="0"/>
                        <a:cs typeface="Source Code Pro" charset="0"/>
                      </a:endParaRPr>
                    </a:p>
                  </a:txBody>
                  <a:tcPr marL="91440" marR="91440" marT="45720" marB="45720">
                    <a:lnL w="12700" cap="flat" cmpd="sng" algn="ctr">
                      <a:solidFill>
                        <a:srgbClr val="012A3A"/>
                      </a:solidFill>
                      <a:prstDash val="solid"/>
                      <a:round/>
                      <a:headEnd type="none" w="med" len="med"/>
                      <a:tailEnd type="none" w="med" len="med"/>
                    </a:lnL>
                    <a:lnR w="12700" cap="flat" cmpd="sng" algn="ctr">
                      <a:solidFill>
                        <a:srgbClr val="012A3A"/>
                      </a:solidFill>
                      <a:prstDash val="solid"/>
                      <a:round/>
                      <a:headEnd type="none" w="med" len="med"/>
                      <a:tailEnd type="none" w="med" len="med"/>
                    </a:lnR>
                    <a:lnT w="12700" cap="flat" cmpd="sng" algn="ctr">
                      <a:solidFill>
                        <a:srgbClr val="012A3A"/>
                      </a:solidFill>
                      <a:prstDash val="solid"/>
                      <a:round/>
                      <a:headEnd type="none" w="med" len="med"/>
                      <a:tailEnd type="none" w="med" len="med"/>
                    </a:lnT>
                    <a:lnB w="12700" cap="flat" cmpd="sng" algn="ctr">
                      <a:solidFill>
                        <a:srgbClr val="012A3A"/>
                      </a:solidFill>
                      <a:prstDash val="solid"/>
                      <a:round/>
                      <a:headEnd type="none" w="med" len="med"/>
                      <a:tailEnd type="none" w="med" len="med"/>
                    </a:lnB>
                    <a:solidFill>
                      <a:srgbClr val="023430"/>
                    </a:solidFill>
                  </a:tcPr>
                </a:tc>
              </a:tr>
              <a:tr h="612648">
                <a:tc>
                  <a:txBody>
                    <a:bodyPr/>
                    <a:lstStyle/>
                    <a:p>
                      <a:pPr indent="0" marL="0">
                        <a:buNone/>
                      </a:pPr>
                      <a:r>
                        <a:rPr lang="en-US" sz="1200" dirty="0">
                          <a:solidFill>
                            <a:srgbClr val="FFFFFF"/>
                          </a:solidFill>
                          <a:latin typeface="Source Code Pro" pitchFamily="34" charset="0"/>
                          <a:ea typeface="Source Code Pro" pitchFamily="34" charset="-122"/>
                          <a:cs typeface="Source Code Pro" pitchFamily="34" charset="-120"/>
                        </a:rPr>
                        <a:t>Insert</a:t>
                      </a:r>
                      <a:endParaRPr lang="en-US" sz="1200" dirty="0">
                        <a:latin typeface="Source Code Pro" charset="0"/>
                        <a:ea typeface="Source Code Pro" charset="0"/>
                        <a:cs typeface="Source Code Pro" charset="0"/>
                      </a:endParaRPr>
                    </a:p>
                  </a:txBody>
                  <a:tcPr marL="91440" marR="91440" marT="45720" marB="45720">
                    <a:lnL w="12700" cap="flat" cmpd="sng" algn="ctr">
                      <a:solidFill>
                        <a:srgbClr val="012A3A"/>
                      </a:solidFill>
                      <a:prstDash val="solid"/>
                      <a:round/>
                      <a:headEnd type="none" w="med" len="med"/>
                      <a:tailEnd type="none" w="med" len="med"/>
                    </a:lnL>
                    <a:lnR w="12700" cap="flat" cmpd="sng" algn="ctr">
                      <a:solidFill>
                        <a:srgbClr val="012A3A"/>
                      </a:solidFill>
                      <a:prstDash val="solid"/>
                      <a:round/>
                      <a:headEnd type="none" w="med" len="med"/>
                      <a:tailEnd type="none" w="med" len="med"/>
                    </a:lnR>
                    <a:lnT w="12700" cap="flat" cmpd="sng" algn="ctr">
                      <a:solidFill>
                        <a:srgbClr val="012A3A"/>
                      </a:solidFill>
                      <a:prstDash val="solid"/>
                      <a:round/>
                      <a:headEnd type="none" w="med" len="med"/>
                      <a:tailEnd type="none" w="med" len="med"/>
                    </a:lnT>
                    <a:lnB w="12700" cap="flat" cmpd="sng" algn="ctr">
                      <a:solidFill>
                        <a:srgbClr val="012A3A"/>
                      </a:solidFill>
                      <a:prstDash val="solid"/>
                      <a:round/>
                      <a:headEnd type="none" w="med" len="med"/>
                      <a:tailEnd type="none" w="med" len="med"/>
                    </a:lnB>
                    <a:solidFill>
                      <a:srgbClr val="011F2E"/>
                    </a:solidFill>
                  </a:tcPr>
                </a:tc>
                <a:tc>
                  <a:txBody>
                    <a:bodyPr/>
                    <a:lstStyle/>
                    <a:p>
                      <a:pPr indent="0" marL="0">
                        <a:buNone/>
                      </a:pPr>
                      <a:r>
                        <a:rPr lang="en-US" sz="1200" dirty="0">
                          <a:solidFill>
                            <a:srgbClr val="FFFFFF"/>
                          </a:solidFill>
                          <a:latin typeface="Source Code Pro" pitchFamily="34" charset="0"/>
                          <a:ea typeface="Source Code Pro" pitchFamily="34" charset="-122"/>
                          <a:cs typeface="Source Code Pro" pitchFamily="34" charset="-120"/>
                        </a:rPr>
                        <a:t>INSERT INTO users VALUES (...)</a:t>
                      </a:r>
                      <a:endParaRPr lang="en-US" sz="1200" dirty="0">
                        <a:latin typeface="Source Code Pro" charset="0"/>
                        <a:ea typeface="Source Code Pro" charset="0"/>
                        <a:cs typeface="Source Code Pro" charset="0"/>
                      </a:endParaRPr>
                    </a:p>
                  </a:txBody>
                  <a:tcPr marL="91440" marR="91440" marT="45720" marB="45720">
                    <a:lnL w="12700" cap="flat" cmpd="sng" algn="ctr">
                      <a:solidFill>
                        <a:srgbClr val="012A3A"/>
                      </a:solidFill>
                      <a:prstDash val="solid"/>
                      <a:round/>
                      <a:headEnd type="none" w="med" len="med"/>
                      <a:tailEnd type="none" w="med" len="med"/>
                    </a:lnL>
                    <a:lnR w="12700" cap="flat" cmpd="sng" algn="ctr">
                      <a:solidFill>
                        <a:srgbClr val="012A3A"/>
                      </a:solidFill>
                      <a:prstDash val="solid"/>
                      <a:round/>
                      <a:headEnd type="none" w="med" len="med"/>
                      <a:tailEnd type="none" w="med" len="med"/>
                    </a:lnR>
                    <a:lnT w="12700" cap="flat" cmpd="sng" algn="ctr">
                      <a:solidFill>
                        <a:srgbClr val="012A3A"/>
                      </a:solidFill>
                      <a:prstDash val="solid"/>
                      <a:round/>
                      <a:headEnd type="none" w="med" len="med"/>
                      <a:tailEnd type="none" w="med" len="med"/>
                    </a:lnT>
                    <a:lnB w="12700" cap="flat" cmpd="sng" algn="ctr">
                      <a:solidFill>
                        <a:srgbClr val="012A3A"/>
                      </a:solidFill>
                      <a:prstDash val="solid"/>
                      <a:round/>
                      <a:headEnd type="none" w="med" len="med"/>
                      <a:tailEnd type="none" w="med" len="med"/>
                    </a:lnB>
                    <a:solidFill>
                      <a:srgbClr val="011F2E"/>
                    </a:solidFill>
                  </a:tcPr>
                </a:tc>
                <a:tc>
                  <a:txBody>
                    <a:bodyPr/>
                    <a:lstStyle/>
                    <a:p>
                      <a:pPr indent="0" marL="0">
                        <a:buNone/>
                      </a:pPr>
                      <a:r>
                        <a:rPr lang="en-US" sz="1200" dirty="0">
                          <a:solidFill>
                            <a:srgbClr val="00ED64"/>
                          </a:solidFill>
                          <a:latin typeface="Source Code Pro" pitchFamily="34" charset="0"/>
                          <a:ea typeface="Source Code Pro" pitchFamily="34" charset="-122"/>
                          <a:cs typeface="Source Code Pro" pitchFamily="34" charset="-120"/>
                        </a:rPr>
                        <a:t>db.users.insertOne({ name:"Ana", age:28 })</a:t>
                      </a:r>
                      <a:endParaRPr lang="en-US" sz="1200" dirty="0">
                        <a:latin typeface="Source Code Pro" charset="0"/>
                        <a:ea typeface="Source Code Pro" charset="0"/>
                        <a:cs typeface="Source Code Pro" charset="0"/>
                      </a:endParaRPr>
                    </a:p>
                  </a:txBody>
                  <a:tcPr marL="91440" marR="91440" marT="45720" marB="45720">
                    <a:lnL w="12700" cap="flat" cmpd="sng" algn="ctr">
                      <a:solidFill>
                        <a:srgbClr val="012A3A"/>
                      </a:solidFill>
                      <a:prstDash val="solid"/>
                      <a:round/>
                      <a:headEnd type="none" w="med" len="med"/>
                      <a:tailEnd type="none" w="med" len="med"/>
                    </a:lnL>
                    <a:lnR w="12700" cap="flat" cmpd="sng" algn="ctr">
                      <a:solidFill>
                        <a:srgbClr val="012A3A"/>
                      </a:solidFill>
                      <a:prstDash val="solid"/>
                      <a:round/>
                      <a:headEnd type="none" w="med" len="med"/>
                      <a:tailEnd type="none" w="med" len="med"/>
                    </a:lnR>
                    <a:lnT w="12700" cap="flat" cmpd="sng" algn="ctr">
                      <a:solidFill>
                        <a:srgbClr val="012A3A"/>
                      </a:solidFill>
                      <a:prstDash val="solid"/>
                      <a:round/>
                      <a:headEnd type="none" w="med" len="med"/>
                      <a:tailEnd type="none" w="med" len="med"/>
                    </a:lnT>
                    <a:lnB w="12700" cap="flat" cmpd="sng" algn="ctr">
                      <a:solidFill>
                        <a:srgbClr val="012A3A"/>
                      </a:solidFill>
                      <a:prstDash val="solid"/>
                      <a:round/>
                      <a:headEnd type="none" w="med" len="med"/>
                      <a:tailEnd type="none" w="med" len="med"/>
                    </a:lnB>
                    <a:solidFill>
                      <a:srgbClr val="011F2E"/>
                    </a:solidFill>
                  </a:tcPr>
                </a:tc>
              </a:tr>
              <a:tr h="612648">
                <a:tc>
                  <a:txBody>
                    <a:bodyPr/>
                    <a:lstStyle/>
                    <a:p>
                      <a:pPr indent="0" marL="0">
                        <a:buNone/>
                      </a:pPr>
                      <a:r>
                        <a:rPr lang="en-US" sz="1200" dirty="0">
                          <a:solidFill>
                            <a:srgbClr val="FFFFFF"/>
                          </a:solidFill>
                          <a:latin typeface="Source Code Pro" pitchFamily="34" charset="0"/>
                          <a:ea typeface="Source Code Pro" pitchFamily="34" charset="-122"/>
                          <a:cs typeface="Source Code Pro" pitchFamily="34" charset="-120"/>
                        </a:rPr>
                        <a:t>Update</a:t>
                      </a:r>
                      <a:endParaRPr lang="en-US" sz="1200" dirty="0">
                        <a:latin typeface="Source Code Pro" charset="0"/>
                        <a:ea typeface="Source Code Pro" charset="0"/>
                        <a:cs typeface="Source Code Pro" charset="0"/>
                      </a:endParaRPr>
                    </a:p>
                  </a:txBody>
                  <a:tcPr marL="91440" marR="91440" marT="45720" marB="45720">
                    <a:lnL w="12700" cap="flat" cmpd="sng" algn="ctr">
                      <a:solidFill>
                        <a:srgbClr val="012A3A"/>
                      </a:solidFill>
                      <a:prstDash val="solid"/>
                      <a:round/>
                      <a:headEnd type="none" w="med" len="med"/>
                      <a:tailEnd type="none" w="med" len="med"/>
                    </a:lnL>
                    <a:lnR w="12700" cap="flat" cmpd="sng" algn="ctr">
                      <a:solidFill>
                        <a:srgbClr val="012A3A"/>
                      </a:solidFill>
                      <a:prstDash val="solid"/>
                      <a:round/>
                      <a:headEnd type="none" w="med" len="med"/>
                      <a:tailEnd type="none" w="med" len="med"/>
                    </a:lnR>
                    <a:lnT w="12700" cap="flat" cmpd="sng" algn="ctr">
                      <a:solidFill>
                        <a:srgbClr val="012A3A"/>
                      </a:solidFill>
                      <a:prstDash val="solid"/>
                      <a:round/>
                      <a:headEnd type="none" w="med" len="med"/>
                      <a:tailEnd type="none" w="med" len="med"/>
                    </a:lnT>
                    <a:lnB w="12700" cap="flat" cmpd="sng" algn="ctr">
                      <a:solidFill>
                        <a:srgbClr val="012A3A"/>
                      </a:solidFill>
                      <a:prstDash val="solid"/>
                      <a:round/>
                      <a:headEnd type="none" w="med" len="med"/>
                      <a:tailEnd type="none" w="med" len="med"/>
                    </a:lnB>
                    <a:solidFill>
                      <a:srgbClr val="023430"/>
                    </a:solidFill>
                  </a:tcPr>
                </a:tc>
                <a:tc>
                  <a:txBody>
                    <a:bodyPr/>
                    <a:lstStyle/>
                    <a:p>
                      <a:pPr indent="0" marL="0">
                        <a:buNone/>
                      </a:pPr>
                      <a:r>
                        <a:rPr lang="en-US" sz="1200" dirty="0">
                          <a:solidFill>
                            <a:srgbClr val="FFFFFF"/>
                          </a:solidFill>
                          <a:latin typeface="Source Code Pro" pitchFamily="34" charset="0"/>
                          <a:ea typeface="Source Code Pro" pitchFamily="34" charset="-122"/>
                          <a:cs typeface="Source Code Pro" pitchFamily="34" charset="-120"/>
                        </a:rPr>
                        <a:t>UPDATE users SET name='Bob' WHERE id=1</a:t>
                      </a:r>
                      <a:endParaRPr lang="en-US" sz="1200" dirty="0">
                        <a:latin typeface="Source Code Pro" charset="0"/>
                        <a:ea typeface="Source Code Pro" charset="0"/>
                        <a:cs typeface="Source Code Pro" charset="0"/>
                      </a:endParaRPr>
                    </a:p>
                  </a:txBody>
                  <a:tcPr marL="91440" marR="91440" marT="45720" marB="45720">
                    <a:lnL w="12700" cap="flat" cmpd="sng" algn="ctr">
                      <a:solidFill>
                        <a:srgbClr val="012A3A"/>
                      </a:solidFill>
                      <a:prstDash val="solid"/>
                      <a:round/>
                      <a:headEnd type="none" w="med" len="med"/>
                      <a:tailEnd type="none" w="med" len="med"/>
                    </a:lnL>
                    <a:lnR w="12700" cap="flat" cmpd="sng" algn="ctr">
                      <a:solidFill>
                        <a:srgbClr val="012A3A"/>
                      </a:solidFill>
                      <a:prstDash val="solid"/>
                      <a:round/>
                      <a:headEnd type="none" w="med" len="med"/>
                      <a:tailEnd type="none" w="med" len="med"/>
                    </a:lnR>
                    <a:lnT w="12700" cap="flat" cmpd="sng" algn="ctr">
                      <a:solidFill>
                        <a:srgbClr val="012A3A"/>
                      </a:solidFill>
                      <a:prstDash val="solid"/>
                      <a:round/>
                      <a:headEnd type="none" w="med" len="med"/>
                      <a:tailEnd type="none" w="med" len="med"/>
                    </a:lnT>
                    <a:lnB w="12700" cap="flat" cmpd="sng" algn="ctr">
                      <a:solidFill>
                        <a:srgbClr val="012A3A"/>
                      </a:solidFill>
                      <a:prstDash val="solid"/>
                      <a:round/>
                      <a:headEnd type="none" w="med" len="med"/>
                      <a:tailEnd type="none" w="med" len="med"/>
                    </a:lnB>
                    <a:solidFill>
                      <a:srgbClr val="023430"/>
                    </a:solidFill>
                  </a:tcPr>
                </a:tc>
                <a:tc>
                  <a:txBody>
                    <a:bodyPr/>
                    <a:lstStyle/>
                    <a:p>
                      <a:pPr indent="0" marL="0">
                        <a:buNone/>
                      </a:pPr>
                      <a:r>
                        <a:rPr lang="en-US" sz="1200" dirty="0">
                          <a:solidFill>
                            <a:srgbClr val="00ED64"/>
                          </a:solidFill>
                          <a:latin typeface="Source Code Pro" pitchFamily="34" charset="0"/>
                          <a:ea typeface="Source Code Pro" pitchFamily="34" charset="-122"/>
                          <a:cs typeface="Source Code Pro" pitchFamily="34" charset="-120"/>
                        </a:rPr>
                        <a:t>db.users.updateOne({_id:1},{$set:{name:"Bob"}})</a:t>
                      </a:r>
                      <a:endParaRPr lang="en-US" sz="1200" dirty="0">
                        <a:latin typeface="Source Code Pro" charset="0"/>
                        <a:ea typeface="Source Code Pro" charset="0"/>
                        <a:cs typeface="Source Code Pro" charset="0"/>
                      </a:endParaRPr>
                    </a:p>
                  </a:txBody>
                  <a:tcPr marL="91440" marR="91440" marT="45720" marB="45720">
                    <a:lnL w="12700" cap="flat" cmpd="sng" algn="ctr">
                      <a:solidFill>
                        <a:srgbClr val="012A3A"/>
                      </a:solidFill>
                      <a:prstDash val="solid"/>
                      <a:round/>
                      <a:headEnd type="none" w="med" len="med"/>
                      <a:tailEnd type="none" w="med" len="med"/>
                    </a:lnL>
                    <a:lnR w="12700" cap="flat" cmpd="sng" algn="ctr">
                      <a:solidFill>
                        <a:srgbClr val="012A3A"/>
                      </a:solidFill>
                      <a:prstDash val="solid"/>
                      <a:round/>
                      <a:headEnd type="none" w="med" len="med"/>
                      <a:tailEnd type="none" w="med" len="med"/>
                    </a:lnR>
                    <a:lnT w="12700" cap="flat" cmpd="sng" algn="ctr">
                      <a:solidFill>
                        <a:srgbClr val="012A3A"/>
                      </a:solidFill>
                      <a:prstDash val="solid"/>
                      <a:round/>
                      <a:headEnd type="none" w="med" len="med"/>
                      <a:tailEnd type="none" w="med" len="med"/>
                    </a:lnT>
                    <a:lnB w="12700" cap="flat" cmpd="sng" algn="ctr">
                      <a:solidFill>
                        <a:srgbClr val="012A3A"/>
                      </a:solidFill>
                      <a:prstDash val="solid"/>
                      <a:round/>
                      <a:headEnd type="none" w="med" len="med"/>
                      <a:tailEnd type="none" w="med" len="med"/>
                    </a:lnB>
                    <a:solidFill>
                      <a:srgbClr val="023430"/>
                    </a:solidFill>
                  </a:tcPr>
                </a:tc>
              </a:tr>
              <a:tr h="612648">
                <a:tc>
                  <a:txBody>
                    <a:bodyPr/>
                    <a:lstStyle/>
                    <a:p>
                      <a:pPr indent="0" marL="0">
                        <a:buNone/>
                      </a:pPr>
                      <a:r>
                        <a:rPr lang="en-US" sz="1200" dirty="0">
                          <a:solidFill>
                            <a:srgbClr val="FFFFFF"/>
                          </a:solidFill>
                          <a:latin typeface="Source Code Pro" pitchFamily="34" charset="0"/>
                          <a:ea typeface="Source Code Pro" pitchFamily="34" charset="-122"/>
                          <a:cs typeface="Source Code Pro" pitchFamily="34" charset="-120"/>
                        </a:rPr>
                        <a:t>Delete</a:t>
                      </a:r>
                      <a:endParaRPr lang="en-US" sz="1200" dirty="0">
                        <a:latin typeface="Source Code Pro" charset="0"/>
                        <a:ea typeface="Source Code Pro" charset="0"/>
                        <a:cs typeface="Source Code Pro" charset="0"/>
                      </a:endParaRPr>
                    </a:p>
                  </a:txBody>
                  <a:tcPr marL="91440" marR="91440" marT="45720" marB="45720">
                    <a:lnL w="12700" cap="flat" cmpd="sng" algn="ctr">
                      <a:solidFill>
                        <a:srgbClr val="012A3A"/>
                      </a:solidFill>
                      <a:prstDash val="solid"/>
                      <a:round/>
                      <a:headEnd type="none" w="med" len="med"/>
                      <a:tailEnd type="none" w="med" len="med"/>
                    </a:lnL>
                    <a:lnR w="12700" cap="flat" cmpd="sng" algn="ctr">
                      <a:solidFill>
                        <a:srgbClr val="012A3A"/>
                      </a:solidFill>
                      <a:prstDash val="solid"/>
                      <a:round/>
                      <a:headEnd type="none" w="med" len="med"/>
                      <a:tailEnd type="none" w="med" len="med"/>
                    </a:lnR>
                    <a:lnT w="12700" cap="flat" cmpd="sng" algn="ctr">
                      <a:solidFill>
                        <a:srgbClr val="012A3A"/>
                      </a:solidFill>
                      <a:prstDash val="solid"/>
                      <a:round/>
                      <a:headEnd type="none" w="med" len="med"/>
                      <a:tailEnd type="none" w="med" len="med"/>
                    </a:lnT>
                    <a:lnB w="12700" cap="flat" cmpd="sng" algn="ctr">
                      <a:solidFill>
                        <a:srgbClr val="012A3A"/>
                      </a:solidFill>
                      <a:prstDash val="solid"/>
                      <a:round/>
                      <a:headEnd type="none" w="med" len="med"/>
                      <a:tailEnd type="none" w="med" len="med"/>
                    </a:lnB>
                    <a:solidFill>
                      <a:srgbClr val="011F2E"/>
                    </a:solidFill>
                  </a:tcPr>
                </a:tc>
                <a:tc>
                  <a:txBody>
                    <a:bodyPr/>
                    <a:lstStyle/>
                    <a:p>
                      <a:pPr indent="0" marL="0">
                        <a:buNone/>
                      </a:pPr>
                      <a:r>
                        <a:rPr lang="en-US" sz="1200" dirty="0">
                          <a:solidFill>
                            <a:srgbClr val="FFFFFF"/>
                          </a:solidFill>
                          <a:latin typeface="Source Code Pro" pitchFamily="34" charset="0"/>
                          <a:ea typeface="Source Code Pro" pitchFamily="34" charset="-122"/>
                          <a:cs typeface="Source Code Pro" pitchFamily="34" charset="-120"/>
                        </a:rPr>
                        <a:t>DELETE FROM users WHERE id=1</a:t>
                      </a:r>
                      <a:endParaRPr lang="en-US" sz="1200" dirty="0">
                        <a:latin typeface="Source Code Pro" charset="0"/>
                        <a:ea typeface="Source Code Pro" charset="0"/>
                        <a:cs typeface="Source Code Pro" charset="0"/>
                      </a:endParaRPr>
                    </a:p>
                  </a:txBody>
                  <a:tcPr marL="91440" marR="91440" marT="45720" marB="45720">
                    <a:lnL w="12700" cap="flat" cmpd="sng" algn="ctr">
                      <a:solidFill>
                        <a:srgbClr val="012A3A"/>
                      </a:solidFill>
                      <a:prstDash val="solid"/>
                      <a:round/>
                      <a:headEnd type="none" w="med" len="med"/>
                      <a:tailEnd type="none" w="med" len="med"/>
                    </a:lnL>
                    <a:lnR w="12700" cap="flat" cmpd="sng" algn="ctr">
                      <a:solidFill>
                        <a:srgbClr val="012A3A"/>
                      </a:solidFill>
                      <a:prstDash val="solid"/>
                      <a:round/>
                      <a:headEnd type="none" w="med" len="med"/>
                      <a:tailEnd type="none" w="med" len="med"/>
                    </a:lnR>
                    <a:lnT w="12700" cap="flat" cmpd="sng" algn="ctr">
                      <a:solidFill>
                        <a:srgbClr val="012A3A"/>
                      </a:solidFill>
                      <a:prstDash val="solid"/>
                      <a:round/>
                      <a:headEnd type="none" w="med" len="med"/>
                      <a:tailEnd type="none" w="med" len="med"/>
                    </a:lnT>
                    <a:lnB w="12700" cap="flat" cmpd="sng" algn="ctr">
                      <a:solidFill>
                        <a:srgbClr val="012A3A"/>
                      </a:solidFill>
                      <a:prstDash val="solid"/>
                      <a:round/>
                      <a:headEnd type="none" w="med" len="med"/>
                      <a:tailEnd type="none" w="med" len="med"/>
                    </a:lnB>
                    <a:solidFill>
                      <a:srgbClr val="011F2E"/>
                    </a:solidFill>
                  </a:tcPr>
                </a:tc>
                <a:tc>
                  <a:txBody>
                    <a:bodyPr/>
                    <a:lstStyle/>
                    <a:p>
                      <a:pPr indent="0" marL="0">
                        <a:buNone/>
                      </a:pPr>
                      <a:r>
                        <a:rPr lang="en-US" sz="1200" dirty="0">
                          <a:solidFill>
                            <a:srgbClr val="00ED64"/>
                          </a:solidFill>
                          <a:latin typeface="Source Code Pro" pitchFamily="34" charset="0"/>
                          <a:ea typeface="Source Code Pro" pitchFamily="34" charset="-122"/>
                          <a:cs typeface="Source Code Pro" pitchFamily="34" charset="-120"/>
                        </a:rPr>
                        <a:t>db.users.deleteOne({ _id: ObjectId('...') })</a:t>
                      </a:r>
                      <a:endParaRPr lang="en-US" sz="1200" dirty="0">
                        <a:latin typeface="Source Code Pro" charset="0"/>
                        <a:ea typeface="Source Code Pro" charset="0"/>
                        <a:cs typeface="Source Code Pro" charset="0"/>
                      </a:endParaRPr>
                    </a:p>
                  </a:txBody>
                  <a:tcPr marL="91440" marR="91440" marT="45720" marB="45720">
                    <a:lnL w="12700" cap="flat" cmpd="sng" algn="ctr">
                      <a:solidFill>
                        <a:srgbClr val="012A3A"/>
                      </a:solidFill>
                      <a:prstDash val="solid"/>
                      <a:round/>
                      <a:headEnd type="none" w="med" len="med"/>
                      <a:tailEnd type="none" w="med" len="med"/>
                    </a:lnL>
                    <a:lnR w="12700" cap="flat" cmpd="sng" algn="ctr">
                      <a:solidFill>
                        <a:srgbClr val="012A3A"/>
                      </a:solidFill>
                      <a:prstDash val="solid"/>
                      <a:round/>
                      <a:headEnd type="none" w="med" len="med"/>
                      <a:tailEnd type="none" w="med" len="med"/>
                    </a:lnR>
                    <a:lnT w="12700" cap="flat" cmpd="sng" algn="ctr">
                      <a:solidFill>
                        <a:srgbClr val="012A3A"/>
                      </a:solidFill>
                      <a:prstDash val="solid"/>
                      <a:round/>
                      <a:headEnd type="none" w="med" len="med"/>
                      <a:tailEnd type="none" w="med" len="med"/>
                    </a:lnT>
                    <a:lnB w="12700" cap="flat" cmpd="sng" algn="ctr">
                      <a:solidFill>
                        <a:srgbClr val="012A3A"/>
                      </a:solidFill>
                      <a:prstDash val="solid"/>
                      <a:round/>
                      <a:headEnd type="none" w="med" len="med"/>
                      <a:tailEnd type="none" w="med" len="med"/>
                    </a:lnB>
                    <a:solidFill>
                      <a:srgbClr val="011F2E"/>
                    </a:solidFill>
                  </a:tcPr>
                </a:tc>
              </a:tr>
              <a:tr h="612648">
                <a:tc>
                  <a:txBody>
                    <a:bodyPr/>
                    <a:lstStyle/>
                    <a:p>
                      <a:pPr indent="0" marL="0">
                        <a:buNone/>
                      </a:pPr>
                      <a:r>
                        <a:rPr lang="en-US" sz="1200" dirty="0">
                          <a:solidFill>
                            <a:srgbClr val="FFFFFF"/>
                          </a:solidFill>
                          <a:latin typeface="Source Code Pro" pitchFamily="34" charset="0"/>
                          <a:ea typeface="Source Code Pro" pitchFamily="34" charset="-122"/>
                          <a:cs typeface="Source Code Pro" pitchFamily="34" charset="-120"/>
                        </a:rPr>
                        <a:t>Count</a:t>
                      </a:r>
                      <a:endParaRPr lang="en-US" sz="1200" dirty="0">
                        <a:latin typeface="Source Code Pro" charset="0"/>
                        <a:ea typeface="Source Code Pro" charset="0"/>
                        <a:cs typeface="Source Code Pro" charset="0"/>
                      </a:endParaRPr>
                    </a:p>
                  </a:txBody>
                  <a:tcPr marL="91440" marR="91440" marT="45720" marB="45720">
                    <a:lnL w="12700" cap="flat" cmpd="sng" algn="ctr">
                      <a:solidFill>
                        <a:srgbClr val="012A3A"/>
                      </a:solidFill>
                      <a:prstDash val="solid"/>
                      <a:round/>
                      <a:headEnd type="none" w="med" len="med"/>
                      <a:tailEnd type="none" w="med" len="med"/>
                    </a:lnL>
                    <a:lnR w="12700" cap="flat" cmpd="sng" algn="ctr">
                      <a:solidFill>
                        <a:srgbClr val="012A3A"/>
                      </a:solidFill>
                      <a:prstDash val="solid"/>
                      <a:round/>
                      <a:headEnd type="none" w="med" len="med"/>
                      <a:tailEnd type="none" w="med" len="med"/>
                    </a:lnR>
                    <a:lnT w="12700" cap="flat" cmpd="sng" algn="ctr">
                      <a:solidFill>
                        <a:srgbClr val="012A3A"/>
                      </a:solidFill>
                      <a:prstDash val="solid"/>
                      <a:round/>
                      <a:headEnd type="none" w="med" len="med"/>
                      <a:tailEnd type="none" w="med" len="med"/>
                    </a:lnT>
                    <a:lnB w="12700" cap="flat" cmpd="sng" algn="ctr">
                      <a:solidFill>
                        <a:srgbClr val="012A3A"/>
                      </a:solidFill>
                      <a:prstDash val="solid"/>
                      <a:round/>
                      <a:headEnd type="none" w="med" len="med"/>
                      <a:tailEnd type="none" w="med" len="med"/>
                    </a:lnB>
                    <a:solidFill>
                      <a:srgbClr val="023430"/>
                    </a:solidFill>
                  </a:tcPr>
                </a:tc>
                <a:tc>
                  <a:txBody>
                    <a:bodyPr/>
                    <a:lstStyle/>
                    <a:p>
                      <a:pPr indent="0" marL="0">
                        <a:buNone/>
                      </a:pPr>
                      <a:r>
                        <a:rPr lang="en-US" sz="1200" dirty="0">
                          <a:solidFill>
                            <a:srgbClr val="FFFFFF"/>
                          </a:solidFill>
                          <a:latin typeface="Source Code Pro" pitchFamily="34" charset="0"/>
                          <a:ea typeface="Source Code Pro" pitchFamily="34" charset="-122"/>
                          <a:cs typeface="Source Code Pro" pitchFamily="34" charset="-120"/>
                        </a:rPr>
                        <a:t>SELECT COUNT(*) FROM users WHERE active=1</a:t>
                      </a:r>
                      <a:endParaRPr lang="en-US" sz="1200" dirty="0">
                        <a:latin typeface="Source Code Pro" charset="0"/>
                        <a:ea typeface="Source Code Pro" charset="0"/>
                        <a:cs typeface="Source Code Pro" charset="0"/>
                      </a:endParaRPr>
                    </a:p>
                  </a:txBody>
                  <a:tcPr marL="91440" marR="91440" marT="45720" marB="45720">
                    <a:lnL w="12700" cap="flat" cmpd="sng" algn="ctr">
                      <a:solidFill>
                        <a:srgbClr val="012A3A"/>
                      </a:solidFill>
                      <a:prstDash val="solid"/>
                      <a:round/>
                      <a:headEnd type="none" w="med" len="med"/>
                      <a:tailEnd type="none" w="med" len="med"/>
                    </a:lnL>
                    <a:lnR w="12700" cap="flat" cmpd="sng" algn="ctr">
                      <a:solidFill>
                        <a:srgbClr val="012A3A"/>
                      </a:solidFill>
                      <a:prstDash val="solid"/>
                      <a:round/>
                      <a:headEnd type="none" w="med" len="med"/>
                      <a:tailEnd type="none" w="med" len="med"/>
                    </a:lnR>
                    <a:lnT w="12700" cap="flat" cmpd="sng" algn="ctr">
                      <a:solidFill>
                        <a:srgbClr val="012A3A"/>
                      </a:solidFill>
                      <a:prstDash val="solid"/>
                      <a:round/>
                      <a:headEnd type="none" w="med" len="med"/>
                      <a:tailEnd type="none" w="med" len="med"/>
                    </a:lnT>
                    <a:lnB w="12700" cap="flat" cmpd="sng" algn="ctr">
                      <a:solidFill>
                        <a:srgbClr val="012A3A"/>
                      </a:solidFill>
                      <a:prstDash val="solid"/>
                      <a:round/>
                      <a:headEnd type="none" w="med" len="med"/>
                      <a:tailEnd type="none" w="med" len="med"/>
                    </a:lnB>
                    <a:solidFill>
                      <a:srgbClr val="023430"/>
                    </a:solidFill>
                  </a:tcPr>
                </a:tc>
                <a:tc>
                  <a:txBody>
                    <a:bodyPr/>
                    <a:lstStyle/>
                    <a:p>
                      <a:pPr indent="0" marL="0">
                        <a:buNone/>
                      </a:pPr>
                      <a:r>
                        <a:rPr lang="en-US" sz="1200" dirty="0">
                          <a:solidFill>
                            <a:srgbClr val="00ED64"/>
                          </a:solidFill>
                          <a:latin typeface="Source Code Pro" pitchFamily="34" charset="0"/>
                          <a:ea typeface="Source Code Pro" pitchFamily="34" charset="-122"/>
                          <a:cs typeface="Source Code Pro" pitchFamily="34" charset="-120"/>
                        </a:rPr>
                        <a:t>db.users.countDocuments({ active:1 })</a:t>
                      </a:r>
                      <a:endParaRPr lang="en-US" sz="1200" dirty="0">
                        <a:latin typeface="Source Code Pro" charset="0"/>
                        <a:ea typeface="Source Code Pro" charset="0"/>
                        <a:cs typeface="Source Code Pro" charset="0"/>
                      </a:endParaRPr>
                    </a:p>
                  </a:txBody>
                  <a:tcPr marL="91440" marR="91440" marT="45720" marB="45720">
                    <a:lnL w="12700" cap="flat" cmpd="sng" algn="ctr">
                      <a:solidFill>
                        <a:srgbClr val="012A3A"/>
                      </a:solidFill>
                      <a:prstDash val="solid"/>
                      <a:round/>
                      <a:headEnd type="none" w="med" len="med"/>
                      <a:tailEnd type="none" w="med" len="med"/>
                    </a:lnL>
                    <a:lnR w="12700" cap="flat" cmpd="sng" algn="ctr">
                      <a:solidFill>
                        <a:srgbClr val="012A3A"/>
                      </a:solidFill>
                      <a:prstDash val="solid"/>
                      <a:round/>
                      <a:headEnd type="none" w="med" len="med"/>
                      <a:tailEnd type="none" w="med" len="med"/>
                    </a:lnR>
                    <a:lnT w="12700" cap="flat" cmpd="sng" algn="ctr">
                      <a:solidFill>
                        <a:srgbClr val="012A3A"/>
                      </a:solidFill>
                      <a:prstDash val="solid"/>
                      <a:round/>
                      <a:headEnd type="none" w="med" len="med"/>
                      <a:tailEnd type="none" w="med" len="med"/>
                    </a:lnT>
                    <a:lnB w="12700" cap="flat" cmpd="sng" algn="ctr">
                      <a:solidFill>
                        <a:srgbClr val="012A3A"/>
                      </a:solidFill>
                      <a:prstDash val="solid"/>
                      <a:round/>
                      <a:headEnd type="none" w="med" len="med"/>
                      <a:tailEnd type="none" w="med" len="med"/>
                    </a:lnB>
                    <a:solidFill>
                      <a:srgbClr val="023430"/>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1E2B"/>
        </a:solidFill>
      </p:bgPr>
    </p:bg>
    <p:spTree>
      <p:nvGrpSpPr>
        <p:cNvPr id="1" name=""/>
        <p:cNvGrpSpPr/>
        <p:nvPr/>
      </p:nvGrpSpPr>
      <p:grpSpPr>
        <a:xfrm>
          <a:off x="0" y="0"/>
          <a:ext cx="0" cy="0"/>
          <a:chOff x="0" y="0"/>
          <a:chExt cx="0" cy="0"/>
        </a:xfrm>
      </p:grpSpPr>
      <p:sp>
        <p:nvSpPr>
          <p:cNvPr id="2" name="Shape 0"/>
          <p:cNvSpPr/>
          <p:nvPr/>
        </p:nvSpPr>
        <p:spPr>
          <a:xfrm>
            <a:off x="0" y="6656832"/>
            <a:ext cx="12188952" cy="201168"/>
          </a:xfrm>
          <a:prstGeom prst="rect">
            <a:avLst/>
          </a:prstGeom>
          <a:solidFill>
            <a:srgbClr val="00ED64"/>
          </a:solidFill>
          <a:ln w="12700">
            <a:solidFill>
              <a:srgbClr val="00ED64"/>
            </a:solidFill>
            <a:prstDash val="solid"/>
          </a:ln>
        </p:spPr>
      </p:sp>
      <p:sp>
        <p:nvSpPr>
          <p:cNvPr id="3" name="Text 1"/>
          <p:cNvSpPr/>
          <p:nvPr/>
        </p:nvSpPr>
        <p:spPr>
          <a:xfrm>
            <a:off x="566928" y="201168"/>
            <a:ext cx="11055096" cy="594360"/>
          </a:xfrm>
          <a:prstGeom prst="rect">
            <a:avLst/>
          </a:prstGeom>
          <a:noFill/>
          <a:ln/>
        </p:spPr>
        <p:txBody>
          <a:bodyPr wrap="square" lIns="0" tIns="0" rIns="0" bIns="0" rtlCol="0" anchor="ctr"/>
          <a:lstStyle/>
          <a:p>
            <a:pPr indent="0" marL="0">
              <a:buNone/>
            </a:pPr>
            <a:r>
              <a:rPr lang="en-US" sz="3000" b="1" dirty="0">
                <a:solidFill>
                  <a:srgbClr val="FFFFFF"/>
                </a:solidFill>
                <a:latin typeface="Lexend Deca" pitchFamily="34" charset="0"/>
                <a:ea typeface="Lexend Deca" pitchFamily="34" charset="-122"/>
                <a:cs typeface="Lexend Deca" pitchFamily="34" charset="-120"/>
              </a:rPr>
              <a:t>Filter Operators — SQL Equivalents</a:t>
            </a:r>
            <a:endParaRPr lang="en-US" sz="3000" dirty="0"/>
          </a:p>
        </p:txBody>
      </p:sp>
      <p:sp>
        <p:nvSpPr>
          <p:cNvPr id="4" name="Shape 2"/>
          <p:cNvSpPr/>
          <p:nvPr/>
        </p:nvSpPr>
        <p:spPr>
          <a:xfrm>
            <a:off x="566928" y="822960"/>
            <a:ext cx="1280160" cy="54864"/>
          </a:xfrm>
          <a:prstGeom prst="rect">
            <a:avLst/>
          </a:prstGeom>
          <a:solidFill>
            <a:srgbClr val="00ED64"/>
          </a:solidFill>
          <a:ln w="12700">
            <a:solidFill>
              <a:srgbClr val="00ED64"/>
            </a:solidFill>
            <a:prstDash val="solid"/>
          </a:ln>
        </p:spPr>
      </p:sp>
      <p:sp>
        <p:nvSpPr>
          <p:cNvPr id="5" name="Shape 3"/>
          <p:cNvSpPr/>
          <p:nvPr/>
        </p:nvSpPr>
        <p:spPr>
          <a:xfrm>
            <a:off x="566928" y="987552"/>
            <a:ext cx="5650992" cy="1298448"/>
          </a:xfrm>
          <a:prstGeom prst="rect">
            <a:avLst/>
          </a:prstGeom>
          <a:solidFill>
            <a:srgbClr val="023430"/>
          </a:solidFill>
          <a:ln w="12700">
            <a:solidFill>
              <a:srgbClr val="023A50"/>
            </a:solidFill>
            <a:prstDash val="solid"/>
          </a:ln>
        </p:spPr>
      </p:sp>
      <p:sp>
        <p:nvSpPr>
          <p:cNvPr id="6" name="Text 4"/>
          <p:cNvSpPr/>
          <p:nvPr/>
        </p:nvSpPr>
        <p:spPr>
          <a:xfrm>
            <a:off x="704088" y="1060704"/>
            <a:ext cx="1463040" cy="530352"/>
          </a:xfrm>
          <a:prstGeom prst="rect">
            <a:avLst/>
          </a:prstGeom>
          <a:noFill/>
          <a:ln/>
        </p:spPr>
        <p:txBody>
          <a:bodyPr wrap="square" lIns="0" tIns="0" rIns="0" bIns="0" rtlCol="0" anchor="ctr"/>
          <a:lstStyle/>
          <a:p>
            <a:pPr indent="0" marL="0">
              <a:buNone/>
            </a:pPr>
            <a:r>
              <a:rPr lang="en-US" sz="2000" b="1" dirty="0">
                <a:solidFill>
                  <a:srgbClr val="00ED64"/>
                </a:solidFill>
                <a:latin typeface="Source Code Pro" pitchFamily="34" charset="0"/>
                <a:ea typeface="Source Code Pro" pitchFamily="34" charset="-122"/>
                <a:cs typeface="Source Code Pro" pitchFamily="34" charset="-120"/>
              </a:rPr>
              <a:t>$eq</a:t>
            </a:r>
            <a:endParaRPr lang="en-US" sz="2000" dirty="0"/>
          </a:p>
        </p:txBody>
      </p:sp>
      <p:sp>
        <p:nvSpPr>
          <p:cNvPr id="7" name="Text 5"/>
          <p:cNvSpPr/>
          <p:nvPr/>
        </p:nvSpPr>
        <p:spPr>
          <a:xfrm>
            <a:off x="2258568" y="1078992"/>
            <a:ext cx="3840480" cy="457200"/>
          </a:xfrm>
          <a:prstGeom prst="rect">
            <a:avLst/>
          </a:prstGeom>
          <a:noFill/>
          <a:ln/>
        </p:spPr>
        <p:txBody>
          <a:bodyPr wrap="square" lIns="0" tIns="0" rIns="0" bIns="0" rtlCol="0" anchor="ctr"/>
          <a:lstStyle/>
          <a:p>
            <a:pPr indent="0" marL="0">
              <a:buNone/>
            </a:pPr>
            <a:r>
              <a:rPr lang="en-US" sz="1400" dirty="0">
                <a:solidFill>
                  <a:srgbClr val="B8C4C2"/>
                </a:solidFill>
                <a:latin typeface="Lexend Deca" pitchFamily="34" charset="0"/>
                <a:ea typeface="Lexend Deca" pitchFamily="34" charset="-122"/>
                <a:cs typeface="Lexend Deca" pitchFamily="34" charset="-120"/>
              </a:rPr>
              <a:t>≈ = value</a:t>
            </a:r>
            <a:endParaRPr lang="en-US" sz="1400" dirty="0"/>
          </a:p>
        </p:txBody>
      </p:sp>
      <p:sp>
        <p:nvSpPr>
          <p:cNvPr id="8" name="Text 6"/>
          <p:cNvSpPr/>
          <p:nvPr/>
        </p:nvSpPr>
        <p:spPr>
          <a:xfrm>
            <a:off x="704088" y="1645920"/>
            <a:ext cx="5376672" cy="548640"/>
          </a:xfrm>
          <a:prstGeom prst="rect">
            <a:avLst/>
          </a:prstGeom>
          <a:noFill/>
          <a:ln/>
        </p:spPr>
        <p:txBody>
          <a:bodyPr wrap="square" lIns="0" tIns="0" rIns="0" bIns="0" rtlCol="0" anchor="ctr"/>
          <a:lstStyle/>
          <a:p>
            <a:pPr indent="0" marL="0">
              <a:buNone/>
            </a:pPr>
            <a:r>
              <a:rPr lang="en-US" sz="1150" dirty="0">
                <a:solidFill>
                  <a:srgbClr val="AADDCC"/>
                </a:solidFill>
                <a:latin typeface="Source Code Pro" pitchFamily="34" charset="0"/>
                <a:ea typeface="Source Code Pro" pitchFamily="34" charset="-122"/>
                <a:cs typeface="Source Code Pro" pitchFamily="34" charset="-120"/>
              </a:rPr>
              <a:t>{ age: { $eq: 25 } }  // same as { age: 25 }</a:t>
            </a:r>
            <a:endParaRPr lang="en-US" sz="1150" dirty="0"/>
          </a:p>
        </p:txBody>
      </p:sp>
      <p:sp>
        <p:nvSpPr>
          <p:cNvPr id="9" name="Shape 7"/>
          <p:cNvSpPr/>
          <p:nvPr/>
        </p:nvSpPr>
        <p:spPr>
          <a:xfrm>
            <a:off x="566928" y="2377440"/>
            <a:ext cx="5650992" cy="1298448"/>
          </a:xfrm>
          <a:prstGeom prst="rect">
            <a:avLst/>
          </a:prstGeom>
          <a:solidFill>
            <a:srgbClr val="023430"/>
          </a:solidFill>
          <a:ln w="12700">
            <a:solidFill>
              <a:srgbClr val="023A50"/>
            </a:solidFill>
            <a:prstDash val="solid"/>
          </a:ln>
        </p:spPr>
      </p:sp>
      <p:sp>
        <p:nvSpPr>
          <p:cNvPr id="10" name="Text 8"/>
          <p:cNvSpPr/>
          <p:nvPr/>
        </p:nvSpPr>
        <p:spPr>
          <a:xfrm>
            <a:off x="704088" y="2450592"/>
            <a:ext cx="1463040" cy="530352"/>
          </a:xfrm>
          <a:prstGeom prst="rect">
            <a:avLst/>
          </a:prstGeom>
          <a:noFill/>
          <a:ln/>
        </p:spPr>
        <p:txBody>
          <a:bodyPr wrap="square" lIns="0" tIns="0" rIns="0" bIns="0" rtlCol="0" anchor="ctr"/>
          <a:lstStyle/>
          <a:p>
            <a:pPr indent="0" marL="0">
              <a:buNone/>
            </a:pPr>
            <a:r>
              <a:rPr lang="en-US" sz="2000" b="1" dirty="0">
                <a:solidFill>
                  <a:srgbClr val="00ED64"/>
                </a:solidFill>
                <a:latin typeface="Source Code Pro" pitchFamily="34" charset="0"/>
                <a:ea typeface="Source Code Pro" pitchFamily="34" charset="-122"/>
                <a:cs typeface="Source Code Pro" pitchFamily="34" charset="-120"/>
              </a:rPr>
              <a:t>$gt/$lt</a:t>
            </a:r>
            <a:endParaRPr lang="en-US" sz="2000" dirty="0"/>
          </a:p>
        </p:txBody>
      </p:sp>
      <p:sp>
        <p:nvSpPr>
          <p:cNvPr id="11" name="Text 9"/>
          <p:cNvSpPr/>
          <p:nvPr/>
        </p:nvSpPr>
        <p:spPr>
          <a:xfrm>
            <a:off x="2258568" y="2468880"/>
            <a:ext cx="3840480" cy="457200"/>
          </a:xfrm>
          <a:prstGeom prst="rect">
            <a:avLst/>
          </a:prstGeom>
          <a:noFill/>
          <a:ln/>
        </p:spPr>
        <p:txBody>
          <a:bodyPr wrap="square" lIns="0" tIns="0" rIns="0" bIns="0" rtlCol="0" anchor="ctr"/>
          <a:lstStyle/>
          <a:p>
            <a:pPr indent="0" marL="0">
              <a:buNone/>
            </a:pPr>
            <a:r>
              <a:rPr lang="en-US" sz="1400" dirty="0">
                <a:solidFill>
                  <a:srgbClr val="B8C4C2"/>
                </a:solidFill>
                <a:latin typeface="Lexend Deca" pitchFamily="34" charset="0"/>
                <a:ea typeface="Lexend Deca" pitchFamily="34" charset="-122"/>
                <a:cs typeface="Lexend Deca" pitchFamily="34" charset="-120"/>
              </a:rPr>
              <a:t>≈ &gt; and &lt;</a:t>
            </a:r>
            <a:endParaRPr lang="en-US" sz="1400" dirty="0"/>
          </a:p>
        </p:txBody>
      </p:sp>
      <p:sp>
        <p:nvSpPr>
          <p:cNvPr id="12" name="Text 10"/>
          <p:cNvSpPr/>
          <p:nvPr/>
        </p:nvSpPr>
        <p:spPr>
          <a:xfrm>
            <a:off x="704088" y="3035808"/>
            <a:ext cx="5376672" cy="548640"/>
          </a:xfrm>
          <a:prstGeom prst="rect">
            <a:avLst/>
          </a:prstGeom>
          <a:noFill/>
          <a:ln/>
        </p:spPr>
        <p:txBody>
          <a:bodyPr wrap="square" lIns="0" tIns="0" rIns="0" bIns="0" rtlCol="0" anchor="ctr"/>
          <a:lstStyle/>
          <a:p>
            <a:pPr indent="0" marL="0">
              <a:buNone/>
            </a:pPr>
            <a:r>
              <a:rPr lang="en-US" sz="1150" dirty="0">
                <a:solidFill>
                  <a:srgbClr val="AADDCC"/>
                </a:solidFill>
                <a:latin typeface="Source Code Pro" pitchFamily="34" charset="0"/>
                <a:ea typeface="Source Code Pro" pitchFamily="34" charset="-122"/>
                <a:cs typeface="Source Code Pro" pitchFamily="34" charset="-120"/>
              </a:rPr>
              <a:t>{ price: { $gt: 10, $lt: 100 } }</a:t>
            </a:r>
            <a:endParaRPr lang="en-US" sz="1150" dirty="0"/>
          </a:p>
        </p:txBody>
      </p:sp>
      <p:sp>
        <p:nvSpPr>
          <p:cNvPr id="13" name="Shape 11"/>
          <p:cNvSpPr/>
          <p:nvPr/>
        </p:nvSpPr>
        <p:spPr>
          <a:xfrm>
            <a:off x="566928" y="3767328"/>
            <a:ext cx="5650992" cy="1298448"/>
          </a:xfrm>
          <a:prstGeom prst="rect">
            <a:avLst/>
          </a:prstGeom>
          <a:solidFill>
            <a:srgbClr val="023430"/>
          </a:solidFill>
          <a:ln w="12700">
            <a:solidFill>
              <a:srgbClr val="023A50"/>
            </a:solidFill>
            <a:prstDash val="solid"/>
          </a:ln>
        </p:spPr>
      </p:sp>
      <p:sp>
        <p:nvSpPr>
          <p:cNvPr id="14" name="Text 12"/>
          <p:cNvSpPr/>
          <p:nvPr/>
        </p:nvSpPr>
        <p:spPr>
          <a:xfrm>
            <a:off x="704088" y="3840480"/>
            <a:ext cx="1463040" cy="530352"/>
          </a:xfrm>
          <a:prstGeom prst="rect">
            <a:avLst/>
          </a:prstGeom>
          <a:noFill/>
          <a:ln/>
        </p:spPr>
        <p:txBody>
          <a:bodyPr wrap="square" lIns="0" tIns="0" rIns="0" bIns="0" rtlCol="0" anchor="ctr"/>
          <a:lstStyle/>
          <a:p>
            <a:pPr indent="0" marL="0">
              <a:buNone/>
            </a:pPr>
            <a:r>
              <a:rPr lang="en-US" sz="2000" b="1" dirty="0">
                <a:solidFill>
                  <a:srgbClr val="00ED64"/>
                </a:solidFill>
                <a:latin typeface="Source Code Pro" pitchFamily="34" charset="0"/>
                <a:ea typeface="Source Code Pro" pitchFamily="34" charset="-122"/>
                <a:cs typeface="Source Code Pro" pitchFamily="34" charset="-120"/>
              </a:rPr>
              <a:t>$in</a:t>
            </a:r>
            <a:endParaRPr lang="en-US" sz="2000" dirty="0"/>
          </a:p>
        </p:txBody>
      </p:sp>
      <p:sp>
        <p:nvSpPr>
          <p:cNvPr id="15" name="Text 13"/>
          <p:cNvSpPr/>
          <p:nvPr/>
        </p:nvSpPr>
        <p:spPr>
          <a:xfrm>
            <a:off x="2258568" y="3858768"/>
            <a:ext cx="3840480" cy="457200"/>
          </a:xfrm>
          <a:prstGeom prst="rect">
            <a:avLst/>
          </a:prstGeom>
          <a:noFill/>
          <a:ln/>
        </p:spPr>
        <p:txBody>
          <a:bodyPr wrap="square" lIns="0" tIns="0" rIns="0" bIns="0" rtlCol="0" anchor="ctr"/>
          <a:lstStyle/>
          <a:p>
            <a:pPr indent="0" marL="0">
              <a:buNone/>
            </a:pPr>
            <a:r>
              <a:rPr lang="en-US" sz="1400" dirty="0">
                <a:solidFill>
                  <a:srgbClr val="B8C4C2"/>
                </a:solidFill>
                <a:latin typeface="Lexend Deca" pitchFamily="34" charset="0"/>
                <a:ea typeface="Lexend Deca" pitchFamily="34" charset="-122"/>
                <a:cs typeface="Lexend Deca" pitchFamily="34" charset="-120"/>
              </a:rPr>
              <a:t>≈ IN (...)</a:t>
            </a:r>
            <a:endParaRPr lang="en-US" sz="1400" dirty="0"/>
          </a:p>
        </p:txBody>
      </p:sp>
      <p:sp>
        <p:nvSpPr>
          <p:cNvPr id="16" name="Text 14"/>
          <p:cNvSpPr/>
          <p:nvPr/>
        </p:nvSpPr>
        <p:spPr>
          <a:xfrm>
            <a:off x="704088" y="4425696"/>
            <a:ext cx="5376672" cy="548640"/>
          </a:xfrm>
          <a:prstGeom prst="rect">
            <a:avLst/>
          </a:prstGeom>
          <a:noFill/>
          <a:ln/>
        </p:spPr>
        <p:txBody>
          <a:bodyPr wrap="square" lIns="0" tIns="0" rIns="0" bIns="0" rtlCol="0" anchor="ctr"/>
          <a:lstStyle/>
          <a:p>
            <a:pPr indent="0" marL="0">
              <a:buNone/>
            </a:pPr>
            <a:r>
              <a:rPr lang="en-US" sz="1150" dirty="0">
                <a:solidFill>
                  <a:srgbClr val="AADDCC"/>
                </a:solidFill>
                <a:latin typeface="Source Code Pro" pitchFamily="34" charset="0"/>
                <a:ea typeface="Source Code Pro" pitchFamily="34" charset="-122"/>
                <a:cs typeface="Source Code Pro" pitchFamily="34" charset="-120"/>
              </a:rPr>
              <a:t>{ status: { $in: ["active","pending"] } }</a:t>
            </a:r>
            <a:endParaRPr lang="en-US" sz="1150" dirty="0"/>
          </a:p>
        </p:txBody>
      </p:sp>
      <p:sp>
        <p:nvSpPr>
          <p:cNvPr id="17" name="Shape 15"/>
          <p:cNvSpPr/>
          <p:nvPr/>
        </p:nvSpPr>
        <p:spPr>
          <a:xfrm>
            <a:off x="566928" y="5157216"/>
            <a:ext cx="5650992" cy="1298448"/>
          </a:xfrm>
          <a:prstGeom prst="rect">
            <a:avLst/>
          </a:prstGeom>
          <a:solidFill>
            <a:srgbClr val="023430"/>
          </a:solidFill>
          <a:ln w="12700">
            <a:solidFill>
              <a:srgbClr val="023A50"/>
            </a:solidFill>
            <a:prstDash val="solid"/>
          </a:ln>
        </p:spPr>
      </p:sp>
      <p:sp>
        <p:nvSpPr>
          <p:cNvPr id="18" name="Text 16"/>
          <p:cNvSpPr/>
          <p:nvPr/>
        </p:nvSpPr>
        <p:spPr>
          <a:xfrm>
            <a:off x="704088" y="5230368"/>
            <a:ext cx="1463040" cy="530352"/>
          </a:xfrm>
          <a:prstGeom prst="rect">
            <a:avLst/>
          </a:prstGeom>
          <a:noFill/>
          <a:ln/>
        </p:spPr>
        <p:txBody>
          <a:bodyPr wrap="square" lIns="0" tIns="0" rIns="0" bIns="0" rtlCol="0" anchor="ctr"/>
          <a:lstStyle/>
          <a:p>
            <a:pPr indent="0" marL="0">
              <a:buNone/>
            </a:pPr>
            <a:r>
              <a:rPr lang="en-US" sz="2000" b="1" dirty="0">
                <a:solidFill>
                  <a:srgbClr val="00ED64"/>
                </a:solidFill>
                <a:latin typeface="Source Code Pro" pitchFamily="34" charset="0"/>
                <a:ea typeface="Source Code Pro" pitchFamily="34" charset="-122"/>
                <a:cs typeface="Source Code Pro" pitchFamily="34" charset="-120"/>
              </a:rPr>
              <a:t>$ne</a:t>
            </a:r>
            <a:endParaRPr lang="en-US" sz="2000" dirty="0"/>
          </a:p>
        </p:txBody>
      </p:sp>
      <p:sp>
        <p:nvSpPr>
          <p:cNvPr id="19" name="Text 17"/>
          <p:cNvSpPr/>
          <p:nvPr/>
        </p:nvSpPr>
        <p:spPr>
          <a:xfrm>
            <a:off x="2258568" y="5248656"/>
            <a:ext cx="3840480" cy="457200"/>
          </a:xfrm>
          <a:prstGeom prst="rect">
            <a:avLst/>
          </a:prstGeom>
          <a:noFill/>
          <a:ln/>
        </p:spPr>
        <p:txBody>
          <a:bodyPr wrap="square" lIns="0" tIns="0" rIns="0" bIns="0" rtlCol="0" anchor="ctr"/>
          <a:lstStyle/>
          <a:p>
            <a:pPr indent="0" marL="0">
              <a:buNone/>
            </a:pPr>
            <a:r>
              <a:rPr lang="en-US" sz="1400" dirty="0">
                <a:solidFill>
                  <a:srgbClr val="B8C4C2"/>
                </a:solidFill>
                <a:latin typeface="Lexend Deca" pitchFamily="34" charset="0"/>
                <a:ea typeface="Lexend Deca" pitchFamily="34" charset="-122"/>
                <a:cs typeface="Lexend Deca" pitchFamily="34" charset="-120"/>
              </a:rPr>
              <a:t>≈ != value</a:t>
            </a:r>
            <a:endParaRPr lang="en-US" sz="1400" dirty="0"/>
          </a:p>
        </p:txBody>
      </p:sp>
      <p:sp>
        <p:nvSpPr>
          <p:cNvPr id="20" name="Text 18"/>
          <p:cNvSpPr/>
          <p:nvPr/>
        </p:nvSpPr>
        <p:spPr>
          <a:xfrm>
            <a:off x="704088" y="5815584"/>
            <a:ext cx="5376672" cy="548640"/>
          </a:xfrm>
          <a:prstGeom prst="rect">
            <a:avLst/>
          </a:prstGeom>
          <a:noFill/>
          <a:ln/>
        </p:spPr>
        <p:txBody>
          <a:bodyPr wrap="square" lIns="0" tIns="0" rIns="0" bIns="0" rtlCol="0" anchor="ctr"/>
          <a:lstStyle/>
          <a:p>
            <a:pPr indent="0" marL="0">
              <a:buNone/>
            </a:pPr>
            <a:r>
              <a:rPr lang="en-US" sz="1150" dirty="0">
                <a:solidFill>
                  <a:srgbClr val="AADDCC"/>
                </a:solidFill>
                <a:latin typeface="Source Code Pro" pitchFamily="34" charset="0"/>
                <a:ea typeface="Source Code Pro" pitchFamily="34" charset="-122"/>
                <a:cs typeface="Source Code Pro" pitchFamily="34" charset="-120"/>
              </a:rPr>
              <a:t>{ role: { $ne: "guest" } }</a:t>
            </a:r>
            <a:endParaRPr lang="en-US" sz="1150" dirty="0"/>
          </a:p>
        </p:txBody>
      </p:sp>
      <p:sp>
        <p:nvSpPr>
          <p:cNvPr id="21" name="Shape 19"/>
          <p:cNvSpPr/>
          <p:nvPr/>
        </p:nvSpPr>
        <p:spPr>
          <a:xfrm>
            <a:off x="6373368" y="987552"/>
            <a:ext cx="5650992" cy="1298448"/>
          </a:xfrm>
          <a:prstGeom prst="rect">
            <a:avLst/>
          </a:prstGeom>
          <a:solidFill>
            <a:srgbClr val="023430"/>
          </a:solidFill>
          <a:ln w="12700">
            <a:solidFill>
              <a:srgbClr val="023A50"/>
            </a:solidFill>
            <a:prstDash val="solid"/>
          </a:ln>
        </p:spPr>
      </p:sp>
      <p:sp>
        <p:nvSpPr>
          <p:cNvPr id="22" name="Text 20"/>
          <p:cNvSpPr/>
          <p:nvPr/>
        </p:nvSpPr>
        <p:spPr>
          <a:xfrm>
            <a:off x="6510528" y="1060704"/>
            <a:ext cx="1463040" cy="530352"/>
          </a:xfrm>
          <a:prstGeom prst="rect">
            <a:avLst/>
          </a:prstGeom>
          <a:noFill/>
          <a:ln/>
        </p:spPr>
        <p:txBody>
          <a:bodyPr wrap="square" lIns="0" tIns="0" rIns="0" bIns="0" rtlCol="0" anchor="ctr"/>
          <a:lstStyle/>
          <a:p>
            <a:pPr indent="0" marL="0">
              <a:buNone/>
            </a:pPr>
            <a:r>
              <a:rPr lang="en-US" sz="2000" b="1" dirty="0">
                <a:solidFill>
                  <a:srgbClr val="00ED64"/>
                </a:solidFill>
                <a:latin typeface="Source Code Pro" pitchFamily="34" charset="0"/>
                <a:ea typeface="Source Code Pro" pitchFamily="34" charset="-122"/>
                <a:cs typeface="Source Code Pro" pitchFamily="34" charset="-120"/>
              </a:rPr>
              <a:t>$regex</a:t>
            </a:r>
            <a:endParaRPr lang="en-US" sz="2000" dirty="0"/>
          </a:p>
        </p:txBody>
      </p:sp>
      <p:sp>
        <p:nvSpPr>
          <p:cNvPr id="23" name="Text 21"/>
          <p:cNvSpPr/>
          <p:nvPr/>
        </p:nvSpPr>
        <p:spPr>
          <a:xfrm>
            <a:off x="8065008" y="1078992"/>
            <a:ext cx="3840480" cy="457200"/>
          </a:xfrm>
          <a:prstGeom prst="rect">
            <a:avLst/>
          </a:prstGeom>
          <a:noFill/>
          <a:ln/>
        </p:spPr>
        <p:txBody>
          <a:bodyPr wrap="square" lIns="0" tIns="0" rIns="0" bIns="0" rtlCol="0" anchor="ctr"/>
          <a:lstStyle/>
          <a:p>
            <a:pPr indent="0" marL="0">
              <a:buNone/>
            </a:pPr>
            <a:r>
              <a:rPr lang="en-US" sz="1400" dirty="0">
                <a:solidFill>
                  <a:srgbClr val="B8C4C2"/>
                </a:solidFill>
                <a:latin typeface="Lexend Deca" pitchFamily="34" charset="0"/>
                <a:ea typeface="Lexend Deca" pitchFamily="34" charset="-122"/>
                <a:cs typeface="Lexend Deca" pitchFamily="34" charset="-120"/>
              </a:rPr>
              <a:t>≈ LIKE '%x%'</a:t>
            </a:r>
            <a:endParaRPr lang="en-US" sz="1400" dirty="0"/>
          </a:p>
        </p:txBody>
      </p:sp>
      <p:sp>
        <p:nvSpPr>
          <p:cNvPr id="24" name="Text 22"/>
          <p:cNvSpPr/>
          <p:nvPr/>
        </p:nvSpPr>
        <p:spPr>
          <a:xfrm>
            <a:off x="6510528" y="1645920"/>
            <a:ext cx="5376672" cy="548640"/>
          </a:xfrm>
          <a:prstGeom prst="rect">
            <a:avLst/>
          </a:prstGeom>
          <a:noFill/>
          <a:ln/>
        </p:spPr>
        <p:txBody>
          <a:bodyPr wrap="square" lIns="0" tIns="0" rIns="0" bIns="0" rtlCol="0" anchor="ctr"/>
          <a:lstStyle/>
          <a:p>
            <a:pPr indent="0" marL="0">
              <a:buNone/>
            </a:pPr>
            <a:r>
              <a:rPr lang="en-US" sz="1150" dirty="0">
                <a:solidFill>
                  <a:srgbClr val="AADDCC"/>
                </a:solidFill>
                <a:latin typeface="Source Code Pro" pitchFamily="34" charset="0"/>
                <a:ea typeface="Source Code Pro" pitchFamily="34" charset="-122"/>
                <a:cs typeface="Source Code Pro" pitchFamily="34" charset="-120"/>
              </a:rPr>
              <a:t>{ email: { $regex: /gmail\.com$/ } }</a:t>
            </a:r>
            <a:endParaRPr lang="en-US" sz="1150" dirty="0"/>
          </a:p>
        </p:txBody>
      </p:sp>
      <p:sp>
        <p:nvSpPr>
          <p:cNvPr id="25" name="Shape 23"/>
          <p:cNvSpPr/>
          <p:nvPr/>
        </p:nvSpPr>
        <p:spPr>
          <a:xfrm>
            <a:off x="6373368" y="2377440"/>
            <a:ext cx="5650992" cy="1298448"/>
          </a:xfrm>
          <a:prstGeom prst="rect">
            <a:avLst/>
          </a:prstGeom>
          <a:solidFill>
            <a:srgbClr val="023430"/>
          </a:solidFill>
          <a:ln w="12700">
            <a:solidFill>
              <a:srgbClr val="023A50"/>
            </a:solidFill>
            <a:prstDash val="solid"/>
          </a:ln>
        </p:spPr>
      </p:sp>
      <p:sp>
        <p:nvSpPr>
          <p:cNvPr id="26" name="Text 24"/>
          <p:cNvSpPr/>
          <p:nvPr/>
        </p:nvSpPr>
        <p:spPr>
          <a:xfrm>
            <a:off x="6510528" y="2450592"/>
            <a:ext cx="1463040" cy="530352"/>
          </a:xfrm>
          <a:prstGeom prst="rect">
            <a:avLst/>
          </a:prstGeom>
          <a:noFill/>
          <a:ln/>
        </p:spPr>
        <p:txBody>
          <a:bodyPr wrap="square" lIns="0" tIns="0" rIns="0" bIns="0" rtlCol="0" anchor="ctr"/>
          <a:lstStyle/>
          <a:p>
            <a:pPr indent="0" marL="0">
              <a:buNone/>
            </a:pPr>
            <a:r>
              <a:rPr lang="en-US" sz="2000" b="1" dirty="0">
                <a:solidFill>
                  <a:srgbClr val="00ED64"/>
                </a:solidFill>
                <a:latin typeface="Source Code Pro" pitchFamily="34" charset="0"/>
                <a:ea typeface="Source Code Pro" pitchFamily="34" charset="-122"/>
                <a:cs typeface="Source Code Pro" pitchFamily="34" charset="-120"/>
              </a:rPr>
              <a:t>$and</a:t>
            </a:r>
            <a:endParaRPr lang="en-US" sz="2000" dirty="0"/>
          </a:p>
        </p:txBody>
      </p:sp>
      <p:sp>
        <p:nvSpPr>
          <p:cNvPr id="27" name="Text 25"/>
          <p:cNvSpPr/>
          <p:nvPr/>
        </p:nvSpPr>
        <p:spPr>
          <a:xfrm>
            <a:off x="8065008" y="2468880"/>
            <a:ext cx="3840480" cy="457200"/>
          </a:xfrm>
          <a:prstGeom prst="rect">
            <a:avLst/>
          </a:prstGeom>
          <a:noFill/>
          <a:ln/>
        </p:spPr>
        <p:txBody>
          <a:bodyPr wrap="square" lIns="0" tIns="0" rIns="0" bIns="0" rtlCol="0" anchor="ctr"/>
          <a:lstStyle/>
          <a:p>
            <a:pPr indent="0" marL="0">
              <a:buNone/>
            </a:pPr>
            <a:r>
              <a:rPr lang="en-US" sz="1400" dirty="0">
                <a:solidFill>
                  <a:srgbClr val="B8C4C2"/>
                </a:solidFill>
                <a:latin typeface="Lexend Deca" pitchFamily="34" charset="0"/>
                <a:ea typeface="Lexend Deca" pitchFamily="34" charset="-122"/>
                <a:cs typeface="Lexend Deca" pitchFamily="34" charset="-120"/>
              </a:rPr>
              <a:t>≈ AND</a:t>
            </a:r>
            <a:endParaRPr lang="en-US" sz="1400" dirty="0"/>
          </a:p>
        </p:txBody>
      </p:sp>
      <p:sp>
        <p:nvSpPr>
          <p:cNvPr id="28" name="Text 26"/>
          <p:cNvSpPr/>
          <p:nvPr/>
        </p:nvSpPr>
        <p:spPr>
          <a:xfrm>
            <a:off x="6510528" y="3035808"/>
            <a:ext cx="5376672" cy="548640"/>
          </a:xfrm>
          <a:prstGeom prst="rect">
            <a:avLst/>
          </a:prstGeom>
          <a:noFill/>
          <a:ln/>
        </p:spPr>
        <p:txBody>
          <a:bodyPr wrap="square" lIns="0" tIns="0" rIns="0" bIns="0" rtlCol="0" anchor="ctr"/>
          <a:lstStyle/>
          <a:p>
            <a:pPr indent="0" marL="0">
              <a:buNone/>
            </a:pPr>
            <a:r>
              <a:rPr lang="en-US" sz="1150" dirty="0">
                <a:solidFill>
                  <a:srgbClr val="AADDCC"/>
                </a:solidFill>
                <a:latin typeface="Source Code Pro" pitchFamily="34" charset="0"/>
                <a:ea typeface="Source Code Pro" pitchFamily="34" charset="-122"/>
                <a:cs typeface="Source Code Pro" pitchFamily="34" charset="-120"/>
              </a:rPr>
              <a:t>{ $and: [{ age:{$gt:18} }, { active:true }] }</a:t>
            </a:r>
            <a:endParaRPr lang="en-US" sz="1150" dirty="0"/>
          </a:p>
        </p:txBody>
      </p:sp>
      <p:sp>
        <p:nvSpPr>
          <p:cNvPr id="29" name="Shape 27"/>
          <p:cNvSpPr/>
          <p:nvPr/>
        </p:nvSpPr>
        <p:spPr>
          <a:xfrm>
            <a:off x="6373368" y="3767328"/>
            <a:ext cx="5650992" cy="1298448"/>
          </a:xfrm>
          <a:prstGeom prst="rect">
            <a:avLst/>
          </a:prstGeom>
          <a:solidFill>
            <a:srgbClr val="023430"/>
          </a:solidFill>
          <a:ln w="12700">
            <a:solidFill>
              <a:srgbClr val="023A50"/>
            </a:solidFill>
            <a:prstDash val="solid"/>
          </a:ln>
        </p:spPr>
      </p:sp>
      <p:sp>
        <p:nvSpPr>
          <p:cNvPr id="30" name="Text 28"/>
          <p:cNvSpPr/>
          <p:nvPr/>
        </p:nvSpPr>
        <p:spPr>
          <a:xfrm>
            <a:off x="6510528" y="3840480"/>
            <a:ext cx="1463040" cy="530352"/>
          </a:xfrm>
          <a:prstGeom prst="rect">
            <a:avLst/>
          </a:prstGeom>
          <a:noFill/>
          <a:ln/>
        </p:spPr>
        <p:txBody>
          <a:bodyPr wrap="square" lIns="0" tIns="0" rIns="0" bIns="0" rtlCol="0" anchor="ctr"/>
          <a:lstStyle/>
          <a:p>
            <a:pPr indent="0" marL="0">
              <a:buNone/>
            </a:pPr>
            <a:r>
              <a:rPr lang="en-US" sz="2000" b="1" dirty="0">
                <a:solidFill>
                  <a:srgbClr val="00ED64"/>
                </a:solidFill>
                <a:latin typeface="Source Code Pro" pitchFamily="34" charset="0"/>
                <a:ea typeface="Source Code Pro" pitchFamily="34" charset="-122"/>
                <a:cs typeface="Source Code Pro" pitchFamily="34" charset="-120"/>
              </a:rPr>
              <a:t>$or</a:t>
            </a:r>
            <a:endParaRPr lang="en-US" sz="2000" dirty="0"/>
          </a:p>
        </p:txBody>
      </p:sp>
      <p:sp>
        <p:nvSpPr>
          <p:cNvPr id="31" name="Text 29"/>
          <p:cNvSpPr/>
          <p:nvPr/>
        </p:nvSpPr>
        <p:spPr>
          <a:xfrm>
            <a:off x="8065008" y="3858768"/>
            <a:ext cx="3840480" cy="457200"/>
          </a:xfrm>
          <a:prstGeom prst="rect">
            <a:avLst/>
          </a:prstGeom>
          <a:noFill/>
          <a:ln/>
        </p:spPr>
        <p:txBody>
          <a:bodyPr wrap="square" lIns="0" tIns="0" rIns="0" bIns="0" rtlCol="0" anchor="ctr"/>
          <a:lstStyle/>
          <a:p>
            <a:pPr indent="0" marL="0">
              <a:buNone/>
            </a:pPr>
            <a:r>
              <a:rPr lang="en-US" sz="1400" dirty="0">
                <a:solidFill>
                  <a:srgbClr val="B8C4C2"/>
                </a:solidFill>
                <a:latin typeface="Lexend Deca" pitchFamily="34" charset="0"/>
                <a:ea typeface="Lexend Deca" pitchFamily="34" charset="-122"/>
                <a:cs typeface="Lexend Deca" pitchFamily="34" charset="-120"/>
              </a:rPr>
              <a:t>≈ OR</a:t>
            </a:r>
            <a:endParaRPr lang="en-US" sz="1400" dirty="0"/>
          </a:p>
        </p:txBody>
      </p:sp>
      <p:sp>
        <p:nvSpPr>
          <p:cNvPr id="32" name="Text 30"/>
          <p:cNvSpPr/>
          <p:nvPr/>
        </p:nvSpPr>
        <p:spPr>
          <a:xfrm>
            <a:off x="6510528" y="4425696"/>
            <a:ext cx="5376672" cy="548640"/>
          </a:xfrm>
          <a:prstGeom prst="rect">
            <a:avLst/>
          </a:prstGeom>
          <a:noFill/>
          <a:ln/>
        </p:spPr>
        <p:txBody>
          <a:bodyPr wrap="square" lIns="0" tIns="0" rIns="0" bIns="0" rtlCol="0" anchor="ctr"/>
          <a:lstStyle/>
          <a:p>
            <a:pPr indent="0" marL="0">
              <a:buNone/>
            </a:pPr>
            <a:r>
              <a:rPr lang="en-US" sz="1150" dirty="0">
                <a:solidFill>
                  <a:srgbClr val="AADDCC"/>
                </a:solidFill>
                <a:latin typeface="Source Code Pro" pitchFamily="34" charset="0"/>
                <a:ea typeface="Source Code Pro" pitchFamily="34" charset="-122"/>
                <a:cs typeface="Source Code Pro" pitchFamily="34" charset="-120"/>
              </a:rPr>
              <a:t>{ $or: [{ city:"NYC" }, { city:"LA" }] }</a:t>
            </a:r>
            <a:endParaRPr lang="en-US" sz="1150" dirty="0"/>
          </a:p>
        </p:txBody>
      </p:sp>
      <p:sp>
        <p:nvSpPr>
          <p:cNvPr id="33" name="Shape 31"/>
          <p:cNvSpPr/>
          <p:nvPr/>
        </p:nvSpPr>
        <p:spPr>
          <a:xfrm>
            <a:off x="6373368" y="5157216"/>
            <a:ext cx="5650992" cy="1298448"/>
          </a:xfrm>
          <a:prstGeom prst="rect">
            <a:avLst/>
          </a:prstGeom>
          <a:solidFill>
            <a:srgbClr val="023430"/>
          </a:solidFill>
          <a:ln w="12700">
            <a:solidFill>
              <a:srgbClr val="023A50"/>
            </a:solidFill>
            <a:prstDash val="solid"/>
          </a:ln>
        </p:spPr>
      </p:sp>
      <p:sp>
        <p:nvSpPr>
          <p:cNvPr id="34" name="Text 32"/>
          <p:cNvSpPr/>
          <p:nvPr/>
        </p:nvSpPr>
        <p:spPr>
          <a:xfrm>
            <a:off x="6510528" y="5230368"/>
            <a:ext cx="1463040" cy="530352"/>
          </a:xfrm>
          <a:prstGeom prst="rect">
            <a:avLst/>
          </a:prstGeom>
          <a:noFill/>
          <a:ln/>
        </p:spPr>
        <p:txBody>
          <a:bodyPr wrap="square" lIns="0" tIns="0" rIns="0" bIns="0" rtlCol="0" anchor="ctr"/>
          <a:lstStyle/>
          <a:p>
            <a:pPr indent="0" marL="0">
              <a:buNone/>
            </a:pPr>
            <a:r>
              <a:rPr lang="en-US" sz="2000" b="1" dirty="0">
                <a:solidFill>
                  <a:srgbClr val="00ED64"/>
                </a:solidFill>
                <a:latin typeface="Source Code Pro" pitchFamily="34" charset="0"/>
                <a:ea typeface="Source Code Pro" pitchFamily="34" charset="-122"/>
                <a:cs typeface="Source Code Pro" pitchFamily="34" charset="-120"/>
              </a:rPr>
              <a:t>$exists</a:t>
            </a:r>
            <a:endParaRPr lang="en-US" sz="2000" dirty="0"/>
          </a:p>
        </p:txBody>
      </p:sp>
      <p:sp>
        <p:nvSpPr>
          <p:cNvPr id="35" name="Text 33"/>
          <p:cNvSpPr/>
          <p:nvPr/>
        </p:nvSpPr>
        <p:spPr>
          <a:xfrm>
            <a:off x="8065008" y="5248656"/>
            <a:ext cx="3840480" cy="457200"/>
          </a:xfrm>
          <a:prstGeom prst="rect">
            <a:avLst/>
          </a:prstGeom>
          <a:noFill/>
          <a:ln/>
        </p:spPr>
        <p:txBody>
          <a:bodyPr wrap="square" lIns="0" tIns="0" rIns="0" bIns="0" rtlCol="0" anchor="ctr"/>
          <a:lstStyle/>
          <a:p>
            <a:pPr indent="0" marL="0">
              <a:buNone/>
            </a:pPr>
            <a:r>
              <a:rPr lang="en-US" sz="1400" dirty="0">
                <a:solidFill>
                  <a:srgbClr val="B8C4C2"/>
                </a:solidFill>
                <a:latin typeface="Lexend Deca" pitchFamily="34" charset="0"/>
                <a:ea typeface="Lexend Deca" pitchFamily="34" charset="-122"/>
                <a:cs typeface="Lexend Deca" pitchFamily="34" charset="-120"/>
              </a:rPr>
              <a:t>≈ IS NOT NULL</a:t>
            </a:r>
            <a:endParaRPr lang="en-US" sz="1400" dirty="0"/>
          </a:p>
        </p:txBody>
      </p:sp>
      <p:sp>
        <p:nvSpPr>
          <p:cNvPr id="36" name="Text 34"/>
          <p:cNvSpPr/>
          <p:nvPr/>
        </p:nvSpPr>
        <p:spPr>
          <a:xfrm>
            <a:off x="6510528" y="5815584"/>
            <a:ext cx="5376672" cy="548640"/>
          </a:xfrm>
          <a:prstGeom prst="rect">
            <a:avLst/>
          </a:prstGeom>
          <a:noFill/>
          <a:ln/>
        </p:spPr>
        <p:txBody>
          <a:bodyPr wrap="square" lIns="0" tIns="0" rIns="0" bIns="0" rtlCol="0" anchor="ctr"/>
          <a:lstStyle/>
          <a:p>
            <a:pPr indent="0" marL="0">
              <a:buNone/>
            </a:pPr>
            <a:r>
              <a:rPr lang="en-US" sz="1150" dirty="0">
                <a:solidFill>
                  <a:srgbClr val="AADDCC"/>
                </a:solidFill>
                <a:latin typeface="Source Code Pro" pitchFamily="34" charset="0"/>
                <a:ea typeface="Source Code Pro" pitchFamily="34" charset="-122"/>
                <a:cs typeface="Source Code Pro" pitchFamily="34" charset="-120"/>
              </a:rPr>
              <a:t>{ phone: { $exists: true } }</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1E2B"/>
        </a:solidFill>
      </p:bgPr>
    </p:bg>
    <p:spTree>
      <p:nvGrpSpPr>
        <p:cNvPr id="1" name=""/>
        <p:cNvGrpSpPr/>
        <p:nvPr/>
      </p:nvGrpSpPr>
      <p:grpSpPr>
        <a:xfrm>
          <a:off x="0" y="0"/>
          <a:ext cx="0" cy="0"/>
          <a:chOff x="0" y="0"/>
          <a:chExt cx="0" cy="0"/>
        </a:xfrm>
      </p:grpSpPr>
      <p:sp>
        <p:nvSpPr>
          <p:cNvPr id="2" name="Shape 0"/>
          <p:cNvSpPr/>
          <p:nvPr/>
        </p:nvSpPr>
        <p:spPr>
          <a:xfrm>
            <a:off x="0" y="6656832"/>
            <a:ext cx="12188952" cy="201168"/>
          </a:xfrm>
          <a:prstGeom prst="rect">
            <a:avLst/>
          </a:prstGeom>
          <a:solidFill>
            <a:srgbClr val="00ED64"/>
          </a:solidFill>
          <a:ln w="12700">
            <a:solidFill>
              <a:srgbClr val="00ED64"/>
            </a:solidFill>
            <a:prstDash val="solid"/>
          </a:ln>
        </p:spPr>
      </p:sp>
      <p:sp>
        <p:nvSpPr>
          <p:cNvPr id="3" name="Text 1"/>
          <p:cNvSpPr/>
          <p:nvPr/>
        </p:nvSpPr>
        <p:spPr>
          <a:xfrm>
            <a:off x="566928" y="201168"/>
            <a:ext cx="11055096" cy="594360"/>
          </a:xfrm>
          <a:prstGeom prst="rect">
            <a:avLst/>
          </a:prstGeom>
          <a:noFill/>
          <a:ln/>
        </p:spPr>
        <p:txBody>
          <a:bodyPr wrap="square" lIns="0" tIns="0" rIns="0" bIns="0" rtlCol="0" anchor="ctr"/>
          <a:lstStyle/>
          <a:p>
            <a:pPr indent="0" marL="0">
              <a:buNone/>
            </a:pPr>
            <a:r>
              <a:rPr lang="en-US" sz="3000" b="1" dirty="0">
                <a:solidFill>
                  <a:srgbClr val="FFFFFF"/>
                </a:solidFill>
                <a:latin typeface="Lexend Deca" pitchFamily="34" charset="0"/>
                <a:ea typeface="Lexend Deca" pitchFamily="34" charset="-122"/>
                <a:cs typeface="Lexend Deca" pitchFamily="34" charset="-120"/>
              </a:rPr>
              <a:t>Querying Arrays &amp; Nested Fields</a:t>
            </a:r>
            <a:endParaRPr lang="en-US" sz="3000" dirty="0"/>
          </a:p>
        </p:txBody>
      </p:sp>
      <p:sp>
        <p:nvSpPr>
          <p:cNvPr id="4" name="Shape 2"/>
          <p:cNvSpPr/>
          <p:nvPr/>
        </p:nvSpPr>
        <p:spPr>
          <a:xfrm>
            <a:off x="566928" y="822960"/>
            <a:ext cx="1280160" cy="54864"/>
          </a:xfrm>
          <a:prstGeom prst="rect">
            <a:avLst/>
          </a:prstGeom>
          <a:solidFill>
            <a:srgbClr val="00ED64"/>
          </a:solidFill>
          <a:ln w="12700">
            <a:solidFill>
              <a:srgbClr val="00ED64"/>
            </a:solidFill>
            <a:prstDash val="solid"/>
          </a:ln>
        </p:spPr>
      </p:sp>
      <p:sp>
        <p:nvSpPr>
          <p:cNvPr id="5" name="Shape 3"/>
          <p:cNvSpPr/>
          <p:nvPr/>
        </p:nvSpPr>
        <p:spPr>
          <a:xfrm>
            <a:off x="566928" y="960120"/>
            <a:ext cx="5257800" cy="3246120"/>
          </a:xfrm>
          <a:prstGeom prst="rect">
            <a:avLst/>
          </a:prstGeom>
          <a:solidFill>
            <a:srgbClr val="011520"/>
          </a:solidFill>
          <a:ln w="15240">
            <a:solidFill>
              <a:srgbClr val="00ED64"/>
            </a:solidFill>
            <a:prstDash val="solid"/>
          </a:ln>
          <a:effectLst>
            <a:outerShdw sx="100000" sy="100000" kx="0" ky="0" algn="bl" rotWithShape="0" blurRad="127000" dist="38100" dir="8100000">
              <a:srgbClr val="000000">
                <a:alpha val="28000"/>
              </a:srgbClr>
            </a:outerShdw>
          </a:effectLst>
        </p:spPr>
      </p:sp>
      <p:sp>
        <p:nvSpPr>
          <p:cNvPr id="6" name="Text 4"/>
          <p:cNvSpPr/>
          <p:nvPr/>
        </p:nvSpPr>
        <p:spPr>
          <a:xfrm>
            <a:off x="704088" y="1078992"/>
            <a:ext cx="4983480" cy="3008376"/>
          </a:xfrm>
          <a:prstGeom prst="rect">
            <a:avLst/>
          </a:prstGeom>
          <a:noFill/>
          <a:ln/>
        </p:spPr>
        <p:txBody>
          <a:bodyPr wrap="square" lIns="0" tIns="0" rIns="0" bIns="0" rtlCol="0" anchor="t"/>
          <a:lstStyle/>
          <a:p>
            <a:pPr indent="0" marL="0">
              <a:buNone/>
            </a:pPr>
            <a:r>
              <a:rPr lang="en-US" sz="1100" dirty="0">
                <a:solidFill>
                  <a:srgbClr val="00ED64"/>
                </a:solidFill>
                <a:latin typeface="Source Code Pro" pitchFamily="34" charset="0"/>
                <a:ea typeface="Source Code Pro" pitchFamily="34" charset="-122"/>
                <a:cs typeface="Source Code Pro" pitchFamily="34" charset="-120"/>
              </a:rPr>
              <a:t>// Sample document</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_id: 1, name: "Alice",</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address: { city:"NYC", zip:"10001"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tags: ["mongodb","backend","nodejs"],</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orders: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item:"Book", qty:2,  price:12.99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item:"Pen",  qty:10, price:1.49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a:t>
            </a:r>
            <a:endParaRPr lang="en-US" sz="1100" dirty="0"/>
          </a:p>
        </p:txBody>
      </p:sp>
      <p:sp>
        <p:nvSpPr>
          <p:cNvPr id="7" name="Text 5"/>
          <p:cNvSpPr/>
          <p:nvPr/>
        </p:nvSpPr>
        <p:spPr>
          <a:xfrm>
            <a:off x="6419088" y="960120"/>
            <a:ext cx="5760720" cy="384048"/>
          </a:xfrm>
          <a:prstGeom prst="rect">
            <a:avLst/>
          </a:prstGeom>
          <a:noFill/>
          <a:ln/>
        </p:spPr>
        <p:txBody>
          <a:bodyPr wrap="square" lIns="0" tIns="0" rIns="0" bIns="0" rtlCol="0" anchor="ctr"/>
          <a:lstStyle/>
          <a:p>
            <a:pPr indent="0" marL="0">
              <a:buNone/>
            </a:pPr>
            <a:r>
              <a:rPr lang="en-US" sz="1500" b="1" dirty="0">
                <a:solidFill>
                  <a:srgbClr val="00ED64"/>
                </a:solidFill>
                <a:latin typeface="Lexend Deca" pitchFamily="34" charset="0"/>
                <a:ea typeface="Lexend Deca" pitchFamily="34" charset="-122"/>
                <a:cs typeface="Lexend Deca" pitchFamily="34" charset="-120"/>
              </a:rPr>
              <a:t>Dot notation — nested field</a:t>
            </a:r>
            <a:endParaRPr lang="en-US" sz="1500" dirty="0"/>
          </a:p>
        </p:txBody>
      </p:sp>
      <p:sp>
        <p:nvSpPr>
          <p:cNvPr id="8" name="Shape 6"/>
          <p:cNvSpPr/>
          <p:nvPr/>
        </p:nvSpPr>
        <p:spPr>
          <a:xfrm>
            <a:off x="6419088" y="1362456"/>
            <a:ext cx="5760720" cy="1005840"/>
          </a:xfrm>
          <a:prstGeom prst="rect">
            <a:avLst/>
          </a:prstGeom>
          <a:solidFill>
            <a:srgbClr val="011520"/>
          </a:solidFill>
          <a:ln w="15240">
            <a:solidFill>
              <a:srgbClr val="00ED64"/>
            </a:solidFill>
            <a:prstDash val="solid"/>
          </a:ln>
          <a:effectLst>
            <a:outerShdw sx="100000" sy="100000" kx="0" ky="0" algn="bl" rotWithShape="0" blurRad="127000" dist="38100" dir="8100000">
              <a:srgbClr val="000000">
                <a:alpha val="28000"/>
              </a:srgbClr>
            </a:outerShdw>
          </a:effectLst>
        </p:spPr>
      </p:sp>
      <p:sp>
        <p:nvSpPr>
          <p:cNvPr id="9" name="Text 7"/>
          <p:cNvSpPr/>
          <p:nvPr/>
        </p:nvSpPr>
        <p:spPr>
          <a:xfrm>
            <a:off x="6556248" y="1481328"/>
            <a:ext cx="5486400" cy="768096"/>
          </a:xfrm>
          <a:prstGeom prst="rect">
            <a:avLst/>
          </a:prstGeom>
          <a:noFill/>
          <a:ln/>
        </p:spPr>
        <p:txBody>
          <a:bodyPr wrap="square" lIns="0" tIns="0" rIns="0" bIns="0" rtlCol="0" anchor="t"/>
          <a:lstStyle/>
          <a:p>
            <a:pPr indent="0" marL="0">
              <a:buNone/>
            </a:pPr>
            <a:r>
              <a:rPr lang="en-US" sz="1100" dirty="0">
                <a:solidFill>
                  <a:srgbClr val="00ED64"/>
                </a:solidFill>
                <a:latin typeface="Source Code Pro" pitchFamily="34" charset="0"/>
                <a:ea typeface="Source Code Pro" pitchFamily="34" charset="-122"/>
                <a:cs typeface="Source Code Pro" pitchFamily="34" charset="-120"/>
              </a:rPr>
              <a:t>// Find users in NYC</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db.users.find({ "address.city": "NYC" })</a:t>
            </a:r>
            <a:endParaRPr lang="en-US" sz="1100" dirty="0"/>
          </a:p>
        </p:txBody>
      </p:sp>
      <p:sp>
        <p:nvSpPr>
          <p:cNvPr id="10" name="Text 8"/>
          <p:cNvSpPr/>
          <p:nvPr/>
        </p:nvSpPr>
        <p:spPr>
          <a:xfrm>
            <a:off x="6419088" y="2423160"/>
            <a:ext cx="5760720" cy="384048"/>
          </a:xfrm>
          <a:prstGeom prst="rect">
            <a:avLst/>
          </a:prstGeom>
          <a:noFill/>
          <a:ln/>
        </p:spPr>
        <p:txBody>
          <a:bodyPr wrap="square" lIns="0" tIns="0" rIns="0" bIns="0" rtlCol="0" anchor="ctr"/>
          <a:lstStyle/>
          <a:p>
            <a:pPr indent="0" marL="0">
              <a:buNone/>
            </a:pPr>
            <a:r>
              <a:rPr lang="en-US" sz="1500" b="1" dirty="0">
                <a:solidFill>
                  <a:srgbClr val="00ED64"/>
                </a:solidFill>
                <a:latin typeface="Lexend Deca" pitchFamily="34" charset="0"/>
                <a:ea typeface="Lexend Deca" pitchFamily="34" charset="-122"/>
                <a:cs typeface="Lexend Deca" pitchFamily="34" charset="-120"/>
              </a:rPr>
              <a:t>Array contains value</a:t>
            </a:r>
            <a:endParaRPr lang="en-US" sz="1500" dirty="0"/>
          </a:p>
        </p:txBody>
      </p:sp>
      <p:sp>
        <p:nvSpPr>
          <p:cNvPr id="11" name="Shape 9"/>
          <p:cNvSpPr/>
          <p:nvPr/>
        </p:nvSpPr>
        <p:spPr>
          <a:xfrm>
            <a:off x="6419088" y="2825496"/>
            <a:ext cx="5760720" cy="1005840"/>
          </a:xfrm>
          <a:prstGeom prst="rect">
            <a:avLst/>
          </a:prstGeom>
          <a:solidFill>
            <a:srgbClr val="011520"/>
          </a:solidFill>
          <a:ln w="15240">
            <a:solidFill>
              <a:srgbClr val="00ED64"/>
            </a:solidFill>
            <a:prstDash val="solid"/>
          </a:ln>
          <a:effectLst>
            <a:outerShdw sx="100000" sy="100000" kx="0" ky="0" algn="bl" rotWithShape="0" blurRad="127000" dist="38100" dir="8100000">
              <a:srgbClr val="000000">
                <a:alpha val="28000"/>
              </a:srgbClr>
            </a:outerShdw>
          </a:effectLst>
        </p:spPr>
      </p:sp>
      <p:sp>
        <p:nvSpPr>
          <p:cNvPr id="12" name="Text 10"/>
          <p:cNvSpPr/>
          <p:nvPr/>
        </p:nvSpPr>
        <p:spPr>
          <a:xfrm>
            <a:off x="6556248" y="2944368"/>
            <a:ext cx="5486400" cy="768096"/>
          </a:xfrm>
          <a:prstGeom prst="rect">
            <a:avLst/>
          </a:prstGeom>
          <a:noFill/>
          <a:ln/>
        </p:spPr>
        <p:txBody>
          <a:bodyPr wrap="square" lIns="0" tIns="0" rIns="0" bIns="0" rtlCol="0" anchor="t"/>
          <a:lstStyle/>
          <a:p>
            <a:pPr indent="0" marL="0">
              <a:buNone/>
            </a:pPr>
            <a:r>
              <a:rPr lang="en-US" sz="1100" dirty="0">
                <a:solidFill>
                  <a:srgbClr val="00ED64"/>
                </a:solidFill>
                <a:latin typeface="Source Code Pro" pitchFamily="34" charset="0"/>
                <a:ea typeface="Source Code Pro" pitchFamily="34" charset="-122"/>
                <a:cs typeface="Source Code Pro" pitchFamily="34" charset="-120"/>
              </a:rPr>
              <a:t>// Has "mongodb" tag</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db.users.find({ tags: "mongodb" })</a:t>
            </a:r>
            <a:endParaRPr lang="en-US" sz="1100" dirty="0"/>
          </a:p>
        </p:txBody>
      </p:sp>
      <p:sp>
        <p:nvSpPr>
          <p:cNvPr id="13" name="Text 11"/>
          <p:cNvSpPr/>
          <p:nvPr/>
        </p:nvSpPr>
        <p:spPr>
          <a:xfrm>
            <a:off x="6419088" y="3886200"/>
            <a:ext cx="5760720" cy="384048"/>
          </a:xfrm>
          <a:prstGeom prst="rect">
            <a:avLst/>
          </a:prstGeom>
          <a:noFill/>
          <a:ln/>
        </p:spPr>
        <p:txBody>
          <a:bodyPr wrap="square" lIns="0" tIns="0" rIns="0" bIns="0" rtlCol="0" anchor="ctr"/>
          <a:lstStyle/>
          <a:p>
            <a:pPr indent="0" marL="0">
              <a:buNone/>
            </a:pPr>
            <a:r>
              <a:rPr lang="en-US" sz="1500" b="1" dirty="0">
                <a:solidFill>
                  <a:srgbClr val="00ED64"/>
                </a:solidFill>
                <a:latin typeface="Lexend Deca" pitchFamily="34" charset="0"/>
                <a:ea typeface="Lexend Deca" pitchFamily="34" charset="-122"/>
                <a:cs typeface="Lexend Deca" pitchFamily="34" charset="-120"/>
              </a:rPr>
              <a:t>$elemMatch — array element conditions</a:t>
            </a:r>
            <a:endParaRPr lang="en-US" sz="1500" dirty="0"/>
          </a:p>
        </p:txBody>
      </p:sp>
      <p:sp>
        <p:nvSpPr>
          <p:cNvPr id="14" name="Shape 12"/>
          <p:cNvSpPr/>
          <p:nvPr/>
        </p:nvSpPr>
        <p:spPr>
          <a:xfrm>
            <a:off x="6419088" y="4288536"/>
            <a:ext cx="5760720" cy="1005840"/>
          </a:xfrm>
          <a:prstGeom prst="rect">
            <a:avLst/>
          </a:prstGeom>
          <a:solidFill>
            <a:srgbClr val="011520"/>
          </a:solidFill>
          <a:ln w="15240">
            <a:solidFill>
              <a:srgbClr val="00ED64"/>
            </a:solidFill>
            <a:prstDash val="solid"/>
          </a:ln>
          <a:effectLst>
            <a:outerShdw sx="100000" sy="100000" kx="0" ky="0" algn="bl" rotWithShape="0" blurRad="127000" dist="38100" dir="8100000">
              <a:srgbClr val="000000">
                <a:alpha val="28000"/>
              </a:srgbClr>
            </a:outerShdw>
          </a:effectLst>
        </p:spPr>
      </p:sp>
      <p:sp>
        <p:nvSpPr>
          <p:cNvPr id="15" name="Text 13"/>
          <p:cNvSpPr/>
          <p:nvPr/>
        </p:nvSpPr>
        <p:spPr>
          <a:xfrm>
            <a:off x="6556248" y="4407408"/>
            <a:ext cx="5486400" cy="768096"/>
          </a:xfrm>
          <a:prstGeom prst="rect">
            <a:avLst/>
          </a:prstGeom>
          <a:noFill/>
          <a:ln/>
        </p:spPr>
        <p:txBody>
          <a:bodyPr wrap="square" lIns="0" tIns="0" rIns="0" bIns="0" rtlCol="0" anchor="t"/>
          <a:lstStyle/>
          <a:p>
            <a:pPr indent="0" marL="0">
              <a:buNone/>
            </a:pPr>
            <a:r>
              <a:rPr lang="en-US" sz="1100" dirty="0">
                <a:solidFill>
                  <a:srgbClr val="00ED64"/>
                </a:solidFill>
                <a:latin typeface="Source Code Pro" pitchFamily="34" charset="0"/>
                <a:ea typeface="Source Code Pro" pitchFamily="34" charset="-122"/>
                <a:cs typeface="Source Code Pro" pitchFamily="34" charset="-120"/>
              </a:rPr>
              <a:t>// Any order with qty &gt; 5</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db.users.find({</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orders: { $elemMatch: { qty:{$gt:5} }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a:t>
            </a:r>
            <a:endParaRPr lang="en-US" sz="1100" dirty="0"/>
          </a:p>
        </p:txBody>
      </p:sp>
      <p:sp>
        <p:nvSpPr>
          <p:cNvPr id="16" name="Text 14"/>
          <p:cNvSpPr/>
          <p:nvPr/>
        </p:nvSpPr>
        <p:spPr>
          <a:xfrm>
            <a:off x="6419088" y="5349240"/>
            <a:ext cx="5760720" cy="384048"/>
          </a:xfrm>
          <a:prstGeom prst="rect">
            <a:avLst/>
          </a:prstGeom>
          <a:noFill/>
          <a:ln/>
        </p:spPr>
        <p:txBody>
          <a:bodyPr wrap="square" lIns="0" tIns="0" rIns="0" bIns="0" rtlCol="0" anchor="ctr"/>
          <a:lstStyle/>
          <a:p>
            <a:pPr indent="0" marL="0">
              <a:buNone/>
            </a:pPr>
            <a:r>
              <a:rPr lang="en-US" sz="1500" b="1" dirty="0">
                <a:solidFill>
                  <a:srgbClr val="00ED64"/>
                </a:solidFill>
                <a:latin typeface="Lexend Deca" pitchFamily="34" charset="0"/>
                <a:ea typeface="Lexend Deca" pitchFamily="34" charset="-122"/>
                <a:cs typeface="Lexend Deca" pitchFamily="34" charset="-120"/>
              </a:rPr>
              <a:t>Array size / $all</a:t>
            </a:r>
            <a:endParaRPr lang="en-US" sz="1500" dirty="0"/>
          </a:p>
        </p:txBody>
      </p:sp>
      <p:sp>
        <p:nvSpPr>
          <p:cNvPr id="17" name="Shape 15"/>
          <p:cNvSpPr/>
          <p:nvPr/>
        </p:nvSpPr>
        <p:spPr>
          <a:xfrm>
            <a:off x="6419088" y="5751576"/>
            <a:ext cx="5760720" cy="1005840"/>
          </a:xfrm>
          <a:prstGeom prst="rect">
            <a:avLst/>
          </a:prstGeom>
          <a:solidFill>
            <a:srgbClr val="011520"/>
          </a:solidFill>
          <a:ln w="15240">
            <a:solidFill>
              <a:srgbClr val="00ED64"/>
            </a:solidFill>
            <a:prstDash val="solid"/>
          </a:ln>
          <a:effectLst>
            <a:outerShdw sx="100000" sy="100000" kx="0" ky="0" algn="bl" rotWithShape="0" blurRad="127000" dist="38100" dir="8100000">
              <a:srgbClr val="000000">
                <a:alpha val="28000"/>
              </a:srgbClr>
            </a:outerShdw>
          </a:effectLst>
        </p:spPr>
      </p:sp>
      <p:sp>
        <p:nvSpPr>
          <p:cNvPr id="18" name="Text 16"/>
          <p:cNvSpPr/>
          <p:nvPr/>
        </p:nvSpPr>
        <p:spPr>
          <a:xfrm>
            <a:off x="6556248" y="5870448"/>
            <a:ext cx="5486400" cy="768096"/>
          </a:xfrm>
          <a:prstGeom prst="rect">
            <a:avLst/>
          </a:prstGeom>
          <a:noFill/>
          <a:ln/>
        </p:spPr>
        <p:txBody>
          <a:bodyPr wrap="square" lIns="0" tIns="0" rIns="0" bIns="0" rtlCol="0" anchor="t"/>
          <a:lstStyle/>
          <a:p>
            <a:pPr indent="0" marL="0">
              <a:buNone/>
            </a:pPr>
            <a:r>
              <a:rPr lang="en-US" sz="1100" dirty="0">
                <a:solidFill>
                  <a:srgbClr val="00ED64"/>
                </a:solidFill>
                <a:latin typeface="Source Code Pro" pitchFamily="34" charset="0"/>
                <a:ea typeface="Source Code Pro" pitchFamily="34" charset="-122"/>
                <a:cs typeface="Source Code Pro" pitchFamily="34" charset="-120"/>
              </a:rPr>
              <a:t>// Exactly 3 tags</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db.users.find({ tags: { $size: 3 }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Has BOTH tags</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db.users.find({ tags: { $all:["mongodb","backend"] } })</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1E2B"/>
        </a:solidFill>
      </p:bgPr>
    </p:bg>
    <p:spTree>
      <p:nvGrpSpPr>
        <p:cNvPr id="1" name=""/>
        <p:cNvGrpSpPr/>
        <p:nvPr/>
      </p:nvGrpSpPr>
      <p:grpSpPr>
        <a:xfrm>
          <a:off x="0" y="0"/>
          <a:ext cx="0" cy="0"/>
          <a:chOff x="0" y="0"/>
          <a:chExt cx="0" cy="0"/>
        </a:xfrm>
      </p:grpSpPr>
      <p:sp>
        <p:nvSpPr>
          <p:cNvPr id="2" name="Shape 0"/>
          <p:cNvSpPr/>
          <p:nvPr/>
        </p:nvSpPr>
        <p:spPr>
          <a:xfrm>
            <a:off x="0" y="6656832"/>
            <a:ext cx="12188952" cy="201168"/>
          </a:xfrm>
          <a:prstGeom prst="rect">
            <a:avLst/>
          </a:prstGeom>
          <a:solidFill>
            <a:srgbClr val="00ED64"/>
          </a:solidFill>
          <a:ln w="12700">
            <a:solidFill>
              <a:srgbClr val="00ED64"/>
            </a:solidFill>
            <a:prstDash val="solid"/>
          </a:ln>
        </p:spPr>
      </p:sp>
      <p:sp>
        <p:nvSpPr>
          <p:cNvPr id="3" name="Text 1"/>
          <p:cNvSpPr/>
          <p:nvPr/>
        </p:nvSpPr>
        <p:spPr>
          <a:xfrm>
            <a:off x="566928" y="201168"/>
            <a:ext cx="11055096" cy="594360"/>
          </a:xfrm>
          <a:prstGeom prst="rect">
            <a:avLst/>
          </a:prstGeom>
          <a:noFill/>
          <a:ln/>
        </p:spPr>
        <p:txBody>
          <a:bodyPr wrap="square" lIns="0" tIns="0" rIns="0" bIns="0" rtlCol="0" anchor="ctr"/>
          <a:lstStyle/>
          <a:p>
            <a:pPr indent="0" marL="0">
              <a:buNone/>
            </a:pPr>
            <a:r>
              <a:rPr lang="en-US" sz="3000" b="1" dirty="0">
                <a:solidFill>
                  <a:srgbClr val="FFFFFF"/>
                </a:solidFill>
                <a:latin typeface="Lexend Deca" pitchFamily="34" charset="0"/>
                <a:ea typeface="Lexend Deca" pitchFamily="34" charset="-122"/>
                <a:cs typeface="Lexend Deca" pitchFamily="34" charset="-120"/>
              </a:rPr>
              <a:t>Aggregation Pipeline — Your New Best Friend</a:t>
            </a:r>
            <a:endParaRPr lang="en-US" sz="3000" dirty="0"/>
          </a:p>
        </p:txBody>
      </p:sp>
      <p:sp>
        <p:nvSpPr>
          <p:cNvPr id="4" name="Shape 2"/>
          <p:cNvSpPr/>
          <p:nvPr/>
        </p:nvSpPr>
        <p:spPr>
          <a:xfrm>
            <a:off x="566928" y="822960"/>
            <a:ext cx="1280160" cy="54864"/>
          </a:xfrm>
          <a:prstGeom prst="rect">
            <a:avLst/>
          </a:prstGeom>
          <a:solidFill>
            <a:srgbClr val="00ED64"/>
          </a:solidFill>
          <a:ln w="12700">
            <a:solidFill>
              <a:srgbClr val="00ED64"/>
            </a:solidFill>
            <a:prstDash val="solid"/>
          </a:ln>
        </p:spPr>
      </p:sp>
      <p:sp>
        <p:nvSpPr>
          <p:cNvPr id="5" name="Shape 3"/>
          <p:cNvSpPr/>
          <p:nvPr/>
        </p:nvSpPr>
        <p:spPr>
          <a:xfrm>
            <a:off x="566928" y="960120"/>
            <a:ext cx="1719072" cy="1417320"/>
          </a:xfrm>
          <a:prstGeom prst="rect">
            <a:avLst/>
          </a:prstGeom>
          <a:solidFill>
            <a:srgbClr val="00A550"/>
          </a:solidFill>
          <a:ln w="12700">
            <a:solidFill>
              <a:srgbClr val="00A550"/>
            </a:solidFill>
            <a:prstDash val="solid"/>
          </a:ln>
          <a:effectLst>
            <a:outerShdw sx="100000" sy="100000" kx="0" ky="0" algn="bl" rotWithShape="0" blurRad="127000" dist="38100" dir="8100000">
              <a:srgbClr val="000000">
                <a:alpha val="28000"/>
              </a:srgbClr>
            </a:outerShdw>
          </a:effectLst>
        </p:spPr>
      </p:sp>
      <p:sp>
        <p:nvSpPr>
          <p:cNvPr id="6" name="Text 4"/>
          <p:cNvSpPr/>
          <p:nvPr/>
        </p:nvSpPr>
        <p:spPr>
          <a:xfrm>
            <a:off x="566928" y="1078992"/>
            <a:ext cx="1719072" cy="621792"/>
          </a:xfrm>
          <a:prstGeom prst="rect">
            <a:avLst/>
          </a:prstGeom>
          <a:noFill/>
          <a:ln/>
        </p:spPr>
        <p:txBody>
          <a:bodyPr wrap="square" lIns="0" tIns="0" rIns="0" bIns="0" rtlCol="0" anchor="ctr"/>
          <a:lstStyle/>
          <a:p>
            <a:pPr algn="ctr" indent="0" marL="0">
              <a:buNone/>
            </a:pPr>
            <a:r>
              <a:rPr lang="en-US" sz="1700" b="1" dirty="0">
                <a:solidFill>
                  <a:srgbClr val="FFFFFF"/>
                </a:solidFill>
                <a:latin typeface="Source Code Pro" pitchFamily="34" charset="0"/>
                <a:ea typeface="Source Code Pro" pitchFamily="34" charset="-122"/>
                <a:cs typeface="Source Code Pro" pitchFamily="34" charset="-120"/>
              </a:rPr>
              <a:t>$match</a:t>
            </a:r>
            <a:endParaRPr lang="en-US" sz="1700" dirty="0"/>
          </a:p>
        </p:txBody>
      </p:sp>
      <p:sp>
        <p:nvSpPr>
          <p:cNvPr id="7" name="Text 5"/>
          <p:cNvSpPr/>
          <p:nvPr/>
        </p:nvSpPr>
        <p:spPr>
          <a:xfrm>
            <a:off x="566928" y="1719072"/>
            <a:ext cx="1719072" cy="438912"/>
          </a:xfrm>
          <a:prstGeom prst="rect">
            <a:avLst/>
          </a:prstGeom>
          <a:noFill/>
          <a:ln/>
        </p:spPr>
        <p:txBody>
          <a:bodyPr wrap="square" lIns="0" tIns="0" rIns="0" bIns="0" rtlCol="0" anchor="ctr"/>
          <a:lstStyle/>
          <a:p>
            <a:pPr algn="ctr" indent="0" marL="0">
              <a:buNone/>
            </a:pPr>
            <a:r>
              <a:rPr lang="en-US" sz="1300" dirty="0">
                <a:solidFill>
                  <a:srgbClr val="FFFFFF"/>
                </a:solidFill>
                <a:latin typeface="Lexend Deca" pitchFamily="34" charset="0"/>
                <a:ea typeface="Lexend Deca" pitchFamily="34" charset="-122"/>
                <a:cs typeface="Lexend Deca" pitchFamily="34" charset="-120"/>
              </a:rPr>
              <a:t>≈ WHERE</a:t>
            </a:r>
            <a:endParaRPr lang="en-US" sz="1300" dirty="0"/>
          </a:p>
        </p:txBody>
      </p:sp>
      <p:sp>
        <p:nvSpPr>
          <p:cNvPr id="8" name="Text 6"/>
          <p:cNvSpPr/>
          <p:nvPr/>
        </p:nvSpPr>
        <p:spPr>
          <a:xfrm>
            <a:off x="2286000" y="1572768"/>
            <a:ext cx="137160" cy="347472"/>
          </a:xfrm>
          <a:prstGeom prst="rect">
            <a:avLst/>
          </a:prstGeom>
          <a:noFill/>
          <a:ln/>
        </p:spPr>
        <p:txBody>
          <a:bodyPr wrap="square" lIns="0" tIns="0" rIns="0" bIns="0" rtlCol="0" anchor="ctr"/>
          <a:lstStyle/>
          <a:p>
            <a:pPr algn="ctr" indent="0" marL="0">
              <a:buNone/>
            </a:pPr>
            <a:r>
              <a:rPr lang="en-US" sz="1300" dirty="0">
                <a:solidFill>
                  <a:srgbClr val="B8C4C2"/>
                </a:solidFill>
              </a:rPr>
              <a:t>▶</a:t>
            </a:r>
            <a:endParaRPr lang="en-US" sz="1300" dirty="0"/>
          </a:p>
        </p:txBody>
      </p:sp>
      <p:sp>
        <p:nvSpPr>
          <p:cNvPr id="9" name="Shape 7"/>
          <p:cNvSpPr/>
          <p:nvPr/>
        </p:nvSpPr>
        <p:spPr>
          <a:xfrm>
            <a:off x="2423160" y="960120"/>
            <a:ext cx="1719072" cy="1417320"/>
          </a:xfrm>
          <a:prstGeom prst="rect">
            <a:avLst/>
          </a:prstGeom>
          <a:solidFill>
            <a:srgbClr val="007CC2"/>
          </a:solidFill>
          <a:ln w="12700">
            <a:solidFill>
              <a:srgbClr val="007CC2"/>
            </a:solidFill>
            <a:prstDash val="solid"/>
          </a:ln>
          <a:effectLst>
            <a:outerShdw sx="100000" sy="100000" kx="0" ky="0" algn="bl" rotWithShape="0" blurRad="127000" dist="38100" dir="8100000">
              <a:srgbClr val="000000">
                <a:alpha val="28000"/>
              </a:srgbClr>
            </a:outerShdw>
          </a:effectLst>
        </p:spPr>
      </p:sp>
      <p:sp>
        <p:nvSpPr>
          <p:cNvPr id="10" name="Text 8"/>
          <p:cNvSpPr/>
          <p:nvPr/>
        </p:nvSpPr>
        <p:spPr>
          <a:xfrm>
            <a:off x="2423160" y="1078992"/>
            <a:ext cx="1719072" cy="621792"/>
          </a:xfrm>
          <a:prstGeom prst="rect">
            <a:avLst/>
          </a:prstGeom>
          <a:noFill/>
          <a:ln/>
        </p:spPr>
        <p:txBody>
          <a:bodyPr wrap="square" lIns="0" tIns="0" rIns="0" bIns="0" rtlCol="0" anchor="ctr"/>
          <a:lstStyle/>
          <a:p>
            <a:pPr algn="ctr" indent="0" marL="0">
              <a:buNone/>
            </a:pPr>
            <a:r>
              <a:rPr lang="en-US" sz="1700" b="1" dirty="0">
                <a:solidFill>
                  <a:srgbClr val="FFFFFF"/>
                </a:solidFill>
                <a:latin typeface="Source Code Pro" pitchFamily="34" charset="0"/>
                <a:ea typeface="Source Code Pro" pitchFamily="34" charset="-122"/>
                <a:cs typeface="Source Code Pro" pitchFamily="34" charset="-120"/>
              </a:rPr>
              <a:t>$lookup</a:t>
            </a:r>
            <a:endParaRPr lang="en-US" sz="1700" dirty="0"/>
          </a:p>
        </p:txBody>
      </p:sp>
      <p:sp>
        <p:nvSpPr>
          <p:cNvPr id="11" name="Text 9"/>
          <p:cNvSpPr/>
          <p:nvPr/>
        </p:nvSpPr>
        <p:spPr>
          <a:xfrm>
            <a:off x="2423160" y="1719072"/>
            <a:ext cx="1719072" cy="438912"/>
          </a:xfrm>
          <a:prstGeom prst="rect">
            <a:avLst/>
          </a:prstGeom>
          <a:noFill/>
          <a:ln/>
        </p:spPr>
        <p:txBody>
          <a:bodyPr wrap="square" lIns="0" tIns="0" rIns="0" bIns="0" rtlCol="0" anchor="ctr"/>
          <a:lstStyle/>
          <a:p>
            <a:pPr algn="ctr" indent="0" marL="0">
              <a:buNone/>
            </a:pPr>
            <a:r>
              <a:rPr lang="en-US" sz="1300" dirty="0">
                <a:solidFill>
                  <a:srgbClr val="FFFFFF"/>
                </a:solidFill>
                <a:latin typeface="Lexend Deca" pitchFamily="34" charset="0"/>
                <a:ea typeface="Lexend Deca" pitchFamily="34" charset="-122"/>
                <a:cs typeface="Lexend Deca" pitchFamily="34" charset="-120"/>
              </a:rPr>
              <a:t>≈ LEFT JOIN</a:t>
            </a:r>
            <a:endParaRPr lang="en-US" sz="1300" dirty="0"/>
          </a:p>
        </p:txBody>
      </p:sp>
      <p:sp>
        <p:nvSpPr>
          <p:cNvPr id="12" name="Text 10"/>
          <p:cNvSpPr/>
          <p:nvPr/>
        </p:nvSpPr>
        <p:spPr>
          <a:xfrm>
            <a:off x="4142232" y="1572768"/>
            <a:ext cx="137160" cy="347472"/>
          </a:xfrm>
          <a:prstGeom prst="rect">
            <a:avLst/>
          </a:prstGeom>
          <a:noFill/>
          <a:ln/>
        </p:spPr>
        <p:txBody>
          <a:bodyPr wrap="square" lIns="0" tIns="0" rIns="0" bIns="0" rtlCol="0" anchor="ctr"/>
          <a:lstStyle/>
          <a:p>
            <a:pPr algn="ctr" indent="0" marL="0">
              <a:buNone/>
            </a:pPr>
            <a:r>
              <a:rPr lang="en-US" sz="1300" dirty="0">
                <a:solidFill>
                  <a:srgbClr val="B8C4C2"/>
                </a:solidFill>
              </a:rPr>
              <a:t>▶</a:t>
            </a:r>
            <a:endParaRPr lang="en-US" sz="1300" dirty="0"/>
          </a:p>
        </p:txBody>
      </p:sp>
      <p:sp>
        <p:nvSpPr>
          <p:cNvPr id="13" name="Shape 11"/>
          <p:cNvSpPr/>
          <p:nvPr/>
        </p:nvSpPr>
        <p:spPr>
          <a:xfrm>
            <a:off x="4279392" y="960120"/>
            <a:ext cx="1719072" cy="1417320"/>
          </a:xfrm>
          <a:prstGeom prst="rect">
            <a:avLst/>
          </a:prstGeom>
          <a:solidFill>
            <a:srgbClr val="7B2FBE"/>
          </a:solidFill>
          <a:ln w="12700">
            <a:solidFill>
              <a:srgbClr val="7B2FBE"/>
            </a:solidFill>
            <a:prstDash val="solid"/>
          </a:ln>
          <a:effectLst>
            <a:outerShdw sx="100000" sy="100000" kx="0" ky="0" algn="bl" rotWithShape="0" blurRad="127000" dist="38100" dir="8100000">
              <a:srgbClr val="000000">
                <a:alpha val="28000"/>
              </a:srgbClr>
            </a:outerShdw>
          </a:effectLst>
        </p:spPr>
      </p:sp>
      <p:sp>
        <p:nvSpPr>
          <p:cNvPr id="14" name="Text 12"/>
          <p:cNvSpPr/>
          <p:nvPr/>
        </p:nvSpPr>
        <p:spPr>
          <a:xfrm>
            <a:off x="4279392" y="1078992"/>
            <a:ext cx="1719072" cy="621792"/>
          </a:xfrm>
          <a:prstGeom prst="rect">
            <a:avLst/>
          </a:prstGeom>
          <a:noFill/>
          <a:ln/>
        </p:spPr>
        <p:txBody>
          <a:bodyPr wrap="square" lIns="0" tIns="0" rIns="0" bIns="0" rtlCol="0" anchor="ctr"/>
          <a:lstStyle/>
          <a:p>
            <a:pPr algn="ctr" indent="0" marL="0">
              <a:buNone/>
            </a:pPr>
            <a:r>
              <a:rPr lang="en-US" sz="1700" b="1" dirty="0">
                <a:solidFill>
                  <a:srgbClr val="FFFFFF"/>
                </a:solidFill>
                <a:latin typeface="Source Code Pro" pitchFamily="34" charset="0"/>
                <a:ea typeface="Source Code Pro" pitchFamily="34" charset="-122"/>
                <a:cs typeface="Source Code Pro" pitchFamily="34" charset="-120"/>
              </a:rPr>
              <a:t>$group</a:t>
            </a:r>
            <a:endParaRPr lang="en-US" sz="1700" dirty="0"/>
          </a:p>
        </p:txBody>
      </p:sp>
      <p:sp>
        <p:nvSpPr>
          <p:cNvPr id="15" name="Text 13"/>
          <p:cNvSpPr/>
          <p:nvPr/>
        </p:nvSpPr>
        <p:spPr>
          <a:xfrm>
            <a:off x="4279392" y="1719072"/>
            <a:ext cx="1719072" cy="438912"/>
          </a:xfrm>
          <a:prstGeom prst="rect">
            <a:avLst/>
          </a:prstGeom>
          <a:noFill/>
          <a:ln/>
        </p:spPr>
        <p:txBody>
          <a:bodyPr wrap="square" lIns="0" tIns="0" rIns="0" bIns="0" rtlCol="0" anchor="ctr"/>
          <a:lstStyle/>
          <a:p>
            <a:pPr algn="ctr" indent="0" marL="0">
              <a:buNone/>
            </a:pPr>
            <a:r>
              <a:rPr lang="en-US" sz="1300" dirty="0">
                <a:solidFill>
                  <a:srgbClr val="FFFFFF"/>
                </a:solidFill>
                <a:latin typeface="Lexend Deca" pitchFamily="34" charset="0"/>
                <a:ea typeface="Lexend Deca" pitchFamily="34" charset="-122"/>
                <a:cs typeface="Lexend Deca" pitchFamily="34" charset="-120"/>
              </a:rPr>
              <a:t>≈ GROUP BY</a:t>
            </a:r>
            <a:endParaRPr lang="en-US" sz="1300" dirty="0"/>
          </a:p>
        </p:txBody>
      </p:sp>
      <p:sp>
        <p:nvSpPr>
          <p:cNvPr id="16" name="Text 14"/>
          <p:cNvSpPr/>
          <p:nvPr/>
        </p:nvSpPr>
        <p:spPr>
          <a:xfrm>
            <a:off x="5998464" y="1572768"/>
            <a:ext cx="137160" cy="347472"/>
          </a:xfrm>
          <a:prstGeom prst="rect">
            <a:avLst/>
          </a:prstGeom>
          <a:noFill/>
          <a:ln/>
        </p:spPr>
        <p:txBody>
          <a:bodyPr wrap="square" lIns="0" tIns="0" rIns="0" bIns="0" rtlCol="0" anchor="ctr"/>
          <a:lstStyle/>
          <a:p>
            <a:pPr algn="ctr" indent="0" marL="0">
              <a:buNone/>
            </a:pPr>
            <a:r>
              <a:rPr lang="en-US" sz="1300" dirty="0">
                <a:solidFill>
                  <a:srgbClr val="B8C4C2"/>
                </a:solidFill>
              </a:rPr>
              <a:t>▶</a:t>
            </a:r>
            <a:endParaRPr lang="en-US" sz="1300" dirty="0"/>
          </a:p>
        </p:txBody>
      </p:sp>
      <p:sp>
        <p:nvSpPr>
          <p:cNvPr id="17" name="Shape 15"/>
          <p:cNvSpPr/>
          <p:nvPr/>
        </p:nvSpPr>
        <p:spPr>
          <a:xfrm>
            <a:off x="6135624" y="960120"/>
            <a:ext cx="1719072" cy="1417320"/>
          </a:xfrm>
          <a:prstGeom prst="rect">
            <a:avLst/>
          </a:prstGeom>
          <a:solidFill>
            <a:srgbClr val="E05C00"/>
          </a:solidFill>
          <a:ln w="12700">
            <a:solidFill>
              <a:srgbClr val="E05C00"/>
            </a:solidFill>
            <a:prstDash val="solid"/>
          </a:ln>
          <a:effectLst>
            <a:outerShdw sx="100000" sy="100000" kx="0" ky="0" algn="bl" rotWithShape="0" blurRad="127000" dist="38100" dir="8100000">
              <a:srgbClr val="000000">
                <a:alpha val="28000"/>
              </a:srgbClr>
            </a:outerShdw>
          </a:effectLst>
        </p:spPr>
      </p:sp>
      <p:sp>
        <p:nvSpPr>
          <p:cNvPr id="18" name="Text 16"/>
          <p:cNvSpPr/>
          <p:nvPr/>
        </p:nvSpPr>
        <p:spPr>
          <a:xfrm>
            <a:off x="6135624" y="1078992"/>
            <a:ext cx="1719072" cy="621792"/>
          </a:xfrm>
          <a:prstGeom prst="rect">
            <a:avLst/>
          </a:prstGeom>
          <a:noFill/>
          <a:ln/>
        </p:spPr>
        <p:txBody>
          <a:bodyPr wrap="square" lIns="0" tIns="0" rIns="0" bIns="0" rtlCol="0" anchor="ctr"/>
          <a:lstStyle/>
          <a:p>
            <a:pPr algn="ctr" indent="0" marL="0">
              <a:buNone/>
            </a:pPr>
            <a:r>
              <a:rPr lang="en-US" sz="1700" b="1" dirty="0">
                <a:solidFill>
                  <a:srgbClr val="FFFFFF"/>
                </a:solidFill>
                <a:latin typeface="Source Code Pro" pitchFamily="34" charset="0"/>
                <a:ea typeface="Source Code Pro" pitchFamily="34" charset="-122"/>
                <a:cs typeface="Source Code Pro" pitchFamily="34" charset="-120"/>
              </a:rPr>
              <a:t>$project</a:t>
            </a:r>
            <a:endParaRPr lang="en-US" sz="1700" dirty="0"/>
          </a:p>
        </p:txBody>
      </p:sp>
      <p:sp>
        <p:nvSpPr>
          <p:cNvPr id="19" name="Text 17"/>
          <p:cNvSpPr/>
          <p:nvPr/>
        </p:nvSpPr>
        <p:spPr>
          <a:xfrm>
            <a:off x="6135624" y="1719072"/>
            <a:ext cx="1719072" cy="438912"/>
          </a:xfrm>
          <a:prstGeom prst="rect">
            <a:avLst/>
          </a:prstGeom>
          <a:noFill/>
          <a:ln/>
        </p:spPr>
        <p:txBody>
          <a:bodyPr wrap="square" lIns="0" tIns="0" rIns="0" bIns="0" rtlCol="0" anchor="ctr"/>
          <a:lstStyle/>
          <a:p>
            <a:pPr algn="ctr" indent="0" marL="0">
              <a:buNone/>
            </a:pPr>
            <a:r>
              <a:rPr lang="en-US" sz="1300" dirty="0">
                <a:solidFill>
                  <a:srgbClr val="FFFFFF"/>
                </a:solidFill>
                <a:latin typeface="Lexend Deca" pitchFamily="34" charset="0"/>
                <a:ea typeface="Lexend Deca" pitchFamily="34" charset="-122"/>
                <a:cs typeface="Lexend Deca" pitchFamily="34" charset="-120"/>
              </a:rPr>
              <a:t>≈ SELECT</a:t>
            </a:r>
            <a:endParaRPr lang="en-US" sz="1300" dirty="0"/>
          </a:p>
        </p:txBody>
      </p:sp>
      <p:sp>
        <p:nvSpPr>
          <p:cNvPr id="20" name="Text 18"/>
          <p:cNvSpPr/>
          <p:nvPr/>
        </p:nvSpPr>
        <p:spPr>
          <a:xfrm>
            <a:off x="7854696" y="1572768"/>
            <a:ext cx="137160" cy="347472"/>
          </a:xfrm>
          <a:prstGeom prst="rect">
            <a:avLst/>
          </a:prstGeom>
          <a:noFill/>
          <a:ln/>
        </p:spPr>
        <p:txBody>
          <a:bodyPr wrap="square" lIns="0" tIns="0" rIns="0" bIns="0" rtlCol="0" anchor="ctr"/>
          <a:lstStyle/>
          <a:p>
            <a:pPr algn="ctr" indent="0" marL="0">
              <a:buNone/>
            </a:pPr>
            <a:r>
              <a:rPr lang="en-US" sz="1300" dirty="0">
                <a:solidFill>
                  <a:srgbClr val="B8C4C2"/>
                </a:solidFill>
              </a:rPr>
              <a:t>▶</a:t>
            </a:r>
            <a:endParaRPr lang="en-US" sz="1300" dirty="0"/>
          </a:p>
        </p:txBody>
      </p:sp>
      <p:sp>
        <p:nvSpPr>
          <p:cNvPr id="21" name="Shape 19"/>
          <p:cNvSpPr/>
          <p:nvPr/>
        </p:nvSpPr>
        <p:spPr>
          <a:xfrm>
            <a:off x="7991856" y="960120"/>
            <a:ext cx="1719072" cy="1417320"/>
          </a:xfrm>
          <a:prstGeom prst="rect">
            <a:avLst/>
          </a:prstGeom>
          <a:solidFill>
            <a:srgbClr val="C41230"/>
          </a:solidFill>
          <a:ln w="12700">
            <a:solidFill>
              <a:srgbClr val="C41230"/>
            </a:solidFill>
            <a:prstDash val="solid"/>
          </a:ln>
          <a:effectLst>
            <a:outerShdw sx="100000" sy="100000" kx="0" ky="0" algn="bl" rotWithShape="0" blurRad="127000" dist="38100" dir="8100000">
              <a:srgbClr val="000000">
                <a:alpha val="28000"/>
              </a:srgbClr>
            </a:outerShdw>
          </a:effectLst>
        </p:spPr>
      </p:sp>
      <p:sp>
        <p:nvSpPr>
          <p:cNvPr id="22" name="Text 20"/>
          <p:cNvSpPr/>
          <p:nvPr/>
        </p:nvSpPr>
        <p:spPr>
          <a:xfrm>
            <a:off x="7991856" y="1078992"/>
            <a:ext cx="1719072" cy="621792"/>
          </a:xfrm>
          <a:prstGeom prst="rect">
            <a:avLst/>
          </a:prstGeom>
          <a:noFill/>
          <a:ln/>
        </p:spPr>
        <p:txBody>
          <a:bodyPr wrap="square" lIns="0" tIns="0" rIns="0" bIns="0" rtlCol="0" anchor="ctr"/>
          <a:lstStyle/>
          <a:p>
            <a:pPr algn="ctr" indent="0" marL="0">
              <a:buNone/>
            </a:pPr>
            <a:r>
              <a:rPr lang="en-US" sz="1700" b="1" dirty="0">
                <a:solidFill>
                  <a:srgbClr val="FFFFFF"/>
                </a:solidFill>
                <a:latin typeface="Source Code Pro" pitchFamily="34" charset="0"/>
                <a:ea typeface="Source Code Pro" pitchFamily="34" charset="-122"/>
                <a:cs typeface="Source Code Pro" pitchFamily="34" charset="-120"/>
              </a:rPr>
              <a:t>$sort</a:t>
            </a:r>
            <a:endParaRPr lang="en-US" sz="1700" dirty="0"/>
          </a:p>
        </p:txBody>
      </p:sp>
      <p:sp>
        <p:nvSpPr>
          <p:cNvPr id="23" name="Text 21"/>
          <p:cNvSpPr/>
          <p:nvPr/>
        </p:nvSpPr>
        <p:spPr>
          <a:xfrm>
            <a:off x="7991856" y="1719072"/>
            <a:ext cx="1719072" cy="438912"/>
          </a:xfrm>
          <a:prstGeom prst="rect">
            <a:avLst/>
          </a:prstGeom>
          <a:noFill/>
          <a:ln/>
        </p:spPr>
        <p:txBody>
          <a:bodyPr wrap="square" lIns="0" tIns="0" rIns="0" bIns="0" rtlCol="0" anchor="ctr"/>
          <a:lstStyle/>
          <a:p>
            <a:pPr algn="ctr" indent="0" marL="0">
              <a:buNone/>
            </a:pPr>
            <a:r>
              <a:rPr lang="en-US" sz="1300" dirty="0">
                <a:solidFill>
                  <a:srgbClr val="FFFFFF"/>
                </a:solidFill>
                <a:latin typeface="Lexend Deca" pitchFamily="34" charset="0"/>
                <a:ea typeface="Lexend Deca" pitchFamily="34" charset="-122"/>
                <a:cs typeface="Lexend Deca" pitchFamily="34" charset="-120"/>
              </a:rPr>
              <a:t>≈ ORDER BY</a:t>
            </a:r>
            <a:endParaRPr lang="en-US" sz="1300" dirty="0"/>
          </a:p>
        </p:txBody>
      </p:sp>
      <p:sp>
        <p:nvSpPr>
          <p:cNvPr id="24" name="Text 22"/>
          <p:cNvSpPr/>
          <p:nvPr/>
        </p:nvSpPr>
        <p:spPr>
          <a:xfrm>
            <a:off x="9710928" y="1572768"/>
            <a:ext cx="137160" cy="347472"/>
          </a:xfrm>
          <a:prstGeom prst="rect">
            <a:avLst/>
          </a:prstGeom>
          <a:noFill/>
          <a:ln/>
        </p:spPr>
        <p:txBody>
          <a:bodyPr wrap="square" lIns="0" tIns="0" rIns="0" bIns="0" rtlCol="0" anchor="ctr"/>
          <a:lstStyle/>
          <a:p>
            <a:pPr algn="ctr" indent="0" marL="0">
              <a:buNone/>
            </a:pPr>
            <a:r>
              <a:rPr lang="en-US" sz="1300" dirty="0">
                <a:solidFill>
                  <a:srgbClr val="B8C4C2"/>
                </a:solidFill>
              </a:rPr>
              <a:t>▶</a:t>
            </a:r>
            <a:endParaRPr lang="en-US" sz="1300" dirty="0"/>
          </a:p>
        </p:txBody>
      </p:sp>
      <p:sp>
        <p:nvSpPr>
          <p:cNvPr id="25" name="Shape 23"/>
          <p:cNvSpPr/>
          <p:nvPr/>
        </p:nvSpPr>
        <p:spPr>
          <a:xfrm>
            <a:off x="9848088" y="960120"/>
            <a:ext cx="1719072" cy="1417320"/>
          </a:xfrm>
          <a:prstGeom prst="rect">
            <a:avLst/>
          </a:prstGeom>
          <a:solidFill>
            <a:srgbClr val="8B6914"/>
          </a:solidFill>
          <a:ln w="12700">
            <a:solidFill>
              <a:srgbClr val="8B6914"/>
            </a:solidFill>
            <a:prstDash val="solid"/>
          </a:ln>
          <a:effectLst>
            <a:outerShdw sx="100000" sy="100000" kx="0" ky="0" algn="bl" rotWithShape="0" blurRad="127000" dist="38100" dir="8100000">
              <a:srgbClr val="000000">
                <a:alpha val="28000"/>
              </a:srgbClr>
            </a:outerShdw>
          </a:effectLst>
        </p:spPr>
      </p:sp>
      <p:sp>
        <p:nvSpPr>
          <p:cNvPr id="26" name="Text 24"/>
          <p:cNvSpPr/>
          <p:nvPr/>
        </p:nvSpPr>
        <p:spPr>
          <a:xfrm>
            <a:off x="9848088" y="1078992"/>
            <a:ext cx="1719072" cy="621792"/>
          </a:xfrm>
          <a:prstGeom prst="rect">
            <a:avLst/>
          </a:prstGeom>
          <a:noFill/>
          <a:ln/>
        </p:spPr>
        <p:txBody>
          <a:bodyPr wrap="square" lIns="0" tIns="0" rIns="0" bIns="0" rtlCol="0" anchor="ctr"/>
          <a:lstStyle/>
          <a:p>
            <a:pPr algn="ctr" indent="0" marL="0">
              <a:buNone/>
            </a:pPr>
            <a:r>
              <a:rPr lang="en-US" sz="1700" b="1" dirty="0">
                <a:solidFill>
                  <a:srgbClr val="FFFFFF"/>
                </a:solidFill>
                <a:latin typeface="Source Code Pro" pitchFamily="34" charset="0"/>
                <a:ea typeface="Source Code Pro" pitchFamily="34" charset="-122"/>
                <a:cs typeface="Source Code Pro" pitchFamily="34" charset="-120"/>
              </a:rPr>
              <a:t>$limit</a:t>
            </a:r>
            <a:endParaRPr lang="en-US" sz="1700" dirty="0"/>
          </a:p>
        </p:txBody>
      </p:sp>
      <p:sp>
        <p:nvSpPr>
          <p:cNvPr id="27" name="Text 25"/>
          <p:cNvSpPr/>
          <p:nvPr/>
        </p:nvSpPr>
        <p:spPr>
          <a:xfrm>
            <a:off x="9848088" y="1719072"/>
            <a:ext cx="1719072" cy="438912"/>
          </a:xfrm>
          <a:prstGeom prst="rect">
            <a:avLst/>
          </a:prstGeom>
          <a:noFill/>
          <a:ln/>
        </p:spPr>
        <p:txBody>
          <a:bodyPr wrap="square" lIns="0" tIns="0" rIns="0" bIns="0" rtlCol="0" anchor="ctr"/>
          <a:lstStyle/>
          <a:p>
            <a:pPr algn="ctr" indent="0" marL="0">
              <a:buNone/>
            </a:pPr>
            <a:r>
              <a:rPr lang="en-US" sz="1300" dirty="0">
                <a:solidFill>
                  <a:srgbClr val="FFFFFF"/>
                </a:solidFill>
                <a:latin typeface="Lexend Deca" pitchFamily="34" charset="0"/>
                <a:ea typeface="Lexend Deca" pitchFamily="34" charset="-122"/>
                <a:cs typeface="Lexend Deca" pitchFamily="34" charset="-120"/>
              </a:rPr>
              <a:t>≈ LIMIT</a:t>
            </a:r>
            <a:endParaRPr lang="en-US" sz="1300" dirty="0"/>
          </a:p>
        </p:txBody>
      </p:sp>
      <p:sp>
        <p:nvSpPr>
          <p:cNvPr id="28" name="Shape 26"/>
          <p:cNvSpPr/>
          <p:nvPr/>
        </p:nvSpPr>
        <p:spPr>
          <a:xfrm>
            <a:off x="566928" y="2578608"/>
            <a:ext cx="11055096" cy="3950208"/>
          </a:xfrm>
          <a:prstGeom prst="rect">
            <a:avLst/>
          </a:prstGeom>
          <a:solidFill>
            <a:srgbClr val="011520"/>
          </a:solidFill>
          <a:ln w="15240">
            <a:solidFill>
              <a:srgbClr val="00ED64"/>
            </a:solidFill>
            <a:prstDash val="solid"/>
          </a:ln>
          <a:effectLst>
            <a:outerShdw sx="100000" sy="100000" kx="0" ky="0" algn="bl" rotWithShape="0" blurRad="127000" dist="38100" dir="8100000">
              <a:srgbClr val="000000">
                <a:alpha val="28000"/>
              </a:srgbClr>
            </a:outerShdw>
          </a:effectLst>
        </p:spPr>
      </p:sp>
      <p:sp>
        <p:nvSpPr>
          <p:cNvPr id="29" name="Text 27"/>
          <p:cNvSpPr/>
          <p:nvPr/>
        </p:nvSpPr>
        <p:spPr>
          <a:xfrm>
            <a:off x="704088" y="2697480"/>
            <a:ext cx="10780776" cy="3712464"/>
          </a:xfrm>
          <a:prstGeom prst="rect">
            <a:avLst/>
          </a:prstGeom>
          <a:noFill/>
          <a:ln/>
        </p:spPr>
        <p:txBody>
          <a:bodyPr wrap="square" lIns="0" tIns="0" rIns="0" bIns="0" rtlCol="0" anchor="t"/>
          <a:lstStyle/>
          <a:p>
            <a:pPr indent="0" marL="0">
              <a:buNone/>
            </a:pPr>
            <a:r>
              <a:rPr lang="en-US" sz="1100" dirty="0">
                <a:solidFill>
                  <a:srgbClr val="00ED64"/>
                </a:solidFill>
                <a:latin typeface="Source Code Pro" pitchFamily="34" charset="0"/>
                <a:ea typeface="Source Code Pro" pitchFamily="34" charset="-122"/>
                <a:cs typeface="Source Code Pro" pitchFamily="34" charset="-120"/>
              </a:rPr>
              <a:t>db.orders.aggregate([</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$match:   { status: "completed" }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$lookup:  { from:"customers", localField:"custId",</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foreignField:"_id", as:"customer" }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$unwind:  "$customer"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$group:   { _id: "$customer.region",</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totalRevenue: { $sum: "$amount"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orderCount:  { $sum: 1 } }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$project: { region:"$_id", totalRevenue:1, orderCount:1, _id:0 }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$sort:    { totalRevenue: -1 }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$limit:   10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1E2B"/>
        </a:solidFill>
      </p:bgPr>
    </p:bg>
    <p:spTree>
      <p:nvGrpSpPr>
        <p:cNvPr id="1" name=""/>
        <p:cNvGrpSpPr/>
        <p:nvPr/>
      </p:nvGrpSpPr>
      <p:grpSpPr>
        <a:xfrm>
          <a:off x="0" y="0"/>
          <a:ext cx="0" cy="0"/>
          <a:chOff x="0" y="0"/>
          <a:chExt cx="0" cy="0"/>
        </a:xfrm>
      </p:grpSpPr>
      <p:sp>
        <p:nvSpPr>
          <p:cNvPr id="2" name="Shape 0"/>
          <p:cNvSpPr/>
          <p:nvPr/>
        </p:nvSpPr>
        <p:spPr>
          <a:xfrm>
            <a:off x="0" y="6656832"/>
            <a:ext cx="12188952" cy="201168"/>
          </a:xfrm>
          <a:prstGeom prst="rect">
            <a:avLst/>
          </a:prstGeom>
          <a:solidFill>
            <a:srgbClr val="00ED64"/>
          </a:solidFill>
          <a:ln w="12700">
            <a:solidFill>
              <a:srgbClr val="00ED64"/>
            </a:solidFill>
            <a:prstDash val="solid"/>
          </a:ln>
        </p:spPr>
      </p:sp>
      <p:sp>
        <p:nvSpPr>
          <p:cNvPr id="3" name="Text 1"/>
          <p:cNvSpPr/>
          <p:nvPr/>
        </p:nvSpPr>
        <p:spPr>
          <a:xfrm>
            <a:off x="566928" y="201168"/>
            <a:ext cx="11055096" cy="594360"/>
          </a:xfrm>
          <a:prstGeom prst="rect">
            <a:avLst/>
          </a:prstGeom>
          <a:noFill/>
          <a:ln/>
        </p:spPr>
        <p:txBody>
          <a:bodyPr wrap="square" lIns="0" tIns="0" rIns="0" bIns="0" rtlCol="0" anchor="ctr"/>
          <a:lstStyle/>
          <a:p>
            <a:pPr indent="0" marL="0">
              <a:buNone/>
            </a:pPr>
            <a:r>
              <a:rPr lang="en-US" sz="3000" b="1" dirty="0">
                <a:solidFill>
                  <a:srgbClr val="FFFFFF"/>
                </a:solidFill>
                <a:latin typeface="Lexend Deca" pitchFamily="34" charset="0"/>
                <a:ea typeface="Lexend Deca" pitchFamily="34" charset="-122"/>
                <a:cs typeface="Lexend Deca" pitchFamily="34" charset="-120"/>
              </a:rPr>
              <a:t>Live Demo — Convert This SQL to Aggregation</a:t>
            </a:r>
            <a:endParaRPr lang="en-US" sz="3000" dirty="0"/>
          </a:p>
        </p:txBody>
      </p:sp>
      <p:sp>
        <p:nvSpPr>
          <p:cNvPr id="4" name="Shape 2"/>
          <p:cNvSpPr/>
          <p:nvPr/>
        </p:nvSpPr>
        <p:spPr>
          <a:xfrm>
            <a:off x="566928" y="822960"/>
            <a:ext cx="1280160" cy="54864"/>
          </a:xfrm>
          <a:prstGeom prst="rect">
            <a:avLst/>
          </a:prstGeom>
          <a:solidFill>
            <a:srgbClr val="00ED64"/>
          </a:solidFill>
          <a:ln w="12700">
            <a:solidFill>
              <a:srgbClr val="00ED64"/>
            </a:solidFill>
            <a:prstDash val="solid"/>
          </a:ln>
        </p:spPr>
      </p:sp>
      <p:sp>
        <p:nvSpPr>
          <p:cNvPr id="5" name="Text 3"/>
          <p:cNvSpPr/>
          <p:nvPr/>
        </p:nvSpPr>
        <p:spPr>
          <a:xfrm>
            <a:off x="566928" y="914400"/>
            <a:ext cx="11055096" cy="438912"/>
          </a:xfrm>
          <a:prstGeom prst="rect">
            <a:avLst/>
          </a:prstGeom>
          <a:noFill/>
          <a:ln/>
        </p:spPr>
        <p:txBody>
          <a:bodyPr wrap="square" lIns="0" tIns="0" rIns="0" bIns="0" rtlCol="0" anchor="ctr"/>
          <a:lstStyle/>
          <a:p>
            <a:pPr indent="0" marL="0">
              <a:buNone/>
            </a:pPr>
            <a:r>
              <a:rPr lang="en-US" sz="1600" dirty="0">
                <a:solidFill>
                  <a:srgbClr val="B8C4C2"/>
                </a:solidFill>
                <a:latin typeface="Lexend Deca" pitchFamily="34" charset="0"/>
                <a:ea typeface="Lexend Deca" pitchFamily="34" charset="-122"/>
                <a:cs typeface="Lexend Deca" pitchFamily="34" charset="-120"/>
              </a:rPr>
              <a:t>SQL query we'll port together  (3-table JOIN · GROUP BY · ORDER BY):</a:t>
            </a:r>
            <a:endParaRPr lang="en-US" sz="1600" dirty="0"/>
          </a:p>
        </p:txBody>
      </p:sp>
      <p:sp>
        <p:nvSpPr>
          <p:cNvPr id="6" name="Shape 4"/>
          <p:cNvSpPr/>
          <p:nvPr/>
        </p:nvSpPr>
        <p:spPr>
          <a:xfrm>
            <a:off x="566928" y="1444752"/>
            <a:ext cx="11055096" cy="3246120"/>
          </a:xfrm>
          <a:prstGeom prst="rect">
            <a:avLst/>
          </a:prstGeom>
          <a:solidFill>
            <a:srgbClr val="011520"/>
          </a:solidFill>
          <a:ln w="15240">
            <a:solidFill>
              <a:srgbClr val="00ED64"/>
            </a:solidFill>
            <a:prstDash val="solid"/>
          </a:ln>
          <a:effectLst>
            <a:outerShdw sx="100000" sy="100000" kx="0" ky="0" algn="bl" rotWithShape="0" blurRad="127000" dist="38100" dir="8100000">
              <a:srgbClr val="000000">
                <a:alpha val="28000"/>
              </a:srgbClr>
            </a:outerShdw>
          </a:effectLst>
        </p:spPr>
      </p:sp>
      <p:sp>
        <p:nvSpPr>
          <p:cNvPr id="7" name="Text 5"/>
          <p:cNvSpPr/>
          <p:nvPr/>
        </p:nvSpPr>
        <p:spPr>
          <a:xfrm>
            <a:off x="704088" y="1563624"/>
            <a:ext cx="10780776" cy="3008376"/>
          </a:xfrm>
          <a:prstGeom prst="rect">
            <a:avLst/>
          </a:prstGeom>
          <a:noFill/>
          <a:ln/>
        </p:spPr>
        <p:txBody>
          <a:bodyPr wrap="square" lIns="0" tIns="0" rIns="0" bIns="0" rtlCol="0" anchor="t"/>
          <a:lstStyle/>
          <a:p>
            <a:pPr indent="0" marL="0">
              <a:buNone/>
            </a:pPr>
            <a:r>
              <a:rPr lang="en-US" sz="1100" dirty="0">
                <a:solidFill>
                  <a:srgbClr val="00ED64"/>
                </a:solidFill>
                <a:latin typeface="Source Code Pro" pitchFamily="34" charset="0"/>
                <a:ea typeface="Source Code Pro" pitchFamily="34" charset="-122"/>
                <a:cs typeface="Source Code Pro" pitchFamily="34" charset="-120"/>
              </a:rPr>
              <a:t>-- Find top 5 regions by total revenue (completed orders only)</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SELECT</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c.region,</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COUNT(o.id)                    AS order_count,</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SUM(oi.qty * oi.unit_price)    AS total_revenue</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FROM   orders       o</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JOIN   customers    c   ON  o.customer_id  = c.id</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JOIN   order_items  oi  ON  oi.order_id    = o.id</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WHERE  o.status = 'completed'</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GROUP  BY c.region</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ORDER  BY total_revenue DESC</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LIMIT  5;</a:t>
            </a:r>
            <a:endParaRPr lang="en-US" sz="1100" dirty="0"/>
          </a:p>
        </p:txBody>
      </p:sp>
      <p:sp>
        <p:nvSpPr>
          <p:cNvPr id="8" name="Text 6"/>
          <p:cNvSpPr/>
          <p:nvPr/>
        </p:nvSpPr>
        <p:spPr>
          <a:xfrm>
            <a:off x="566928" y="4846320"/>
            <a:ext cx="11055096" cy="475488"/>
          </a:xfrm>
          <a:prstGeom prst="rect">
            <a:avLst/>
          </a:prstGeom>
          <a:noFill/>
          <a:ln/>
        </p:spPr>
        <p:txBody>
          <a:bodyPr wrap="square" lIns="0" tIns="0" rIns="0" bIns="0" rtlCol="0" anchor="ctr"/>
          <a:lstStyle/>
          <a:p>
            <a:pPr indent="0" marL="0">
              <a:buNone/>
            </a:pPr>
            <a:r>
              <a:rPr lang="en-US" sz="1600" i="1" dirty="0">
                <a:solidFill>
                  <a:srgbClr val="00ED64"/>
                </a:solidFill>
                <a:latin typeface="Lexend Deca" pitchFamily="34" charset="0"/>
                <a:ea typeface="Lexend Deca" pitchFamily="34" charset="-122"/>
                <a:cs typeface="Lexend Deca" pitchFamily="34" charset="-120"/>
              </a:rPr>
              <a:t>→  Build the equivalent pipeline stage-by-stage in Compass Aggregation Builder — one stage at a time</a:t>
            </a:r>
            <a:endParaRPr lang="en-US" sz="1600" dirty="0"/>
          </a:p>
        </p:txBody>
      </p:sp>
      <p:sp>
        <p:nvSpPr>
          <p:cNvPr id="9" name="Text 7"/>
          <p:cNvSpPr/>
          <p:nvPr/>
        </p:nvSpPr>
        <p:spPr>
          <a:xfrm>
            <a:off x="566928" y="5376672"/>
            <a:ext cx="11055096" cy="384048"/>
          </a:xfrm>
          <a:prstGeom prst="rect">
            <a:avLst/>
          </a:prstGeom>
          <a:noFill/>
          <a:ln/>
        </p:spPr>
        <p:txBody>
          <a:bodyPr wrap="square" lIns="0" tIns="0" rIns="0" bIns="0" rtlCol="0" anchor="ctr"/>
          <a:lstStyle/>
          <a:p>
            <a:pPr indent="0" marL="0">
              <a:buNone/>
            </a:pPr>
            <a:r>
              <a:rPr lang="en-US" sz="1400" dirty="0">
                <a:solidFill>
                  <a:srgbClr val="B8C4C2"/>
                </a:solidFill>
                <a:latin typeface="Lexend Deca" pitchFamily="34" charset="0"/>
                <a:ea typeface="Lexend Deca" pitchFamily="34" charset="-122"/>
                <a:cs typeface="Lexend Deca" pitchFamily="34" charset="-120"/>
              </a:rPr>
              <a:t>Watch the live preview update after every stage you add</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1E2B"/>
        </a:solidFill>
      </p:bgPr>
    </p:bg>
    <p:spTree>
      <p:nvGrpSpPr>
        <p:cNvPr id="1" name=""/>
        <p:cNvGrpSpPr/>
        <p:nvPr/>
      </p:nvGrpSpPr>
      <p:grpSpPr>
        <a:xfrm>
          <a:off x="0" y="0"/>
          <a:ext cx="0" cy="0"/>
          <a:chOff x="0" y="0"/>
          <a:chExt cx="0" cy="0"/>
        </a:xfrm>
      </p:grpSpPr>
      <p:sp>
        <p:nvSpPr>
          <p:cNvPr id="2" name="Shape 0"/>
          <p:cNvSpPr/>
          <p:nvPr/>
        </p:nvSpPr>
        <p:spPr>
          <a:xfrm>
            <a:off x="0" y="6656832"/>
            <a:ext cx="12188952" cy="201168"/>
          </a:xfrm>
          <a:prstGeom prst="rect">
            <a:avLst/>
          </a:prstGeom>
          <a:solidFill>
            <a:srgbClr val="00ED64"/>
          </a:solidFill>
          <a:ln w="12700">
            <a:solidFill>
              <a:srgbClr val="00ED64"/>
            </a:solidFill>
            <a:prstDash val="solid"/>
          </a:ln>
        </p:spPr>
      </p:sp>
      <p:sp>
        <p:nvSpPr>
          <p:cNvPr id="3" name="Shape 1"/>
          <p:cNvSpPr/>
          <p:nvPr/>
        </p:nvSpPr>
        <p:spPr>
          <a:xfrm>
            <a:off x="0" y="0"/>
            <a:ext cx="502920" cy="6858000"/>
          </a:xfrm>
          <a:prstGeom prst="rect">
            <a:avLst/>
          </a:prstGeom>
          <a:solidFill>
            <a:srgbClr val="00ED64"/>
          </a:solidFill>
          <a:ln w="12700">
            <a:solidFill>
              <a:srgbClr val="00ED64"/>
            </a:solidFill>
            <a:prstDash val="solid"/>
          </a:ln>
        </p:spPr>
      </p:sp>
      <p:sp>
        <p:nvSpPr>
          <p:cNvPr id="4" name="Shape 2"/>
          <p:cNvSpPr/>
          <p:nvPr/>
        </p:nvSpPr>
        <p:spPr>
          <a:xfrm>
            <a:off x="8686800" y="-914400"/>
            <a:ext cx="5486400" cy="5486400"/>
          </a:xfrm>
          <a:prstGeom prst="ellipse">
            <a:avLst/>
          </a:prstGeom>
          <a:solidFill>
            <a:srgbClr val="023430">
              <a:alpha val="60000"/>
            </a:srgbClr>
          </a:solidFill>
          <a:ln w="12700">
            <a:solidFill>
              <a:srgbClr val="023430"/>
            </a:solidFill>
            <a:prstDash val="solid"/>
          </a:ln>
        </p:spPr>
      </p:sp>
      <p:sp>
        <p:nvSpPr>
          <p:cNvPr id="5" name="Text 3"/>
          <p:cNvSpPr/>
          <p:nvPr/>
        </p:nvSpPr>
        <p:spPr>
          <a:xfrm>
            <a:off x="822960" y="1645920"/>
            <a:ext cx="2286000" cy="2011680"/>
          </a:xfrm>
          <a:prstGeom prst="rect">
            <a:avLst/>
          </a:prstGeom>
          <a:noFill/>
          <a:ln/>
        </p:spPr>
        <p:txBody>
          <a:bodyPr wrap="square" lIns="0" tIns="0" rIns="0" bIns="0" rtlCol="0" anchor="ctr"/>
          <a:lstStyle/>
          <a:p>
            <a:pPr indent="0" marL="0">
              <a:buNone/>
            </a:pPr>
            <a:r>
              <a:rPr lang="en-US" sz="12000" b="1" dirty="0">
                <a:solidFill>
                  <a:srgbClr val="00ED64">
                    <a:alpha val="80000"/>
                  </a:srgbClr>
                </a:solidFill>
                <a:latin typeface="Lexend Deca" pitchFamily="34" charset="0"/>
                <a:ea typeface="Lexend Deca" pitchFamily="34" charset="-122"/>
                <a:cs typeface="Lexend Deca" pitchFamily="34" charset="-120"/>
              </a:rPr>
              <a:t>03</a:t>
            </a:r>
            <a:endParaRPr lang="en-US" sz="12000" dirty="0"/>
          </a:p>
        </p:txBody>
      </p:sp>
      <p:sp>
        <p:nvSpPr>
          <p:cNvPr id="6" name="Text 4"/>
          <p:cNvSpPr/>
          <p:nvPr/>
        </p:nvSpPr>
        <p:spPr>
          <a:xfrm>
            <a:off x="822960" y="3749040"/>
            <a:ext cx="9144000" cy="1097280"/>
          </a:xfrm>
          <a:prstGeom prst="rect">
            <a:avLst/>
          </a:prstGeom>
          <a:noFill/>
          <a:ln/>
        </p:spPr>
        <p:txBody>
          <a:bodyPr wrap="square" lIns="0" tIns="0" rIns="0" bIns="0" rtlCol="0" anchor="ctr"/>
          <a:lstStyle/>
          <a:p>
            <a:pPr indent="0" marL="0">
              <a:buNone/>
            </a:pPr>
            <a:r>
              <a:rPr lang="en-US" sz="4800" b="1" dirty="0">
                <a:solidFill>
                  <a:srgbClr val="FFFFFF"/>
                </a:solidFill>
                <a:latin typeface="Lexend Deca" pitchFamily="34" charset="0"/>
                <a:ea typeface="Lexend Deca" pitchFamily="34" charset="-122"/>
                <a:cs typeface="Lexend Deca" pitchFamily="34" charset="-120"/>
              </a:rPr>
              <a:t>Indexes &amp; Performance</a:t>
            </a:r>
            <a:endParaRPr lang="en-US" sz="4800" dirty="0"/>
          </a:p>
        </p:txBody>
      </p:sp>
      <p:sp>
        <p:nvSpPr>
          <p:cNvPr id="7" name="Text 5"/>
          <p:cNvSpPr/>
          <p:nvPr/>
        </p:nvSpPr>
        <p:spPr>
          <a:xfrm>
            <a:off x="822960" y="4937760"/>
            <a:ext cx="8229600" cy="640080"/>
          </a:xfrm>
          <a:prstGeom prst="rect">
            <a:avLst/>
          </a:prstGeom>
          <a:noFill/>
          <a:ln/>
        </p:spPr>
        <p:txBody>
          <a:bodyPr wrap="square" lIns="0" tIns="0" rIns="0" bIns="0" rtlCol="0" anchor="ctr"/>
          <a:lstStyle/>
          <a:p>
            <a:pPr indent="0" marL="0">
              <a:buNone/>
            </a:pPr>
            <a:r>
              <a:rPr lang="en-US" sz="1800" i="1" dirty="0">
                <a:solidFill>
                  <a:srgbClr val="B8C4C2"/>
                </a:solidFill>
                <a:latin typeface="Lexend Deca" pitchFamily="34" charset="0"/>
                <a:ea typeface="Lexend Deca" pitchFamily="34" charset="-122"/>
                <a:cs typeface="Lexend Deca" pitchFamily="34" charset="-120"/>
              </a:rPr>
              <a:t>Single · Compound · Multikey · Explain Plan</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1E2B"/>
        </a:solidFill>
      </p:bgPr>
    </p:bg>
    <p:spTree>
      <p:nvGrpSpPr>
        <p:cNvPr id="1" name=""/>
        <p:cNvGrpSpPr/>
        <p:nvPr/>
      </p:nvGrpSpPr>
      <p:grpSpPr>
        <a:xfrm>
          <a:off x="0" y="0"/>
          <a:ext cx="0" cy="0"/>
          <a:chOff x="0" y="0"/>
          <a:chExt cx="0" cy="0"/>
        </a:xfrm>
      </p:grpSpPr>
      <p:sp>
        <p:nvSpPr>
          <p:cNvPr id="2" name="Shape 0"/>
          <p:cNvSpPr/>
          <p:nvPr/>
        </p:nvSpPr>
        <p:spPr>
          <a:xfrm>
            <a:off x="0" y="6656832"/>
            <a:ext cx="12188952" cy="201168"/>
          </a:xfrm>
          <a:prstGeom prst="rect">
            <a:avLst/>
          </a:prstGeom>
          <a:solidFill>
            <a:srgbClr val="00ED64"/>
          </a:solidFill>
          <a:ln w="12700">
            <a:solidFill>
              <a:srgbClr val="00ED64"/>
            </a:solidFill>
            <a:prstDash val="solid"/>
          </a:ln>
        </p:spPr>
      </p:sp>
      <p:sp>
        <p:nvSpPr>
          <p:cNvPr id="3" name="Text 1"/>
          <p:cNvSpPr/>
          <p:nvPr/>
        </p:nvSpPr>
        <p:spPr>
          <a:xfrm>
            <a:off x="566928" y="201168"/>
            <a:ext cx="11055096" cy="594360"/>
          </a:xfrm>
          <a:prstGeom prst="rect">
            <a:avLst/>
          </a:prstGeom>
          <a:noFill/>
          <a:ln/>
        </p:spPr>
        <p:txBody>
          <a:bodyPr wrap="square" lIns="0" tIns="0" rIns="0" bIns="0" rtlCol="0" anchor="ctr"/>
          <a:lstStyle/>
          <a:p>
            <a:pPr indent="0" marL="0">
              <a:buNone/>
            </a:pPr>
            <a:r>
              <a:rPr lang="en-US" sz="3000" b="1" dirty="0">
                <a:solidFill>
                  <a:srgbClr val="FFFFFF"/>
                </a:solidFill>
                <a:latin typeface="Lexend Deca" pitchFamily="34" charset="0"/>
                <a:ea typeface="Lexend Deca" pitchFamily="34" charset="-122"/>
                <a:cs typeface="Lexend Deca" pitchFamily="34" charset="-120"/>
              </a:rPr>
              <a:t>Indexes — Same Idea, More Power</a:t>
            </a:r>
            <a:endParaRPr lang="en-US" sz="3000" dirty="0"/>
          </a:p>
        </p:txBody>
      </p:sp>
      <p:sp>
        <p:nvSpPr>
          <p:cNvPr id="4" name="Shape 2"/>
          <p:cNvSpPr/>
          <p:nvPr/>
        </p:nvSpPr>
        <p:spPr>
          <a:xfrm>
            <a:off x="566928" y="822960"/>
            <a:ext cx="1280160" cy="54864"/>
          </a:xfrm>
          <a:prstGeom prst="rect">
            <a:avLst/>
          </a:prstGeom>
          <a:solidFill>
            <a:srgbClr val="00ED64"/>
          </a:solidFill>
          <a:ln w="12700">
            <a:solidFill>
              <a:srgbClr val="00ED64"/>
            </a:solidFill>
            <a:prstDash val="solid"/>
          </a:ln>
        </p:spPr>
      </p:sp>
      <p:sp>
        <p:nvSpPr>
          <p:cNvPr id="5" name="Shape 3"/>
          <p:cNvSpPr/>
          <p:nvPr/>
        </p:nvSpPr>
        <p:spPr>
          <a:xfrm>
            <a:off x="566928" y="960120"/>
            <a:ext cx="11055096" cy="1261872"/>
          </a:xfrm>
          <a:prstGeom prst="rect">
            <a:avLst/>
          </a:prstGeom>
          <a:solidFill>
            <a:srgbClr val="023430"/>
          </a:solidFill>
          <a:ln w="12700">
            <a:solidFill>
              <a:srgbClr val="023A50"/>
            </a:solidFill>
            <a:prstDash val="solid"/>
          </a:ln>
        </p:spPr>
      </p:sp>
      <p:sp>
        <p:nvSpPr>
          <p:cNvPr id="6" name="Shape 4"/>
          <p:cNvSpPr/>
          <p:nvPr/>
        </p:nvSpPr>
        <p:spPr>
          <a:xfrm>
            <a:off x="566928" y="960120"/>
            <a:ext cx="109728" cy="1261872"/>
          </a:xfrm>
          <a:prstGeom prst="rect">
            <a:avLst/>
          </a:prstGeom>
          <a:solidFill>
            <a:srgbClr val="00ED64"/>
          </a:solidFill>
          <a:ln w="12700">
            <a:solidFill>
              <a:srgbClr val="00ED64"/>
            </a:solidFill>
            <a:prstDash val="solid"/>
          </a:ln>
        </p:spPr>
      </p:sp>
      <p:sp>
        <p:nvSpPr>
          <p:cNvPr id="7" name="Text 5"/>
          <p:cNvSpPr/>
          <p:nvPr/>
        </p:nvSpPr>
        <p:spPr>
          <a:xfrm>
            <a:off x="822960" y="1014984"/>
            <a:ext cx="2926080" cy="475488"/>
          </a:xfrm>
          <a:prstGeom prst="rect">
            <a:avLst/>
          </a:prstGeom>
          <a:noFill/>
          <a:ln/>
        </p:spPr>
        <p:txBody>
          <a:bodyPr wrap="square" lIns="0" tIns="0" rIns="0" bIns="0" rtlCol="0" anchor="ctr"/>
          <a:lstStyle/>
          <a:p>
            <a:pPr indent="0" marL="0">
              <a:buNone/>
            </a:pPr>
            <a:r>
              <a:rPr lang="en-US" sz="1800" b="1" dirty="0">
                <a:solidFill>
                  <a:srgbClr val="00ED64"/>
                </a:solidFill>
                <a:latin typeface="Lexend Deca" pitchFamily="34" charset="0"/>
                <a:ea typeface="Lexend Deca" pitchFamily="34" charset="-122"/>
                <a:cs typeface="Lexend Deca" pitchFamily="34" charset="-120"/>
              </a:rPr>
              <a:t>Single Field</a:t>
            </a:r>
            <a:endParaRPr lang="en-US" sz="1800" dirty="0"/>
          </a:p>
        </p:txBody>
      </p:sp>
      <p:sp>
        <p:nvSpPr>
          <p:cNvPr id="8" name="Text 6"/>
          <p:cNvSpPr/>
          <p:nvPr/>
        </p:nvSpPr>
        <p:spPr>
          <a:xfrm>
            <a:off x="3858768" y="1033272"/>
            <a:ext cx="7772400" cy="402336"/>
          </a:xfrm>
          <a:prstGeom prst="rect">
            <a:avLst/>
          </a:prstGeom>
          <a:noFill/>
          <a:ln/>
        </p:spPr>
        <p:txBody>
          <a:bodyPr wrap="square" lIns="0" tIns="0" rIns="0" bIns="0" rtlCol="0" anchor="ctr"/>
          <a:lstStyle/>
          <a:p>
            <a:pPr indent="0" marL="0">
              <a:buNone/>
            </a:pPr>
            <a:r>
              <a:rPr lang="en-US" sz="1300" i="1" dirty="0">
                <a:solidFill>
                  <a:srgbClr val="B8C4C2"/>
                </a:solidFill>
                <a:latin typeface="Lexend Deca" pitchFamily="34" charset="0"/>
                <a:ea typeface="Lexend Deca" pitchFamily="34" charset="-122"/>
                <a:cs typeface="Lexend Deca" pitchFamily="34" charset="-120"/>
              </a:rPr>
              <a:t>SQL: CREATE INDEX ON users(age)</a:t>
            </a:r>
            <a:endParaRPr lang="en-US" sz="1300" dirty="0"/>
          </a:p>
        </p:txBody>
      </p:sp>
      <p:sp>
        <p:nvSpPr>
          <p:cNvPr id="9" name="Text 7"/>
          <p:cNvSpPr/>
          <p:nvPr/>
        </p:nvSpPr>
        <p:spPr>
          <a:xfrm>
            <a:off x="822960" y="1545336"/>
            <a:ext cx="6858000" cy="438912"/>
          </a:xfrm>
          <a:prstGeom prst="rect">
            <a:avLst/>
          </a:prstGeom>
          <a:noFill/>
          <a:ln/>
        </p:spPr>
        <p:txBody>
          <a:bodyPr wrap="square" lIns="0" tIns="0" rIns="0" bIns="0" rtlCol="0" anchor="ctr"/>
          <a:lstStyle/>
          <a:p>
            <a:pPr indent="0" marL="0">
              <a:buNone/>
            </a:pPr>
            <a:r>
              <a:rPr lang="en-US" sz="1300" dirty="0">
                <a:solidFill>
                  <a:srgbClr val="AADDCC"/>
                </a:solidFill>
                <a:latin typeface="Source Code Pro" pitchFamily="34" charset="0"/>
                <a:ea typeface="Source Code Pro" pitchFamily="34" charset="-122"/>
                <a:cs typeface="Source Code Pro" pitchFamily="34" charset="-120"/>
              </a:rPr>
              <a:t>db.users.createIndex({ age: 1 })</a:t>
            </a:r>
            <a:endParaRPr lang="en-US" sz="1300" dirty="0"/>
          </a:p>
        </p:txBody>
      </p:sp>
      <p:sp>
        <p:nvSpPr>
          <p:cNvPr id="10" name="Text 8"/>
          <p:cNvSpPr/>
          <p:nvPr/>
        </p:nvSpPr>
        <p:spPr>
          <a:xfrm>
            <a:off x="7790688" y="1563624"/>
            <a:ext cx="4114800" cy="438912"/>
          </a:xfrm>
          <a:prstGeom prst="rect">
            <a:avLst/>
          </a:prstGeom>
          <a:noFill/>
          <a:ln/>
        </p:spPr>
        <p:txBody>
          <a:bodyPr wrap="square" lIns="0" tIns="0" rIns="0" bIns="0" rtlCol="0" anchor="ctr"/>
          <a:lstStyle/>
          <a:p>
            <a:pPr indent="0" marL="0">
              <a:buNone/>
            </a:pPr>
            <a:r>
              <a:rPr lang="en-US" sz="1200" i="1" dirty="0">
                <a:solidFill>
                  <a:srgbClr val="B8C4C2"/>
                </a:solidFill>
                <a:latin typeface="Lexend Deca" pitchFamily="34" charset="0"/>
                <a:ea typeface="Lexend Deca" pitchFamily="34" charset="-122"/>
                <a:cs typeface="Lexend Deca" pitchFamily="34" charset="-120"/>
              </a:rPr>
              <a:t>⚑  1=ascending, -1=descending. Background by default.</a:t>
            </a:r>
            <a:endParaRPr lang="en-US" sz="1200" dirty="0"/>
          </a:p>
        </p:txBody>
      </p:sp>
      <p:sp>
        <p:nvSpPr>
          <p:cNvPr id="11" name="Shape 9"/>
          <p:cNvSpPr/>
          <p:nvPr/>
        </p:nvSpPr>
        <p:spPr>
          <a:xfrm>
            <a:off x="566928" y="2313432"/>
            <a:ext cx="11055096" cy="1261872"/>
          </a:xfrm>
          <a:prstGeom prst="rect">
            <a:avLst/>
          </a:prstGeom>
          <a:solidFill>
            <a:srgbClr val="023430"/>
          </a:solidFill>
          <a:ln w="12700">
            <a:solidFill>
              <a:srgbClr val="023A50"/>
            </a:solidFill>
            <a:prstDash val="solid"/>
          </a:ln>
        </p:spPr>
      </p:sp>
      <p:sp>
        <p:nvSpPr>
          <p:cNvPr id="12" name="Shape 10"/>
          <p:cNvSpPr/>
          <p:nvPr/>
        </p:nvSpPr>
        <p:spPr>
          <a:xfrm>
            <a:off x="566928" y="2313432"/>
            <a:ext cx="109728" cy="1261872"/>
          </a:xfrm>
          <a:prstGeom prst="rect">
            <a:avLst/>
          </a:prstGeom>
          <a:solidFill>
            <a:srgbClr val="00ED64"/>
          </a:solidFill>
          <a:ln w="12700">
            <a:solidFill>
              <a:srgbClr val="00ED64"/>
            </a:solidFill>
            <a:prstDash val="solid"/>
          </a:ln>
        </p:spPr>
      </p:sp>
      <p:sp>
        <p:nvSpPr>
          <p:cNvPr id="13" name="Text 11"/>
          <p:cNvSpPr/>
          <p:nvPr/>
        </p:nvSpPr>
        <p:spPr>
          <a:xfrm>
            <a:off x="822960" y="2368296"/>
            <a:ext cx="2926080" cy="475488"/>
          </a:xfrm>
          <a:prstGeom prst="rect">
            <a:avLst/>
          </a:prstGeom>
          <a:noFill/>
          <a:ln/>
        </p:spPr>
        <p:txBody>
          <a:bodyPr wrap="square" lIns="0" tIns="0" rIns="0" bIns="0" rtlCol="0" anchor="ctr"/>
          <a:lstStyle/>
          <a:p>
            <a:pPr indent="0" marL="0">
              <a:buNone/>
            </a:pPr>
            <a:r>
              <a:rPr lang="en-US" sz="1800" b="1" dirty="0">
                <a:solidFill>
                  <a:srgbClr val="00ED64"/>
                </a:solidFill>
                <a:latin typeface="Lexend Deca" pitchFamily="34" charset="0"/>
                <a:ea typeface="Lexend Deca" pitchFamily="34" charset="-122"/>
                <a:cs typeface="Lexend Deca" pitchFamily="34" charset="-120"/>
              </a:rPr>
              <a:t>Compound</a:t>
            </a:r>
            <a:endParaRPr lang="en-US" sz="1800" dirty="0"/>
          </a:p>
        </p:txBody>
      </p:sp>
      <p:sp>
        <p:nvSpPr>
          <p:cNvPr id="14" name="Text 12"/>
          <p:cNvSpPr/>
          <p:nvPr/>
        </p:nvSpPr>
        <p:spPr>
          <a:xfrm>
            <a:off x="3858768" y="2386584"/>
            <a:ext cx="7772400" cy="402336"/>
          </a:xfrm>
          <a:prstGeom prst="rect">
            <a:avLst/>
          </a:prstGeom>
          <a:noFill/>
          <a:ln/>
        </p:spPr>
        <p:txBody>
          <a:bodyPr wrap="square" lIns="0" tIns="0" rIns="0" bIns="0" rtlCol="0" anchor="ctr"/>
          <a:lstStyle/>
          <a:p>
            <a:pPr indent="0" marL="0">
              <a:buNone/>
            </a:pPr>
            <a:r>
              <a:rPr lang="en-US" sz="1300" i="1" dirty="0">
                <a:solidFill>
                  <a:srgbClr val="B8C4C2"/>
                </a:solidFill>
                <a:latin typeface="Lexend Deca" pitchFamily="34" charset="0"/>
                <a:ea typeface="Lexend Deca" pitchFamily="34" charset="-122"/>
                <a:cs typeface="Lexend Deca" pitchFamily="34" charset="-120"/>
              </a:rPr>
              <a:t>SQL: CREATE INDEX ON orders(status, createdAt)</a:t>
            </a:r>
            <a:endParaRPr lang="en-US" sz="1300" dirty="0"/>
          </a:p>
        </p:txBody>
      </p:sp>
      <p:sp>
        <p:nvSpPr>
          <p:cNvPr id="15" name="Text 13"/>
          <p:cNvSpPr/>
          <p:nvPr/>
        </p:nvSpPr>
        <p:spPr>
          <a:xfrm>
            <a:off x="822960" y="2898648"/>
            <a:ext cx="6858000" cy="438912"/>
          </a:xfrm>
          <a:prstGeom prst="rect">
            <a:avLst/>
          </a:prstGeom>
          <a:noFill/>
          <a:ln/>
        </p:spPr>
        <p:txBody>
          <a:bodyPr wrap="square" lIns="0" tIns="0" rIns="0" bIns="0" rtlCol="0" anchor="ctr"/>
          <a:lstStyle/>
          <a:p>
            <a:pPr indent="0" marL="0">
              <a:buNone/>
            </a:pPr>
            <a:r>
              <a:rPr lang="en-US" sz="1300" dirty="0">
                <a:solidFill>
                  <a:srgbClr val="AADDCC"/>
                </a:solidFill>
                <a:latin typeface="Source Code Pro" pitchFamily="34" charset="0"/>
                <a:ea typeface="Source Code Pro" pitchFamily="34" charset="-122"/>
                <a:cs typeface="Source Code Pro" pitchFamily="34" charset="-120"/>
              </a:rPr>
              <a:t>db.orders.createIndex({ status: 1, createdAt: -1 })</a:t>
            </a:r>
            <a:endParaRPr lang="en-US" sz="1300" dirty="0"/>
          </a:p>
        </p:txBody>
      </p:sp>
      <p:sp>
        <p:nvSpPr>
          <p:cNvPr id="16" name="Text 14"/>
          <p:cNvSpPr/>
          <p:nvPr/>
        </p:nvSpPr>
        <p:spPr>
          <a:xfrm>
            <a:off x="7790688" y="2916936"/>
            <a:ext cx="4114800" cy="438912"/>
          </a:xfrm>
          <a:prstGeom prst="rect">
            <a:avLst/>
          </a:prstGeom>
          <a:noFill/>
          <a:ln/>
        </p:spPr>
        <p:txBody>
          <a:bodyPr wrap="square" lIns="0" tIns="0" rIns="0" bIns="0" rtlCol="0" anchor="ctr"/>
          <a:lstStyle/>
          <a:p>
            <a:pPr indent="0" marL="0">
              <a:buNone/>
            </a:pPr>
            <a:r>
              <a:rPr lang="en-US" sz="1200" i="1" dirty="0">
                <a:solidFill>
                  <a:srgbClr val="B8C4C2"/>
                </a:solidFill>
                <a:latin typeface="Lexend Deca" pitchFamily="34" charset="0"/>
                <a:ea typeface="Lexend Deca" pitchFamily="34" charset="-122"/>
                <a:cs typeface="Lexend Deca" pitchFamily="34" charset="-120"/>
              </a:rPr>
              <a:t>⚑  Order matters — prefix rule same as SQL Server / PostgreSQL.</a:t>
            </a:r>
            <a:endParaRPr lang="en-US" sz="1200" dirty="0"/>
          </a:p>
        </p:txBody>
      </p:sp>
      <p:sp>
        <p:nvSpPr>
          <p:cNvPr id="17" name="Shape 15"/>
          <p:cNvSpPr/>
          <p:nvPr/>
        </p:nvSpPr>
        <p:spPr>
          <a:xfrm>
            <a:off x="566928" y="3666744"/>
            <a:ext cx="11055096" cy="1261872"/>
          </a:xfrm>
          <a:prstGeom prst="rect">
            <a:avLst/>
          </a:prstGeom>
          <a:solidFill>
            <a:srgbClr val="023430"/>
          </a:solidFill>
          <a:ln w="12700">
            <a:solidFill>
              <a:srgbClr val="023A50"/>
            </a:solidFill>
            <a:prstDash val="solid"/>
          </a:ln>
        </p:spPr>
      </p:sp>
      <p:sp>
        <p:nvSpPr>
          <p:cNvPr id="18" name="Shape 16"/>
          <p:cNvSpPr/>
          <p:nvPr/>
        </p:nvSpPr>
        <p:spPr>
          <a:xfrm>
            <a:off x="566928" y="3666744"/>
            <a:ext cx="109728" cy="1261872"/>
          </a:xfrm>
          <a:prstGeom prst="rect">
            <a:avLst/>
          </a:prstGeom>
          <a:solidFill>
            <a:srgbClr val="00ED64"/>
          </a:solidFill>
          <a:ln w="12700">
            <a:solidFill>
              <a:srgbClr val="00ED64"/>
            </a:solidFill>
            <a:prstDash val="solid"/>
          </a:ln>
        </p:spPr>
      </p:sp>
      <p:sp>
        <p:nvSpPr>
          <p:cNvPr id="19" name="Text 17"/>
          <p:cNvSpPr/>
          <p:nvPr/>
        </p:nvSpPr>
        <p:spPr>
          <a:xfrm>
            <a:off x="822960" y="3721608"/>
            <a:ext cx="2926080" cy="475488"/>
          </a:xfrm>
          <a:prstGeom prst="rect">
            <a:avLst/>
          </a:prstGeom>
          <a:noFill/>
          <a:ln/>
        </p:spPr>
        <p:txBody>
          <a:bodyPr wrap="square" lIns="0" tIns="0" rIns="0" bIns="0" rtlCol="0" anchor="ctr"/>
          <a:lstStyle/>
          <a:p>
            <a:pPr indent="0" marL="0">
              <a:buNone/>
            </a:pPr>
            <a:r>
              <a:rPr lang="en-US" sz="1800" b="1" dirty="0">
                <a:solidFill>
                  <a:srgbClr val="00ED64"/>
                </a:solidFill>
                <a:latin typeface="Lexend Deca" pitchFamily="34" charset="0"/>
                <a:ea typeface="Lexend Deca" pitchFamily="34" charset="-122"/>
                <a:cs typeface="Lexend Deca" pitchFamily="34" charset="-120"/>
              </a:rPr>
              <a:t>Multikey (Arrays)</a:t>
            </a:r>
            <a:endParaRPr lang="en-US" sz="1800" dirty="0"/>
          </a:p>
        </p:txBody>
      </p:sp>
      <p:sp>
        <p:nvSpPr>
          <p:cNvPr id="20" name="Text 18"/>
          <p:cNvSpPr/>
          <p:nvPr/>
        </p:nvSpPr>
        <p:spPr>
          <a:xfrm>
            <a:off x="3858768" y="3739896"/>
            <a:ext cx="7772400" cy="402336"/>
          </a:xfrm>
          <a:prstGeom prst="rect">
            <a:avLst/>
          </a:prstGeom>
          <a:noFill/>
          <a:ln/>
        </p:spPr>
        <p:txBody>
          <a:bodyPr wrap="square" lIns="0" tIns="0" rIns="0" bIns="0" rtlCol="0" anchor="ctr"/>
          <a:lstStyle/>
          <a:p>
            <a:pPr indent="0" marL="0">
              <a:buNone/>
            </a:pPr>
            <a:r>
              <a:rPr lang="en-US" sz="1300" i="1" dirty="0">
                <a:solidFill>
                  <a:srgbClr val="B8C4C2"/>
                </a:solidFill>
                <a:latin typeface="Lexend Deca" pitchFamily="34" charset="0"/>
                <a:ea typeface="Lexend Deca" pitchFamily="34" charset="-122"/>
                <a:cs typeface="Lexend Deca" pitchFamily="34" charset="-120"/>
              </a:rPr>
              <a:t>SQL: No direct equivalent — needs junction table</a:t>
            </a:r>
            <a:endParaRPr lang="en-US" sz="1300" dirty="0"/>
          </a:p>
        </p:txBody>
      </p:sp>
      <p:sp>
        <p:nvSpPr>
          <p:cNvPr id="21" name="Text 19"/>
          <p:cNvSpPr/>
          <p:nvPr/>
        </p:nvSpPr>
        <p:spPr>
          <a:xfrm>
            <a:off x="822960" y="4251960"/>
            <a:ext cx="6858000" cy="438912"/>
          </a:xfrm>
          <a:prstGeom prst="rect">
            <a:avLst/>
          </a:prstGeom>
          <a:noFill/>
          <a:ln/>
        </p:spPr>
        <p:txBody>
          <a:bodyPr wrap="square" lIns="0" tIns="0" rIns="0" bIns="0" rtlCol="0" anchor="ctr"/>
          <a:lstStyle/>
          <a:p>
            <a:pPr indent="0" marL="0">
              <a:buNone/>
            </a:pPr>
            <a:r>
              <a:rPr lang="en-US" sz="1300" dirty="0">
                <a:solidFill>
                  <a:srgbClr val="AADDCC"/>
                </a:solidFill>
                <a:latin typeface="Source Code Pro" pitchFamily="34" charset="0"/>
                <a:ea typeface="Source Code Pro" pitchFamily="34" charset="-122"/>
                <a:cs typeface="Source Code Pro" pitchFamily="34" charset="-120"/>
              </a:rPr>
              <a:t>db.posts.createIndex({ tags: 1 })</a:t>
            </a:r>
            <a:endParaRPr lang="en-US" sz="1300" dirty="0"/>
          </a:p>
        </p:txBody>
      </p:sp>
      <p:sp>
        <p:nvSpPr>
          <p:cNvPr id="22" name="Text 20"/>
          <p:cNvSpPr/>
          <p:nvPr/>
        </p:nvSpPr>
        <p:spPr>
          <a:xfrm>
            <a:off x="7790688" y="4270248"/>
            <a:ext cx="4114800" cy="438912"/>
          </a:xfrm>
          <a:prstGeom prst="rect">
            <a:avLst/>
          </a:prstGeom>
          <a:noFill/>
          <a:ln/>
        </p:spPr>
        <p:txBody>
          <a:bodyPr wrap="square" lIns="0" tIns="0" rIns="0" bIns="0" rtlCol="0" anchor="ctr"/>
          <a:lstStyle/>
          <a:p>
            <a:pPr indent="0" marL="0">
              <a:buNone/>
            </a:pPr>
            <a:r>
              <a:rPr lang="en-US" sz="1200" i="1" dirty="0">
                <a:solidFill>
                  <a:srgbClr val="B8C4C2"/>
                </a:solidFill>
                <a:latin typeface="Lexend Deca" pitchFamily="34" charset="0"/>
                <a:ea typeface="Lexend Deca" pitchFamily="34" charset="-122"/>
                <a:cs typeface="Lexend Deca" pitchFamily="34" charset="-120"/>
              </a:rPr>
              <a:t>⚑  Indexes every array element. { tags:"mongodb" } uses this.</a:t>
            </a:r>
            <a:endParaRPr lang="en-US" sz="1200" dirty="0"/>
          </a:p>
        </p:txBody>
      </p:sp>
      <p:sp>
        <p:nvSpPr>
          <p:cNvPr id="23" name="Shape 21"/>
          <p:cNvSpPr/>
          <p:nvPr/>
        </p:nvSpPr>
        <p:spPr>
          <a:xfrm>
            <a:off x="566928" y="5020056"/>
            <a:ext cx="11055096" cy="1261872"/>
          </a:xfrm>
          <a:prstGeom prst="rect">
            <a:avLst/>
          </a:prstGeom>
          <a:solidFill>
            <a:srgbClr val="023430"/>
          </a:solidFill>
          <a:ln w="12700">
            <a:solidFill>
              <a:srgbClr val="023A50"/>
            </a:solidFill>
            <a:prstDash val="solid"/>
          </a:ln>
        </p:spPr>
      </p:sp>
      <p:sp>
        <p:nvSpPr>
          <p:cNvPr id="24" name="Shape 22"/>
          <p:cNvSpPr/>
          <p:nvPr/>
        </p:nvSpPr>
        <p:spPr>
          <a:xfrm>
            <a:off x="566928" y="5020056"/>
            <a:ext cx="109728" cy="1261872"/>
          </a:xfrm>
          <a:prstGeom prst="rect">
            <a:avLst/>
          </a:prstGeom>
          <a:solidFill>
            <a:srgbClr val="00ED64"/>
          </a:solidFill>
          <a:ln w="12700">
            <a:solidFill>
              <a:srgbClr val="00ED64"/>
            </a:solidFill>
            <a:prstDash val="solid"/>
          </a:ln>
        </p:spPr>
      </p:sp>
      <p:sp>
        <p:nvSpPr>
          <p:cNvPr id="25" name="Text 23"/>
          <p:cNvSpPr/>
          <p:nvPr/>
        </p:nvSpPr>
        <p:spPr>
          <a:xfrm>
            <a:off x="822960" y="5074920"/>
            <a:ext cx="2926080" cy="475488"/>
          </a:xfrm>
          <a:prstGeom prst="rect">
            <a:avLst/>
          </a:prstGeom>
          <a:noFill/>
          <a:ln/>
        </p:spPr>
        <p:txBody>
          <a:bodyPr wrap="square" lIns="0" tIns="0" rIns="0" bIns="0" rtlCol="0" anchor="ctr"/>
          <a:lstStyle/>
          <a:p>
            <a:pPr indent="0" marL="0">
              <a:buNone/>
            </a:pPr>
            <a:r>
              <a:rPr lang="en-US" sz="1800" b="1" dirty="0">
                <a:solidFill>
                  <a:srgbClr val="00ED64"/>
                </a:solidFill>
                <a:latin typeface="Lexend Deca" pitchFamily="34" charset="0"/>
                <a:ea typeface="Lexend Deca" pitchFamily="34" charset="-122"/>
                <a:cs typeface="Lexend Deca" pitchFamily="34" charset="-120"/>
              </a:rPr>
              <a:t>Text Index</a:t>
            </a:r>
            <a:endParaRPr lang="en-US" sz="1800" dirty="0"/>
          </a:p>
        </p:txBody>
      </p:sp>
      <p:sp>
        <p:nvSpPr>
          <p:cNvPr id="26" name="Text 24"/>
          <p:cNvSpPr/>
          <p:nvPr/>
        </p:nvSpPr>
        <p:spPr>
          <a:xfrm>
            <a:off x="3858768" y="5093208"/>
            <a:ext cx="7772400" cy="402336"/>
          </a:xfrm>
          <a:prstGeom prst="rect">
            <a:avLst/>
          </a:prstGeom>
          <a:noFill/>
          <a:ln/>
        </p:spPr>
        <p:txBody>
          <a:bodyPr wrap="square" lIns="0" tIns="0" rIns="0" bIns="0" rtlCol="0" anchor="ctr"/>
          <a:lstStyle/>
          <a:p>
            <a:pPr indent="0" marL="0">
              <a:buNone/>
            </a:pPr>
            <a:r>
              <a:rPr lang="en-US" sz="1300" i="1" dirty="0">
                <a:solidFill>
                  <a:srgbClr val="B8C4C2"/>
                </a:solidFill>
                <a:latin typeface="Lexend Deca" pitchFamily="34" charset="0"/>
                <a:ea typeface="Lexend Deca" pitchFamily="34" charset="-122"/>
                <a:cs typeface="Lexend Deca" pitchFamily="34" charset="-120"/>
              </a:rPr>
              <a:t>SQL: FULLTEXT INDEX on articles(body)</a:t>
            </a:r>
            <a:endParaRPr lang="en-US" sz="1300" dirty="0"/>
          </a:p>
        </p:txBody>
      </p:sp>
      <p:sp>
        <p:nvSpPr>
          <p:cNvPr id="27" name="Text 25"/>
          <p:cNvSpPr/>
          <p:nvPr/>
        </p:nvSpPr>
        <p:spPr>
          <a:xfrm>
            <a:off x="822960" y="5605272"/>
            <a:ext cx="6858000" cy="438912"/>
          </a:xfrm>
          <a:prstGeom prst="rect">
            <a:avLst/>
          </a:prstGeom>
          <a:noFill/>
          <a:ln/>
        </p:spPr>
        <p:txBody>
          <a:bodyPr wrap="square" lIns="0" tIns="0" rIns="0" bIns="0" rtlCol="0" anchor="ctr"/>
          <a:lstStyle/>
          <a:p>
            <a:pPr indent="0" marL="0">
              <a:buNone/>
            </a:pPr>
            <a:r>
              <a:rPr lang="en-US" sz="1300" dirty="0">
                <a:solidFill>
                  <a:srgbClr val="AADDCC"/>
                </a:solidFill>
                <a:latin typeface="Source Code Pro" pitchFamily="34" charset="0"/>
                <a:ea typeface="Source Code Pro" pitchFamily="34" charset="-122"/>
                <a:cs typeface="Source Code Pro" pitchFamily="34" charset="-120"/>
              </a:rPr>
              <a:t>db.articles.createIndex({ title:"text", body:"text" })</a:t>
            </a:r>
            <a:endParaRPr lang="en-US" sz="1300" dirty="0"/>
          </a:p>
        </p:txBody>
      </p:sp>
      <p:sp>
        <p:nvSpPr>
          <p:cNvPr id="28" name="Text 26"/>
          <p:cNvSpPr/>
          <p:nvPr/>
        </p:nvSpPr>
        <p:spPr>
          <a:xfrm>
            <a:off x="7790688" y="5623560"/>
            <a:ext cx="4114800" cy="438912"/>
          </a:xfrm>
          <a:prstGeom prst="rect">
            <a:avLst/>
          </a:prstGeom>
          <a:noFill/>
          <a:ln/>
        </p:spPr>
        <p:txBody>
          <a:bodyPr wrap="square" lIns="0" tIns="0" rIns="0" bIns="0" rtlCol="0" anchor="ctr"/>
          <a:lstStyle/>
          <a:p>
            <a:pPr indent="0" marL="0">
              <a:buNone/>
            </a:pPr>
            <a:r>
              <a:rPr lang="en-US" sz="1200" i="1" dirty="0">
                <a:solidFill>
                  <a:srgbClr val="B8C4C2"/>
                </a:solidFill>
                <a:latin typeface="Lexend Deca" pitchFamily="34" charset="0"/>
                <a:ea typeface="Lexend Deca" pitchFamily="34" charset="-122"/>
                <a:cs typeface="Lexend Deca" pitchFamily="34" charset="-120"/>
              </a:rPr>
              <a:t>⚑  Query: { $text: { $search: "mongodb aggregation" } }</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1E2B"/>
        </a:solidFill>
      </p:bgPr>
    </p:bg>
    <p:spTree>
      <p:nvGrpSpPr>
        <p:cNvPr id="1" name=""/>
        <p:cNvGrpSpPr/>
        <p:nvPr/>
      </p:nvGrpSpPr>
      <p:grpSpPr>
        <a:xfrm>
          <a:off x="0" y="0"/>
          <a:ext cx="0" cy="0"/>
          <a:chOff x="0" y="0"/>
          <a:chExt cx="0" cy="0"/>
        </a:xfrm>
      </p:grpSpPr>
      <p:sp>
        <p:nvSpPr>
          <p:cNvPr id="2" name="Shape 0"/>
          <p:cNvSpPr/>
          <p:nvPr/>
        </p:nvSpPr>
        <p:spPr>
          <a:xfrm>
            <a:off x="0" y="6656832"/>
            <a:ext cx="12188952" cy="201168"/>
          </a:xfrm>
          <a:prstGeom prst="rect">
            <a:avLst/>
          </a:prstGeom>
          <a:solidFill>
            <a:srgbClr val="00ED64"/>
          </a:solidFill>
          <a:ln w="12700">
            <a:solidFill>
              <a:srgbClr val="00ED64"/>
            </a:solidFill>
            <a:prstDash val="solid"/>
          </a:ln>
        </p:spPr>
      </p:sp>
      <p:sp>
        <p:nvSpPr>
          <p:cNvPr id="3" name="Text 1"/>
          <p:cNvSpPr/>
          <p:nvPr/>
        </p:nvSpPr>
        <p:spPr>
          <a:xfrm>
            <a:off x="566928" y="201168"/>
            <a:ext cx="11055096" cy="594360"/>
          </a:xfrm>
          <a:prstGeom prst="rect">
            <a:avLst/>
          </a:prstGeom>
          <a:noFill/>
          <a:ln/>
        </p:spPr>
        <p:txBody>
          <a:bodyPr wrap="square" lIns="0" tIns="0" rIns="0" bIns="0" rtlCol="0" anchor="ctr"/>
          <a:lstStyle/>
          <a:p>
            <a:pPr indent="0" marL="0">
              <a:buNone/>
            </a:pPr>
            <a:r>
              <a:rPr lang="en-US" sz="3000" b="1" dirty="0">
                <a:solidFill>
                  <a:srgbClr val="FFFFFF"/>
                </a:solidFill>
                <a:latin typeface="Lexend Deca" pitchFamily="34" charset="0"/>
                <a:ea typeface="Lexend Deca" pitchFamily="34" charset="-122"/>
                <a:cs typeface="Lexend Deca" pitchFamily="34" charset="-120"/>
              </a:rPr>
              <a:t>Explain Plan — Find Your Slow Queries</a:t>
            </a:r>
            <a:endParaRPr lang="en-US" sz="3000" dirty="0"/>
          </a:p>
        </p:txBody>
      </p:sp>
      <p:sp>
        <p:nvSpPr>
          <p:cNvPr id="4" name="Shape 2"/>
          <p:cNvSpPr/>
          <p:nvPr/>
        </p:nvSpPr>
        <p:spPr>
          <a:xfrm>
            <a:off x="566928" y="822960"/>
            <a:ext cx="1280160" cy="54864"/>
          </a:xfrm>
          <a:prstGeom prst="rect">
            <a:avLst/>
          </a:prstGeom>
          <a:solidFill>
            <a:srgbClr val="00ED64"/>
          </a:solidFill>
          <a:ln w="12700">
            <a:solidFill>
              <a:srgbClr val="00ED64"/>
            </a:solidFill>
            <a:prstDash val="solid"/>
          </a:ln>
        </p:spPr>
      </p:sp>
      <p:sp>
        <p:nvSpPr>
          <p:cNvPr id="5" name="Text 3"/>
          <p:cNvSpPr/>
          <p:nvPr/>
        </p:nvSpPr>
        <p:spPr>
          <a:xfrm>
            <a:off x="566928" y="914400"/>
            <a:ext cx="11055096" cy="475488"/>
          </a:xfrm>
          <a:prstGeom prst="rect">
            <a:avLst/>
          </a:prstGeom>
          <a:noFill/>
          <a:ln/>
        </p:spPr>
        <p:txBody>
          <a:bodyPr wrap="square" lIns="0" tIns="0" rIns="0" bIns="0" rtlCol="0" anchor="ctr"/>
          <a:lstStyle/>
          <a:p>
            <a:pPr indent="0" marL="0">
              <a:buNone/>
            </a:pPr>
            <a:r>
              <a:rPr lang="en-US" sz="1400" dirty="0">
                <a:solidFill>
                  <a:srgbClr val="B8C4C2"/>
                </a:solidFill>
                <a:latin typeface="Source Code Pro" pitchFamily="34" charset="0"/>
                <a:ea typeface="Source Code Pro" pitchFamily="34" charset="-122"/>
                <a:cs typeface="Source Code Pro" pitchFamily="34" charset="-120"/>
              </a:rPr>
              <a:t>SQL: EXPLAIN SELECT ...      MongoDB: db.collection.explain("executionStats").find(...)</a:t>
            </a:r>
            <a:endParaRPr lang="en-US" sz="1400" dirty="0"/>
          </a:p>
        </p:txBody>
      </p:sp>
      <p:sp>
        <p:nvSpPr>
          <p:cNvPr id="6" name="Shape 4"/>
          <p:cNvSpPr/>
          <p:nvPr/>
        </p:nvSpPr>
        <p:spPr>
          <a:xfrm>
            <a:off x="566928" y="1481328"/>
            <a:ext cx="11055096" cy="1444752"/>
          </a:xfrm>
          <a:prstGeom prst="rect">
            <a:avLst/>
          </a:prstGeom>
          <a:solidFill>
            <a:srgbClr val="011520"/>
          </a:solidFill>
          <a:ln w="15240">
            <a:solidFill>
              <a:srgbClr val="00ED64"/>
            </a:solidFill>
            <a:prstDash val="solid"/>
          </a:ln>
          <a:effectLst>
            <a:outerShdw sx="100000" sy="100000" kx="0" ky="0" algn="bl" rotWithShape="0" blurRad="127000" dist="38100" dir="8100000">
              <a:srgbClr val="000000">
                <a:alpha val="28000"/>
              </a:srgbClr>
            </a:outerShdw>
          </a:effectLst>
        </p:spPr>
      </p:sp>
      <p:sp>
        <p:nvSpPr>
          <p:cNvPr id="7" name="Text 5"/>
          <p:cNvSpPr/>
          <p:nvPr/>
        </p:nvSpPr>
        <p:spPr>
          <a:xfrm>
            <a:off x="704088" y="1600200"/>
            <a:ext cx="10780776" cy="1207008"/>
          </a:xfrm>
          <a:prstGeom prst="rect">
            <a:avLst/>
          </a:prstGeom>
          <a:noFill/>
          <a:ln/>
        </p:spPr>
        <p:txBody>
          <a:bodyPr wrap="square" lIns="0" tIns="0" rIns="0" bIns="0" rtlCol="0" anchor="t"/>
          <a:lstStyle/>
          <a:p>
            <a:pPr indent="0" marL="0">
              <a:buNone/>
            </a:pPr>
            <a:r>
              <a:rPr lang="en-US" sz="1100" dirty="0">
                <a:solidFill>
                  <a:srgbClr val="00ED64"/>
                </a:solidFill>
                <a:latin typeface="Source Code Pro" pitchFamily="34" charset="0"/>
                <a:ea typeface="Source Code Pro" pitchFamily="34" charset="-122"/>
                <a:cs typeface="Source Code Pro" pitchFamily="34" charset="-120"/>
              </a:rPr>
              <a:t>db.orders</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.explain("executionStats")</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.find(</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customerId: ObjectId("abc123"), status: "completed"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amount: 1, createdAt: 1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a:t>
            </a:r>
            <a:endParaRPr lang="en-US" sz="1100" dirty="0"/>
          </a:p>
        </p:txBody>
      </p:sp>
      <p:sp>
        <p:nvSpPr>
          <p:cNvPr id="8" name="Shape 6"/>
          <p:cNvSpPr/>
          <p:nvPr/>
        </p:nvSpPr>
        <p:spPr>
          <a:xfrm>
            <a:off x="566928" y="3035808"/>
            <a:ext cx="11055096" cy="603504"/>
          </a:xfrm>
          <a:prstGeom prst="rect">
            <a:avLst/>
          </a:prstGeom>
          <a:solidFill>
            <a:srgbClr val="023430"/>
          </a:solidFill>
          <a:ln w="12700">
            <a:solidFill>
              <a:srgbClr val="012A3A"/>
            </a:solidFill>
            <a:prstDash val="solid"/>
          </a:ln>
        </p:spPr>
      </p:sp>
      <p:sp>
        <p:nvSpPr>
          <p:cNvPr id="9" name="Text 7"/>
          <p:cNvSpPr/>
          <p:nvPr/>
        </p:nvSpPr>
        <p:spPr>
          <a:xfrm>
            <a:off x="749808" y="3072384"/>
            <a:ext cx="5029200" cy="502920"/>
          </a:xfrm>
          <a:prstGeom prst="rect">
            <a:avLst/>
          </a:prstGeom>
          <a:noFill/>
          <a:ln/>
        </p:spPr>
        <p:txBody>
          <a:bodyPr wrap="square" lIns="0" tIns="0" rIns="0" bIns="0" rtlCol="0" anchor="ctr"/>
          <a:lstStyle/>
          <a:p>
            <a:pPr indent="0" marL="0">
              <a:buNone/>
            </a:pPr>
            <a:r>
              <a:rPr lang="en-US" sz="1300" dirty="0">
                <a:solidFill>
                  <a:srgbClr val="00ED64"/>
                </a:solidFill>
                <a:latin typeface="Source Code Pro" pitchFamily="34" charset="0"/>
                <a:ea typeface="Source Code Pro" pitchFamily="34" charset="-122"/>
                <a:cs typeface="Source Code Pro" pitchFamily="34" charset="-120"/>
              </a:rPr>
              <a:t>winningPlan.stage</a:t>
            </a:r>
            <a:endParaRPr lang="en-US" sz="1300" dirty="0"/>
          </a:p>
        </p:txBody>
      </p:sp>
      <p:sp>
        <p:nvSpPr>
          <p:cNvPr id="10" name="Text 8"/>
          <p:cNvSpPr/>
          <p:nvPr/>
        </p:nvSpPr>
        <p:spPr>
          <a:xfrm>
            <a:off x="5961888" y="3072384"/>
            <a:ext cx="6035040" cy="502920"/>
          </a:xfrm>
          <a:prstGeom prst="rect">
            <a:avLst/>
          </a:prstGeom>
          <a:noFill/>
          <a:ln/>
        </p:spPr>
        <p:txBody>
          <a:bodyPr wrap="square" lIns="0" tIns="0" rIns="0" bIns="0" rtlCol="0" anchor="ctr"/>
          <a:lstStyle/>
          <a:p>
            <a:pPr indent="0" marL="0">
              <a:buNone/>
            </a:pPr>
            <a:r>
              <a:rPr lang="en-US" sz="1300" dirty="0">
                <a:solidFill>
                  <a:srgbClr val="FFFFFF"/>
                </a:solidFill>
                <a:latin typeface="Lexend Deca" pitchFamily="34" charset="0"/>
                <a:ea typeface="Lexend Deca" pitchFamily="34" charset="-122"/>
                <a:cs typeface="Lexend Deca" pitchFamily="34" charset="-120"/>
              </a:rPr>
              <a:t>"COLLSCAN" = full table scan (bad)   ·   "IXSCAN" = index used (good)</a:t>
            </a:r>
            <a:endParaRPr lang="en-US" sz="1300" dirty="0"/>
          </a:p>
        </p:txBody>
      </p:sp>
      <p:sp>
        <p:nvSpPr>
          <p:cNvPr id="11" name="Shape 9"/>
          <p:cNvSpPr/>
          <p:nvPr/>
        </p:nvSpPr>
        <p:spPr>
          <a:xfrm>
            <a:off x="566928" y="3694176"/>
            <a:ext cx="11055096" cy="603504"/>
          </a:xfrm>
          <a:prstGeom prst="rect">
            <a:avLst/>
          </a:prstGeom>
          <a:solidFill>
            <a:srgbClr val="011F2E"/>
          </a:solidFill>
          <a:ln w="12700">
            <a:solidFill>
              <a:srgbClr val="012A3A"/>
            </a:solidFill>
            <a:prstDash val="solid"/>
          </a:ln>
        </p:spPr>
      </p:sp>
      <p:sp>
        <p:nvSpPr>
          <p:cNvPr id="12" name="Text 10"/>
          <p:cNvSpPr/>
          <p:nvPr/>
        </p:nvSpPr>
        <p:spPr>
          <a:xfrm>
            <a:off x="749808" y="3730752"/>
            <a:ext cx="5029200" cy="502920"/>
          </a:xfrm>
          <a:prstGeom prst="rect">
            <a:avLst/>
          </a:prstGeom>
          <a:noFill/>
          <a:ln/>
        </p:spPr>
        <p:txBody>
          <a:bodyPr wrap="square" lIns="0" tIns="0" rIns="0" bIns="0" rtlCol="0" anchor="ctr"/>
          <a:lstStyle/>
          <a:p>
            <a:pPr indent="0" marL="0">
              <a:buNone/>
            </a:pPr>
            <a:r>
              <a:rPr lang="en-US" sz="1300" dirty="0">
                <a:solidFill>
                  <a:srgbClr val="00ED64"/>
                </a:solidFill>
                <a:latin typeface="Source Code Pro" pitchFamily="34" charset="0"/>
                <a:ea typeface="Source Code Pro" pitchFamily="34" charset="-122"/>
                <a:cs typeface="Source Code Pro" pitchFamily="34" charset="-120"/>
              </a:rPr>
              <a:t>executionStats.totalDocsExamined</a:t>
            </a:r>
            <a:endParaRPr lang="en-US" sz="1300" dirty="0"/>
          </a:p>
        </p:txBody>
      </p:sp>
      <p:sp>
        <p:nvSpPr>
          <p:cNvPr id="13" name="Text 11"/>
          <p:cNvSpPr/>
          <p:nvPr/>
        </p:nvSpPr>
        <p:spPr>
          <a:xfrm>
            <a:off x="5961888" y="3730752"/>
            <a:ext cx="6035040" cy="502920"/>
          </a:xfrm>
          <a:prstGeom prst="rect">
            <a:avLst/>
          </a:prstGeom>
          <a:noFill/>
          <a:ln/>
        </p:spPr>
        <p:txBody>
          <a:bodyPr wrap="square" lIns="0" tIns="0" rIns="0" bIns="0" rtlCol="0" anchor="ctr"/>
          <a:lstStyle/>
          <a:p>
            <a:pPr indent="0" marL="0">
              <a:buNone/>
            </a:pPr>
            <a:r>
              <a:rPr lang="en-US" sz="1300" dirty="0">
                <a:solidFill>
                  <a:srgbClr val="FFFFFF"/>
                </a:solidFill>
                <a:latin typeface="Lexend Deca" pitchFamily="34" charset="0"/>
                <a:ea typeface="Lexend Deca" pitchFamily="34" charset="-122"/>
                <a:cs typeface="Lexend Deca" pitchFamily="34" charset="-120"/>
              </a:rPr>
              <a:t>Rows scanned — if &gt;&gt; nReturned, index missing or not selective</a:t>
            </a:r>
            <a:endParaRPr lang="en-US" sz="1300" dirty="0"/>
          </a:p>
        </p:txBody>
      </p:sp>
      <p:sp>
        <p:nvSpPr>
          <p:cNvPr id="14" name="Shape 12"/>
          <p:cNvSpPr/>
          <p:nvPr/>
        </p:nvSpPr>
        <p:spPr>
          <a:xfrm>
            <a:off x="566928" y="4352544"/>
            <a:ext cx="11055096" cy="603504"/>
          </a:xfrm>
          <a:prstGeom prst="rect">
            <a:avLst/>
          </a:prstGeom>
          <a:solidFill>
            <a:srgbClr val="023430"/>
          </a:solidFill>
          <a:ln w="12700">
            <a:solidFill>
              <a:srgbClr val="012A3A"/>
            </a:solidFill>
            <a:prstDash val="solid"/>
          </a:ln>
        </p:spPr>
      </p:sp>
      <p:sp>
        <p:nvSpPr>
          <p:cNvPr id="15" name="Text 13"/>
          <p:cNvSpPr/>
          <p:nvPr/>
        </p:nvSpPr>
        <p:spPr>
          <a:xfrm>
            <a:off x="749808" y="4389120"/>
            <a:ext cx="5029200" cy="502920"/>
          </a:xfrm>
          <a:prstGeom prst="rect">
            <a:avLst/>
          </a:prstGeom>
          <a:noFill/>
          <a:ln/>
        </p:spPr>
        <p:txBody>
          <a:bodyPr wrap="square" lIns="0" tIns="0" rIns="0" bIns="0" rtlCol="0" anchor="ctr"/>
          <a:lstStyle/>
          <a:p>
            <a:pPr indent="0" marL="0">
              <a:buNone/>
            </a:pPr>
            <a:r>
              <a:rPr lang="en-US" sz="1300" dirty="0">
                <a:solidFill>
                  <a:srgbClr val="00ED64"/>
                </a:solidFill>
                <a:latin typeface="Source Code Pro" pitchFamily="34" charset="0"/>
                <a:ea typeface="Source Code Pro" pitchFamily="34" charset="-122"/>
                <a:cs typeface="Source Code Pro" pitchFamily="34" charset="-120"/>
              </a:rPr>
              <a:t>executionStats.nReturned</a:t>
            </a:r>
            <a:endParaRPr lang="en-US" sz="1300" dirty="0"/>
          </a:p>
        </p:txBody>
      </p:sp>
      <p:sp>
        <p:nvSpPr>
          <p:cNvPr id="16" name="Text 14"/>
          <p:cNvSpPr/>
          <p:nvPr/>
        </p:nvSpPr>
        <p:spPr>
          <a:xfrm>
            <a:off x="5961888" y="4389120"/>
            <a:ext cx="6035040" cy="502920"/>
          </a:xfrm>
          <a:prstGeom prst="rect">
            <a:avLst/>
          </a:prstGeom>
          <a:noFill/>
          <a:ln/>
        </p:spPr>
        <p:txBody>
          <a:bodyPr wrap="square" lIns="0" tIns="0" rIns="0" bIns="0" rtlCol="0" anchor="ctr"/>
          <a:lstStyle/>
          <a:p>
            <a:pPr indent="0" marL="0">
              <a:buNone/>
            </a:pPr>
            <a:r>
              <a:rPr lang="en-US" sz="1300" dirty="0">
                <a:solidFill>
                  <a:srgbClr val="FFFFFF"/>
                </a:solidFill>
                <a:latin typeface="Lexend Deca" pitchFamily="34" charset="0"/>
                <a:ea typeface="Lexend Deca" pitchFamily="34" charset="-122"/>
                <a:cs typeface="Lexend Deca" pitchFamily="34" charset="-120"/>
              </a:rPr>
              <a:t>Documents returned — ideal: equal to totalDocsExamined</a:t>
            </a:r>
            <a:endParaRPr lang="en-US" sz="1300" dirty="0"/>
          </a:p>
        </p:txBody>
      </p:sp>
      <p:sp>
        <p:nvSpPr>
          <p:cNvPr id="17" name="Shape 15"/>
          <p:cNvSpPr/>
          <p:nvPr/>
        </p:nvSpPr>
        <p:spPr>
          <a:xfrm>
            <a:off x="566928" y="5010912"/>
            <a:ext cx="11055096" cy="603504"/>
          </a:xfrm>
          <a:prstGeom prst="rect">
            <a:avLst/>
          </a:prstGeom>
          <a:solidFill>
            <a:srgbClr val="011F2E"/>
          </a:solidFill>
          <a:ln w="12700">
            <a:solidFill>
              <a:srgbClr val="012A3A"/>
            </a:solidFill>
            <a:prstDash val="solid"/>
          </a:ln>
        </p:spPr>
      </p:sp>
      <p:sp>
        <p:nvSpPr>
          <p:cNvPr id="18" name="Text 16"/>
          <p:cNvSpPr/>
          <p:nvPr/>
        </p:nvSpPr>
        <p:spPr>
          <a:xfrm>
            <a:off x="749808" y="5047488"/>
            <a:ext cx="5029200" cy="502920"/>
          </a:xfrm>
          <a:prstGeom prst="rect">
            <a:avLst/>
          </a:prstGeom>
          <a:noFill/>
          <a:ln/>
        </p:spPr>
        <p:txBody>
          <a:bodyPr wrap="square" lIns="0" tIns="0" rIns="0" bIns="0" rtlCol="0" anchor="ctr"/>
          <a:lstStyle/>
          <a:p>
            <a:pPr indent="0" marL="0">
              <a:buNone/>
            </a:pPr>
            <a:r>
              <a:rPr lang="en-US" sz="1300" dirty="0">
                <a:solidFill>
                  <a:srgbClr val="00ED64"/>
                </a:solidFill>
                <a:latin typeface="Source Code Pro" pitchFamily="34" charset="0"/>
                <a:ea typeface="Source Code Pro" pitchFamily="34" charset="-122"/>
                <a:cs typeface="Source Code Pro" pitchFamily="34" charset="-120"/>
              </a:rPr>
              <a:t>winningPlan.inputStage.indexName</a:t>
            </a:r>
            <a:endParaRPr lang="en-US" sz="1300" dirty="0"/>
          </a:p>
        </p:txBody>
      </p:sp>
      <p:sp>
        <p:nvSpPr>
          <p:cNvPr id="19" name="Text 17"/>
          <p:cNvSpPr/>
          <p:nvPr/>
        </p:nvSpPr>
        <p:spPr>
          <a:xfrm>
            <a:off x="5961888" y="5047488"/>
            <a:ext cx="6035040" cy="502920"/>
          </a:xfrm>
          <a:prstGeom prst="rect">
            <a:avLst/>
          </a:prstGeom>
          <a:noFill/>
          <a:ln/>
        </p:spPr>
        <p:txBody>
          <a:bodyPr wrap="square" lIns="0" tIns="0" rIns="0" bIns="0" rtlCol="0" anchor="ctr"/>
          <a:lstStyle/>
          <a:p>
            <a:pPr indent="0" marL="0">
              <a:buNone/>
            </a:pPr>
            <a:r>
              <a:rPr lang="en-US" sz="1300" dirty="0">
                <a:solidFill>
                  <a:srgbClr val="FFFFFF"/>
                </a:solidFill>
                <a:latin typeface="Lexend Deca" pitchFamily="34" charset="0"/>
                <a:ea typeface="Lexend Deca" pitchFamily="34" charset="-122"/>
                <a:cs typeface="Lexend Deca" pitchFamily="34" charset="-120"/>
              </a:rPr>
              <a:t>Which index the planner chose — confirm it is the right one</a:t>
            </a:r>
            <a:endParaRPr lang="en-US" sz="1300" dirty="0"/>
          </a:p>
        </p:txBody>
      </p:sp>
      <p:sp>
        <p:nvSpPr>
          <p:cNvPr id="20" name="Shape 18"/>
          <p:cNvSpPr/>
          <p:nvPr/>
        </p:nvSpPr>
        <p:spPr>
          <a:xfrm>
            <a:off x="566928" y="5669280"/>
            <a:ext cx="11055096" cy="603504"/>
          </a:xfrm>
          <a:prstGeom prst="rect">
            <a:avLst/>
          </a:prstGeom>
          <a:solidFill>
            <a:srgbClr val="023430"/>
          </a:solidFill>
          <a:ln w="12700">
            <a:solidFill>
              <a:srgbClr val="012A3A"/>
            </a:solidFill>
            <a:prstDash val="solid"/>
          </a:ln>
        </p:spPr>
      </p:sp>
      <p:sp>
        <p:nvSpPr>
          <p:cNvPr id="21" name="Text 19"/>
          <p:cNvSpPr/>
          <p:nvPr/>
        </p:nvSpPr>
        <p:spPr>
          <a:xfrm>
            <a:off x="749808" y="5705856"/>
            <a:ext cx="5029200" cy="502920"/>
          </a:xfrm>
          <a:prstGeom prst="rect">
            <a:avLst/>
          </a:prstGeom>
          <a:noFill/>
          <a:ln/>
        </p:spPr>
        <p:txBody>
          <a:bodyPr wrap="square" lIns="0" tIns="0" rIns="0" bIns="0" rtlCol="0" anchor="ctr"/>
          <a:lstStyle/>
          <a:p>
            <a:pPr indent="0" marL="0">
              <a:buNone/>
            </a:pPr>
            <a:r>
              <a:rPr lang="en-US" sz="1300" dirty="0">
                <a:solidFill>
                  <a:srgbClr val="00ED64"/>
                </a:solidFill>
                <a:latin typeface="Source Code Pro" pitchFamily="34" charset="0"/>
                <a:ea typeface="Source Code Pro" pitchFamily="34" charset="-122"/>
                <a:cs typeface="Source Code Pro" pitchFamily="34" charset="-120"/>
              </a:rPr>
              <a:t>executionTimeMillis</a:t>
            </a:r>
            <a:endParaRPr lang="en-US" sz="1300" dirty="0"/>
          </a:p>
        </p:txBody>
      </p:sp>
      <p:sp>
        <p:nvSpPr>
          <p:cNvPr id="22" name="Text 20"/>
          <p:cNvSpPr/>
          <p:nvPr/>
        </p:nvSpPr>
        <p:spPr>
          <a:xfrm>
            <a:off x="5961888" y="5705856"/>
            <a:ext cx="6035040" cy="502920"/>
          </a:xfrm>
          <a:prstGeom prst="rect">
            <a:avLst/>
          </a:prstGeom>
          <a:noFill/>
          <a:ln/>
        </p:spPr>
        <p:txBody>
          <a:bodyPr wrap="square" lIns="0" tIns="0" rIns="0" bIns="0" rtlCol="0" anchor="ctr"/>
          <a:lstStyle/>
          <a:p>
            <a:pPr indent="0" marL="0">
              <a:buNone/>
            </a:pPr>
            <a:r>
              <a:rPr lang="en-US" sz="1300" dirty="0">
                <a:solidFill>
                  <a:srgbClr val="FFFFFF"/>
                </a:solidFill>
                <a:latin typeface="Lexend Deca" pitchFamily="34" charset="0"/>
                <a:ea typeface="Lexend Deca" pitchFamily="34" charset="-122"/>
                <a:cs typeface="Lexend Deca" pitchFamily="34" charset="-120"/>
              </a:rPr>
              <a:t>Total time — run BEFORE and AFTER adding index to compare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1E2B"/>
        </a:solidFill>
      </p:bgPr>
    </p:bg>
    <p:spTree>
      <p:nvGrpSpPr>
        <p:cNvPr id="1" name=""/>
        <p:cNvGrpSpPr/>
        <p:nvPr/>
      </p:nvGrpSpPr>
      <p:grpSpPr>
        <a:xfrm>
          <a:off x="0" y="0"/>
          <a:ext cx="0" cy="0"/>
          <a:chOff x="0" y="0"/>
          <a:chExt cx="0" cy="0"/>
        </a:xfrm>
      </p:grpSpPr>
      <p:sp>
        <p:nvSpPr>
          <p:cNvPr id="2" name="Shape 0"/>
          <p:cNvSpPr/>
          <p:nvPr/>
        </p:nvSpPr>
        <p:spPr>
          <a:xfrm>
            <a:off x="0" y="6656832"/>
            <a:ext cx="12188952" cy="201168"/>
          </a:xfrm>
          <a:prstGeom prst="rect">
            <a:avLst/>
          </a:prstGeom>
          <a:solidFill>
            <a:srgbClr val="00ED64"/>
          </a:solidFill>
          <a:ln w="12700">
            <a:solidFill>
              <a:srgbClr val="00ED64"/>
            </a:solidFill>
            <a:prstDash val="solid"/>
          </a:ln>
        </p:spPr>
      </p:sp>
      <p:sp>
        <p:nvSpPr>
          <p:cNvPr id="3" name="Text 1"/>
          <p:cNvSpPr/>
          <p:nvPr/>
        </p:nvSpPr>
        <p:spPr>
          <a:xfrm>
            <a:off x="566928" y="201168"/>
            <a:ext cx="11055096" cy="594360"/>
          </a:xfrm>
          <a:prstGeom prst="rect">
            <a:avLst/>
          </a:prstGeom>
          <a:noFill/>
          <a:ln/>
        </p:spPr>
        <p:txBody>
          <a:bodyPr wrap="square" lIns="0" tIns="0" rIns="0" bIns="0" rtlCol="0" anchor="ctr"/>
          <a:lstStyle/>
          <a:p>
            <a:pPr indent="0" marL="0">
              <a:buNone/>
            </a:pPr>
            <a:r>
              <a:rPr lang="en-US" sz="3000" b="1" dirty="0">
                <a:solidFill>
                  <a:srgbClr val="FFFFFF"/>
                </a:solidFill>
                <a:latin typeface="Lexend Deca" pitchFamily="34" charset="0"/>
                <a:ea typeface="Lexend Deca" pitchFamily="34" charset="-122"/>
                <a:cs typeface="Lexend Deca" pitchFamily="34" charset="-120"/>
              </a:rPr>
              <a:t>Live Demo — Index Before &amp; After</a:t>
            </a:r>
            <a:endParaRPr lang="en-US" sz="3000" dirty="0"/>
          </a:p>
        </p:txBody>
      </p:sp>
      <p:sp>
        <p:nvSpPr>
          <p:cNvPr id="4" name="Shape 2"/>
          <p:cNvSpPr/>
          <p:nvPr/>
        </p:nvSpPr>
        <p:spPr>
          <a:xfrm>
            <a:off x="566928" y="822960"/>
            <a:ext cx="1280160" cy="54864"/>
          </a:xfrm>
          <a:prstGeom prst="rect">
            <a:avLst/>
          </a:prstGeom>
          <a:solidFill>
            <a:srgbClr val="00ED64"/>
          </a:solidFill>
          <a:ln w="12700">
            <a:solidFill>
              <a:srgbClr val="00ED64"/>
            </a:solidFill>
            <a:prstDash val="solid"/>
          </a:ln>
        </p:spPr>
      </p:sp>
      <p:sp>
        <p:nvSpPr>
          <p:cNvPr id="5" name="Shape 3"/>
          <p:cNvSpPr/>
          <p:nvPr/>
        </p:nvSpPr>
        <p:spPr>
          <a:xfrm>
            <a:off x="566928" y="960120"/>
            <a:ext cx="5394960" cy="5486400"/>
          </a:xfrm>
          <a:prstGeom prst="rect">
            <a:avLst/>
          </a:prstGeom>
          <a:solidFill>
            <a:srgbClr val="023430"/>
          </a:solidFill>
          <a:ln w="19050">
            <a:solidFill>
              <a:srgbClr val="CC4444"/>
            </a:solidFill>
            <a:prstDash val="solid"/>
          </a:ln>
          <a:effectLst>
            <a:outerShdw sx="100000" sy="100000" kx="0" ky="0" algn="bl" rotWithShape="0" blurRad="127000" dist="38100" dir="8100000">
              <a:srgbClr val="000000">
                <a:alpha val="28000"/>
              </a:srgbClr>
            </a:outerShdw>
          </a:effectLst>
        </p:spPr>
      </p:sp>
      <p:sp>
        <p:nvSpPr>
          <p:cNvPr id="6" name="Text 4"/>
          <p:cNvSpPr/>
          <p:nvPr/>
        </p:nvSpPr>
        <p:spPr>
          <a:xfrm>
            <a:off x="749808" y="1024128"/>
            <a:ext cx="5029200" cy="566928"/>
          </a:xfrm>
          <a:prstGeom prst="rect">
            <a:avLst/>
          </a:prstGeom>
          <a:noFill/>
          <a:ln/>
        </p:spPr>
        <p:txBody>
          <a:bodyPr wrap="square" lIns="0" tIns="0" rIns="0" bIns="0" rtlCol="0" anchor="ctr"/>
          <a:lstStyle/>
          <a:p>
            <a:pPr indent="0" marL="0">
              <a:buNone/>
            </a:pPr>
            <a:r>
              <a:rPr lang="en-US" sz="2000" b="1" dirty="0">
                <a:solidFill>
                  <a:srgbClr val="FF6B6B"/>
                </a:solidFill>
                <a:latin typeface="Lexend Deca" pitchFamily="34" charset="0"/>
                <a:ea typeface="Lexend Deca" pitchFamily="34" charset="-122"/>
                <a:cs typeface="Lexend Deca" pitchFamily="34" charset="-120"/>
              </a:rPr>
              <a:t>BEFORE  Index</a:t>
            </a:r>
            <a:endParaRPr lang="en-US" sz="2000" dirty="0"/>
          </a:p>
        </p:txBody>
      </p:sp>
      <p:sp>
        <p:nvSpPr>
          <p:cNvPr id="7" name="Shape 5"/>
          <p:cNvSpPr/>
          <p:nvPr/>
        </p:nvSpPr>
        <p:spPr>
          <a:xfrm>
            <a:off x="704088" y="1691640"/>
            <a:ext cx="5029200" cy="1097280"/>
          </a:xfrm>
          <a:prstGeom prst="rect">
            <a:avLst/>
          </a:prstGeom>
          <a:solidFill>
            <a:srgbClr val="011520"/>
          </a:solidFill>
          <a:ln w="15240">
            <a:solidFill>
              <a:srgbClr val="00ED64"/>
            </a:solidFill>
            <a:prstDash val="solid"/>
          </a:ln>
          <a:effectLst>
            <a:outerShdw sx="100000" sy="100000" kx="0" ky="0" algn="bl" rotWithShape="0" blurRad="127000" dist="38100" dir="8100000">
              <a:srgbClr val="000000">
                <a:alpha val="28000"/>
              </a:srgbClr>
            </a:outerShdw>
          </a:effectLst>
        </p:spPr>
      </p:sp>
      <p:sp>
        <p:nvSpPr>
          <p:cNvPr id="8" name="Text 6"/>
          <p:cNvSpPr/>
          <p:nvPr/>
        </p:nvSpPr>
        <p:spPr>
          <a:xfrm>
            <a:off x="841248" y="1810512"/>
            <a:ext cx="4754880" cy="859536"/>
          </a:xfrm>
          <a:prstGeom prst="rect">
            <a:avLst/>
          </a:prstGeom>
          <a:noFill/>
          <a:ln/>
        </p:spPr>
        <p:txBody>
          <a:bodyPr wrap="square" lIns="0" tIns="0" rIns="0" bIns="0" rtlCol="0" anchor="t"/>
          <a:lstStyle/>
          <a:p>
            <a:pPr indent="0" marL="0">
              <a:buNone/>
            </a:pPr>
            <a:r>
              <a:rPr lang="en-US" sz="1100" dirty="0">
                <a:solidFill>
                  <a:srgbClr val="00ED64"/>
                </a:solidFill>
                <a:latin typeface="Source Code Pro" pitchFamily="34" charset="0"/>
                <a:ea typeface="Source Code Pro" pitchFamily="34" charset="-122"/>
                <a:cs typeface="Source Code Pro" pitchFamily="34" charset="-120"/>
              </a:rPr>
              <a:t>db.orders</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.explain("executionStats")</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.find({ customerId: id })</a:t>
            </a:r>
            <a:endParaRPr lang="en-US" sz="1100" dirty="0"/>
          </a:p>
        </p:txBody>
      </p:sp>
      <p:sp>
        <p:nvSpPr>
          <p:cNvPr id="9" name="Text 7"/>
          <p:cNvSpPr/>
          <p:nvPr/>
        </p:nvSpPr>
        <p:spPr>
          <a:xfrm>
            <a:off x="749808" y="2907792"/>
            <a:ext cx="5029200" cy="2194560"/>
          </a:xfrm>
          <a:prstGeom prst="rect">
            <a:avLst/>
          </a:prstGeom>
          <a:noFill/>
          <a:ln/>
        </p:spPr>
        <p:txBody>
          <a:bodyPr wrap="square" lIns="0" tIns="0" rIns="0" bIns="0" rtlCol="0" anchor="ctr"/>
          <a:lstStyle/>
          <a:p>
            <a:pPr indent="0" marL="0">
              <a:buNone/>
            </a:pPr>
            <a:r>
              <a:rPr lang="en-US" sz="1800" dirty="0">
                <a:solidFill>
                  <a:srgbClr val="B8C4C2"/>
                </a:solidFill>
                <a:latin typeface="Source Code Pro" pitchFamily="34" charset="0"/>
                <a:ea typeface="Source Code Pro" pitchFamily="34" charset="-122"/>
                <a:cs typeface="Source Code Pro" pitchFamily="34" charset="-120"/>
              </a:rPr>
              <a:t>stage: </a:t>
            </a:r>
            <a:pPr indent="0" marL="0">
              <a:buNone/>
            </a:pPr>
            <a:r>
              <a:rPr lang="en-US" sz="1800" b="1" dirty="0">
                <a:solidFill>
                  <a:srgbClr val="FF6B6B"/>
                </a:solidFill>
                <a:latin typeface="Source Code Pro" pitchFamily="34" charset="0"/>
                <a:ea typeface="Source Code Pro" pitchFamily="34" charset="-122"/>
                <a:cs typeface="Source Code Pro" pitchFamily="34" charset="-120"/>
              </a:rPr>
              <a:t>"COLLSCAN"</a:t>
            </a:r>
            <a:pPr indent="0" marL="0">
              <a:buNone/>
            </a:pPr>
            <a:endParaRPr lang="en-US" sz="1800" dirty="0"/>
          </a:p>
          <a:p>
            <a:pPr indent="0" marL="0">
              <a:buNone/>
            </a:pPr>
            <a:r>
              <a:rPr lang="en-US" sz="1800" dirty="0">
                <a:solidFill>
                  <a:srgbClr val="B8C4C2"/>
                </a:solidFill>
                <a:latin typeface="Source Code Pro" pitchFamily="34" charset="0"/>
                <a:ea typeface="Source Code Pro" pitchFamily="34" charset="-122"/>
                <a:cs typeface="Source Code Pro" pitchFamily="34" charset="-120"/>
              </a:rPr>
              <a:t>totalDocsExamined: </a:t>
            </a:r>
            <a:endParaRPr lang="en-US" sz="1800" dirty="0"/>
          </a:p>
          <a:p>
            <a:pPr indent="0" marL="0">
              <a:buNone/>
            </a:pPr>
            <a:r>
              <a:rPr lang="en-US" sz="1800" b="1" dirty="0">
                <a:solidFill>
                  <a:srgbClr val="FF6B6B"/>
                </a:solidFill>
                <a:latin typeface="Source Code Pro" pitchFamily="34" charset="0"/>
                <a:ea typeface="Source Code Pro" pitchFamily="34" charset="-122"/>
                <a:cs typeface="Source Code Pro" pitchFamily="34" charset="-120"/>
              </a:rPr>
              <a:t>500,000</a:t>
            </a:r>
            <a:pPr indent="0" marL="0">
              <a:buNone/>
            </a:pPr>
            <a:endParaRPr lang="en-US" sz="1800" dirty="0"/>
          </a:p>
          <a:p>
            <a:pPr indent="0" marL="0">
              <a:buNone/>
            </a:pPr>
            <a:r>
              <a:rPr lang="en-US" sz="1800" dirty="0">
                <a:solidFill>
                  <a:srgbClr val="B8C4C2"/>
                </a:solidFill>
                <a:latin typeface="Source Code Pro" pitchFamily="34" charset="0"/>
                <a:ea typeface="Source Code Pro" pitchFamily="34" charset="-122"/>
                <a:cs typeface="Source Code Pro" pitchFamily="34" charset="-120"/>
              </a:rPr>
              <a:t>nReturned: </a:t>
            </a:r>
            <a:endParaRPr lang="en-US" sz="1800" dirty="0"/>
          </a:p>
          <a:p>
            <a:pPr indent="0" marL="0">
              <a:buNone/>
            </a:pPr>
            <a:r>
              <a:rPr lang="en-US" sz="1800" dirty="0">
                <a:solidFill>
                  <a:srgbClr val="FFFFFF"/>
                </a:solidFill>
                <a:latin typeface="Source Code Pro" pitchFamily="34" charset="0"/>
                <a:ea typeface="Source Code Pro" pitchFamily="34" charset="-122"/>
                <a:cs typeface="Source Code Pro" pitchFamily="34" charset="-120"/>
              </a:rPr>
              <a:t>12</a:t>
            </a:r>
            <a:pPr indent="0" marL="0">
              <a:buNone/>
            </a:pPr>
            <a:endParaRPr lang="en-US" sz="1800" dirty="0"/>
          </a:p>
          <a:p>
            <a:pPr indent="0" marL="0">
              <a:buNone/>
            </a:pPr>
            <a:r>
              <a:rPr lang="en-US" sz="1800" dirty="0">
                <a:solidFill>
                  <a:srgbClr val="B8C4C2"/>
                </a:solidFill>
                <a:latin typeface="Source Code Pro" pitchFamily="34" charset="0"/>
                <a:ea typeface="Source Code Pro" pitchFamily="34" charset="-122"/>
                <a:cs typeface="Source Code Pro" pitchFamily="34" charset="-120"/>
              </a:rPr>
              <a:t>executionTime: </a:t>
            </a:r>
            <a:endParaRPr lang="en-US" sz="1800" dirty="0"/>
          </a:p>
          <a:p>
            <a:pPr indent="0" marL="0">
              <a:buNone/>
            </a:pPr>
            <a:r>
              <a:rPr lang="en-US" sz="1800" b="1" dirty="0">
                <a:solidFill>
                  <a:srgbClr val="FF6B6B"/>
                </a:solidFill>
                <a:latin typeface="Source Code Pro" pitchFamily="34" charset="0"/>
                <a:ea typeface="Source Code Pro" pitchFamily="34" charset="-122"/>
                <a:cs typeface="Source Code Pro" pitchFamily="34" charset="-120"/>
              </a:rPr>
              <a:t>890 ms</a:t>
            </a:r>
            <a:endParaRPr lang="en-US" sz="1800" dirty="0"/>
          </a:p>
        </p:txBody>
      </p:sp>
      <p:sp>
        <p:nvSpPr>
          <p:cNvPr id="10" name="Text 8"/>
          <p:cNvSpPr/>
          <p:nvPr/>
        </p:nvSpPr>
        <p:spPr>
          <a:xfrm>
            <a:off x="6190488" y="3337560"/>
            <a:ext cx="777240" cy="713232"/>
          </a:xfrm>
          <a:prstGeom prst="rect">
            <a:avLst/>
          </a:prstGeom>
          <a:noFill/>
          <a:ln/>
        </p:spPr>
        <p:txBody>
          <a:bodyPr wrap="square" lIns="0" tIns="0" rIns="0" bIns="0" rtlCol="0" anchor="ctr"/>
          <a:lstStyle/>
          <a:p>
            <a:pPr algn="ctr" indent="0" marL="0">
              <a:buNone/>
            </a:pPr>
            <a:r>
              <a:rPr lang="en-US" sz="3800" dirty="0">
                <a:solidFill>
                  <a:srgbClr val="00ED64"/>
                </a:solidFill>
              </a:rPr>
              <a:t>→</a:t>
            </a:r>
            <a:endParaRPr lang="en-US" sz="3800" dirty="0"/>
          </a:p>
        </p:txBody>
      </p:sp>
      <p:sp>
        <p:nvSpPr>
          <p:cNvPr id="11" name="Shape 9"/>
          <p:cNvSpPr/>
          <p:nvPr/>
        </p:nvSpPr>
        <p:spPr>
          <a:xfrm>
            <a:off x="6163056" y="4434840"/>
            <a:ext cx="5120640" cy="914400"/>
          </a:xfrm>
          <a:prstGeom prst="rect">
            <a:avLst/>
          </a:prstGeom>
          <a:solidFill>
            <a:srgbClr val="011520"/>
          </a:solidFill>
          <a:ln w="15240">
            <a:solidFill>
              <a:srgbClr val="00ED64"/>
            </a:solidFill>
            <a:prstDash val="solid"/>
          </a:ln>
          <a:effectLst>
            <a:outerShdw sx="100000" sy="100000" kx="0" ky="0" algn="bl" rotWithShape="0" blurRad="127000" dist="38100" dir="8100000">
              <a:srgbClr val="000000">
                <a:alpha val="28000"/>
              </a:srgbClr>
            </a:outerShdw>
          </a:effectLst>
        </p:spPr>
      </p:sp>
      <p:sp>
        <p:nvSpPr>
          <p:cNvPr id="12" name="Text 10"/>
          <p:cNvSpPr/>
          <p:nvPr/>
        </p:nvSpPr>
        <p:spPr>
          <a:xfrm>
            <a:off x="6300216" y="4553712"/>
            <a:ext cx="4846320" cy="676656"/>
          </a:xfrm>
          <a:prstGeom prst="rect">
            <a:avLst/>
          </a:prstGeom>
          <a:noFill/>
          <a:ln/>
        </p:spPr>
        <p:txBody>
          <a:bodyPr wrap="square" lIns="0" tIns="0" rIns="0" bIns="0" rtlCol="0" anchor="t"/>
          <a:lstStyle/>
          <a:p>
            <a:pPr indent="0" marL="0">
              <a:buNone/>
            </a:pPr>
            <a:r>
              <a:rPr lang="en-US" sz="1100" dirty="0">
                <a:solidFill>
                  <a:srgbClr val="00ED64"/>
                </a:solidFill>
                <a:latin typeface="Source Code Pro" pitchFamily="34" charset="0"/>
                <a:ea typeface="Source Code Pro" pitchFamily="34" charset="-122"/>
                <a:cs typeface="Source Code Pro" pitchFamily="34" charset="-120"/>
              </a:rPr>
              <a:t>db.orders.createIndex(</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customerId: 1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a:t>
            </a:r>
            <a:endParaRPr lang="en-US" sz="1100" dirty="0"/>
          </a:p>
        </p:txBody>
      </p:sp>
      <p:sp>
        <p:nvSpPr>
          <p:cNvPr id="13" name="Shape 11"/>
          <p:cNvSpPr/>
          <p:nvPr/>
        </p:nvSpPr>
        <p:spPr>
          <a:xfrm>
            <a:off x="7242048" y="960120"/>
            <a:ext cx="4937760" cy="5486400"/>
          </a:xfrm>
          <a:prstGeom prst="rect">
            <a:avLst/>
          </a:prstGeom>
          <a:solidFill>
            <a:srgbClr val="023430"/>
          </a:solidFill>
          <a:ln w="19050">
            <a:solidFill>
              <a:srgbClr val="00ED64"/>
            </a:solidFill>
            <a:prstDash val="solid"/>
          </a:ln>
          <a:effectLst>
            <a:outerShdw sx="100000" sy="100000" kx="0" ky="0" algn="bl" rotWithShape="0" blurRad="127000" dist="38100" dir="8100000">
              <a:srgbClr val="000000">
                <a:alpha val="28000"/>
              </a:srgbClr>
            </a:outerShdw>
          </a:effectLst>
        </p:spPr>
      </p:sp>
      <p:sp>
        <p:nvSpPr>
          <p:cNvPr id="14" name="Text 12"/>
          <p:cNvSpPr/>
          <p:nvPr/>
        </p:nvSpPr>
        <p:spPr>
          <a:xfrm>
            <a:off x="7424928" y="1024128"/>
            <a:ext cx="4572000" cy="566928"/>
          </a:xfrm>
          <a:prstGeom prst="rect">
            <a:avLst/>
          </a:prstGeom>
          <a:noFill/>
          <a:ln/>
        </p:spPr>
        <p:txBody>
          <a:bodyPr wrap="square" lIns="0" tIns="0" rIns="0" bIns="0" rtlCol="0" anchor="ctr"/>
          <a:lstStyle/>
          <a:p>
            <a:pPr indent="0" marL="0">
              <a:buNone/>
            </a:pPr>
            <a:r>
              <a:rPr lang="en-US" sz="2000" b="1" dirty="0">
                <a:solidFill>
                  <a:srgbClr val="00ED64"/>
                </a:solidFill>
                <a:latin typeface="Lexend Deca" pitchFamily="34" charset="0"/>
                <a:ea typeface="Lexend Deca" pitchFamily="34" charset="-122"/>
                <a:cs typeface="Lexend Deca" pitchFamily="34" charset="-120"/>
              </a:rPr>
              <a:t>AFTER  Index</a:t>
            </a:r>
            <a:endParaRPr lang="en-US" sz="2000" dirty="0"/>
          </a:p>
        </p:txBody>
      </p:sp>
      <p:sp>
        <p:nvSpPr>
          <p:cNvPr id="15" name="Shape 13"/>
          <p:cNvSpPr/>
          <p:nvPr/>
        </p:nvSpPr>
        <p:spPr>
          <a:xfrm>
            <a:off x="7379208" y="1691640"/>
            <a:ext cx="4663440" cy="1097280"/>
          </a:xfrm>
          <a:prstGeom prst="rect">
            <a:avLst/>
          </a:prstGeom>
          <a:solidFill>
            <a:srgbClr val="011520"/>
          </a:solidFill>
          <a:ln w="15240">
            <a:solidFill>
              <a:srgbClr val="00ED64"/>
            </a:solidFill>
            <a:prstDash val="solid"/>
          </a:ln>
          <a:effectLst>
            <a:outerShdw sx="100000" sy="100000" kx="0" ky="0" algn="bl" rotWithShape="0" blurRad="127000" dist="38100" dir="8100000">
              <a:srgbClr val="000000">
                <a:alpha val="28000"/>
              </a:srgbClr>
            </a:outerShdw>
          </a:effectLst>
        </p:spPr>
      </p:sp>
      <p:sp>
        <p:nvSpPr>
          <p:cNvPr id="16" name="Text 14"/>
          <p:cNvSpPr/>
          <p:nvPr/>
        </p:nvSpPr>
        <p:spPr>
          <a:xfrm>
            <a:off x="7516368" y="1810512"/>
            <a:ext cx="4389120" cy="859536"/>
          </a:xfrm>
          <a:prstGeom prst="rect">
            <a:avLst/>
          </a:prstGeom>
          <a:noFill/>
          <a:ln/>
        </p:spPr>
        <p:txBody>
          <a:bodyPr wrap="square" lIns="0" tIns="0" rIns="0" bIns="0" rtlCol="0" anchor="t"/>
          <a:lstStyle/>
          <a:p>
            <a:pPr indent="0" marL="0">
              <a:buNone/>
            </a:pPr>
            <a:r>
              <a:rPr lang="en-US" sz="1100" dirty="0">
                <a:solidFill>
                  <a:srgbClr val="00ED64"/>
                </a:solidFill>
                <a:latin typeface="Source Code Pro" pitchFamily="34" charset="0"/>
                <a:ea typeface="Source Code Pro" pitchFamily="34" charset="-122"/>
                <a:cs typeface="Source Code Pro" pitchFamily="34" charset="-120"/>
              </a:rPr>
              <a:t>db.orders</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.explain("executionStats")</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.find({ customerId: id })</a:t>
            </a:r>
            <a:endParaRPr lang="en-US" sz="1100" dirty="0"/>
          </a:p>
        </p:txBody>
      </p:sp>
      <p:sp>
        <p:nvSpPr>
          <p:cNvPr id="17" name="Text 15"/>
          <p:cNvSpPr/>
          <p:nvPr/>
        </p:nvSpPr>
        <p:spPr>
          <a:xfrm>
            <a:off x="7424928" y="2907792"/>
            <a:ext cx="4572000" cy="2194560"/>
          </a:xfrm>
          <a:prstGeom prst="rect">
            <a:avLst/>
          </a:prstGeom>
          <a:noFill/>
          <a:ln/>
        </p:spPr>
        <p:txBody>
          <a:bodyPr wrap="square" lIns="0" tIns="0" rIns="0" bIns="0" rtlCol="0" anchor="ctr"/>
          <a:lstStyle/>
          <a:p>
            <a:pPr indent="0" marL="0">
              <a:buNone/>
            </a:pPr>
            <a:r>
              <a:rPr lang="en-US" sz="1800" dirty="0">
                <a:solidFill>
                  <a:srgbClr val="B8C4C2"/>
                </a:solidFill>
                <a:latin typeface="Source Code Pro" pitchFamily="34" charset="0"/>
                <a:ea typeface="Source Code Pro" pitchFamily="34" charset="-122"/>
                <a:cs typeface="Source Code Pro" pitchFamily="34" charset="-120"/>
              </a:rPr>
              <a:t>stage: </a:t>
            </a:r>
            <a:pPr indent="0" marL="0">
              <a:buNone/>
            </a:pPr>
            <a:r>
              <a:rPr lang="en-US" sz="1800" b="1" dirty="0">
                <a:solidFill>
                  <a:srgbClr val="00ED64"/>
                </a:solidFill>
                <a:latin typeface="Source Code Pro" pitchFamily="34" charset="0"/>
                <a:ea typeface="Source Code Pro" pitchFamily="34" charset="-122"/>
                <a:cs typeface="Source Code Pro" pitchFamily="34" charset="-120"/>
              </a:rPr>
              <a:t>"IXSCAN"</a:t>
            </a:r>
            <a:pPr indent="0" marL="0">
              <a:buNone/>
            </a:pPr>
            <a:endParaRPr lang="en-US" sz="1800" dirty="0"/>
          </a:p>
          <a:p>
            <a:pPr indent="0" marL="0">
              <a:buNone/>
            </a:pPr>
            <a:r>
              <a:rPr lang="en-US" sz="1800" dirty="0">
                <a:solidFill>
                  <a:srgbClr val="B8C4C2"/>
                </a:solidFill>
                <a:latin typeface="Source Code Pro" pitchFamily="34" charset="0"/>
                <a:ea typeface="Source Code Pro" pitchFamily="34" charset="-122"/>
                <a:cs typeface="Source Code Pro" pitchFamily="34" charset="-120"/>
              </a:rPr>
              <a:t>totalDocsExamined: </a:t>
            </a:r>
            <a:endParaRPr lang="en-US" sz="1800" dirty="0"/>
          </a:p>
          <a:p>
            <a:pPr indent="0" marL="0">
              <a:buNone/>
            </a:pPr>
            <a:r>
              <a:rPr lang="en-US" sz="1800" b="1" dirty="0">
                <a:solidFill>
                  <a:srgbClr val="00ED64"/>
                </a:solidFill>
                <a:latin typeface="Source Code Pro" pitchFamily="34" charset="0"/>
                <a:ea typeface="Source Code Pro" pitchFamily="34" charset="-122"/>
                <a:cs typeface="Source Code Pro" pitchFamily="34" charset="-120"/>
              </a:rPr>
              <a:t>12</a:t>
            </a:r>
            <a:pPr indent="0" marL="0">
              <a:buNone/>
            </a:pPr>
            <a:endParaRPr lang="en-US" sz="1800" dirty="0"/>
          </a:p>
          <a:p>
            <a:pPr indent="0" marL="0">
              <a:buNone/>
            </a:pPr>
            <a:r>
              <a:rPr lang="en-US" sz="1800" dirty="0">
                <a:solidFill>
                  <a:srgbClr val="B8C4C2"/>
                </a:solidFill>
                <a:latin typeface="Source Code Pro" pitchFamily="34" charset="0"/>
                <a:ea typeface="Source Code Pro" pitchFamily="34" charset="-122"/>
                <a:cs typeface="Source Code Pro" pitchFamily="34" charset="-120"/>
              </a:rPr>
              <a:t>nReturned: </a:t>
            </a:r>
            <a:endParaRPr lang="en-US" sz="1800" dirty="0"/>
          </a:p>
          <a:p>
            <a:pPr indent="0" marL="0">
              <a:buNone/>
            </a:pPr>
            <a:r>
              <a:rPr lang="en-US" sz="1800" dirty="0">
                <a:solidFill>
                  <a:srgbClr val="FFFFFF"/>
                </a:solidFill>
                <a:latin typeface="Source Code Pro" pitchFamily="34" charset="0"/>
                <a:ea typeface="Source Code Pro" pitchFamily="34" charset="-122"/>
                <a:cs typeface="Source Code Pro" pitchFamily="34" charset="-120"/>
              </a:rPr>
              <a:t>12</a:t>
            </a:r>
            <a:pPr indent="0" marL="0">
              <a:buNone/>
            </a:pPr>
            <a:endParaRPr lang="en-US" sz="1800" dirty="0"/>
          </a:p>
          <a:p>
            <a:pPr indent="0" marL="0">
              <a:buNone/>
            </a:pPr>
            <a:r>
              <a:rPr lang="en-US" sz="1800" dirty="0">
                <a:solidFill>
                  <a:srgbClr val="B8C4C2"/>
                </a:solidFill>
                <a:latin typeface="Source Code Pro" pitchFamily="34" charset="0"/>
                <a:ea typeface="Source Code Pro" pitchFamily="34" charset="-122"/>
                <a:cs typeface="Source Code Pro" pitchFamily="34" charset="-120"/>
              </a:rPr>
              <a:t>executionTime: </a:t>
            </a:r>
            <a:endParaRPr lang="en-US" sz="1800" dirty="0"/>
          </a:p>
          <a:p>
            <a:pPr indent="0" marL="0">
              <a:buNone/>
            </a:pPr>
            <a:r>
              <a:rPr lang="en-US" sz="1800" b="1" dirty="0">
                <a:solidFill>
                  <a:srgbClr val="00ED64"/>
                </a:solidFill>
                <a:latin typeface="Source Code Pro" pitchFamily="34" charset="0"/>
                <a:ea typeface="Source Code Pro" pitchFamily="34" charset="-122"/>
                <a:cs typeface="Source Code Pro" pitchFamily="34" charset="-120"/>
              </a:rPr>
              <a:t>2 ms</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1E2B"/>
        </a:solidFill>
      </p:bgPr>
    </p:bg>
    <p:spTree>
      <p:nvGrpSpPr>
        <p:cNvPr id="1" name=""/>
        <p:cNvGrpSpPr/>
        <p:nvPr/>
      </p:nvGrpSpPr>
      <p:grpSpPr>
        <a:xfrm>
          <a:off x="0" y="0"/>
          <a:ext cx="0" cy="0"/>
          <a:chOff x="0" y="0"/>
          <a:chExt cx="0" cy="0"/>
        </a:xfrm>
      </p:grpSpPr>
      <p:sp>
        <p:nvSpPr>
          <p:cNvPr id="2" name="Shape 0"/>
          <p:cNvSpPr/>
          <p:nvPr/>
        </p:nvSpPr>
        <p:spPr>
          <a:xfrm>
            <a:off x="0" y="6656832"/>
            <a:ext cx="12188952" cy="201168"/>
          </a:xfrm>
          <a:prstGeom prst="rect">
            <a:avLst/>
          </a:prstGeom>
          <a:solidFill>
            <a:srgbClr val="00ED64"/>
          </a:solidFill>
          <a:ln w="12700">
            <a:solidFill>
              <a:srgbClr val="00ED64"/>
            </a:solidFill>
            <a:prstDash val="solid"/>
          </a:ln>
        </p:spPr>
      </p:sp>
      <p:sp>
        <p:nvSpPr>
          <p:cNvPr id="3" name="Shape 1"/>
          <p:cNvSpPr/>
          <p:nvPr/>
        </p:nvSpPr>
        <p:spPr>
          <a:xfrm>
            <a:off x="0" y="0"/>
            <a:ext cx="502920" cy="6858000"/>
          </a:xfrm>
          <a:prstGeom prst="rect">
            <a:avLst/>
          </a:prstGeom>
          <a:solidFill>
            <a:srgbClr val="00ED64"/>
          </a:solidFill>
          <a:ln w="12700">
            <a:solidFill>
              <a:srgbClr val="00ED64"/>
            </a:solidFill>
            <a:prstDash val="solid"/>
          </a:ln>
        </p:spPr>
      </p:sp>
      <p:sp>
        <p:nvSpPr>
          <p:cNvPr id="4" name="Shape 2"/>
          <p:cNvSpPr/>
          <p:nvPr/>
        </p:nvSpPr>
        <p:spPr>
          <a:xfrm>
            <a:off x="8686800" y="-914400"/>
            <a:ext cx="5486400" cy="5486400"/>
          </a:xfrm>
          <a:prstGeom prst="ellipse">
            <a:avLst/>
          </a:prstGeom>
          <a:solidFill>
            <a:srgbClr val="023430">
              <a:alpha val="60000"/>
            </a:srgbClr>
          </a:solidFill>
          <a:ln w="12700">
            <a:solidFill>
              <a:srgbClr val="023430"/>
            </a:solidFill>
            <a:prstDash val="solid"/>
          </a:ln>
        </p:spPr>
      </p:sp>
      <p:sp>
        <p:nvSpPr>
          <p:cNvPr id="5" name="Text 3"/>
          <p:cNvSpPr/>
          <p:nvPr/>
        </p:nvSpPr>
        <p:spPr>
          <a:xfrm>
            <a:off x="822960" y="1645920"/>
            <a:ext cx="2286000" cy="2011680"/>
          </a:xfrm>
          <a:prstGeom prst="rect">
            <a:avLst/>
          </a:prstGeom>
          <a:noFill/>
          <a:ln/>
        </p:spPr>
        <p:txBody>
          <a:bodyPr wrap="square" lIns="0" tIns="0" rIns="0" bIns="0" rtlCol="0" anchor="ctr"/>
          <a:lstStyle/>
          <a:p>
            <a:pPr indent="0" marL="0">
              <a:buNone/>
            </a:pPr>
            <a:r>
              <a:rPr lang="en-US" sz="12000" b="1" dirty="0">
                <a:solidFill>
                  <a:srgbClr val="00ED64">
                    <a:alpha val="80000"/>
                  </a:srgbClr>
                </a:solidFill>
                <a:latin typeface="Lexend Deca" pitchFamily="34" charset="0"/>
                <a:ea typeface="Lexend Deca" pitchFamily="34" charset="-122"/>
                <a:cs typeface="Lexend Deca" pitchFamily="34" charset="-120"/>
              </a:rPr>
              <a:t>04</a:t>
            </a:r>
            <a:endParaRPr lang="en-US" sz="12000" dirty="0"/>
          </a:p>
        </p:txBody>
      </p:sp>
      <p:sp>
        <p:nvSpPr>
          <p:cNvPr id="6" name="Text 4"/>
          <p:cNvSpPr/>
          <p:nvPr/>
        </p:nvSpPr>
        <p:spPr>
          <a:xfrm>
            <a:off x="822960" y="3749040"/>
            <a:ext cx="9144000" cy="1097280"/>
          </a:xfrm>
          <a:prstGeom prst="rect">
            <a:avLst/>
          </a:prstGeom>
          <a:noFill/>
          <a:ln/>
        </p:spPr>
        <p:txBody>
          <a:bodyPr wrap="square" lIns="0" tIns="0" rIns="0" bIns="0" rtlCol="0" anchor="ctr"/>
          <a:lstStyle/>
          <a:p>
            <a:pPr indent="0" marL="0">
              <a:buNone/>
            </a:pPr>
            <a:r>
              <a:rPr lang="en-US" sz="4800" b="1" dirty="0">
                <a:solidFill>
                  <a:srgbClr val="FFFFFF"/>
                </a:solidFill>
                <a:latin typeface="Lexend Deca" pitchFamily="34" charset="0"/>
                <a:ea typeface="Lexend Deca" pitchFamily="34" charset="-122"/>
                <a:cs typeface="Lexend Deca" pitchFamily="34" charset="-120"/>
              </a:rPr>
              <a:t>Transactions &amp; ACID</a:t>
            </a:r>
            <a:endParaRPr lang="en-US" sz="4800" dirty="0"/>
          </a:p>
        </p:txBody>
      </p:sp>
      <p:sp>
        <p:nvSpPr>
          <p:cNvPr id="7" name="Text 5"/>
          <p:cNvSpPr/>
          <p:nvPr/>
        </p:nvSpPr>
        <p:spPr>
          <a:xfrm>
            <a:off x="822960" y="4937760"/>
            <a:ext cx="8229600" cy="640080"/>
          </a:xfrm>
          <a:prstGeom prst="rect">
            <a:avLst/>
          </a:prstGeom>
          <a:noFill/>
          <a:ln/>
        </p:spPr>
        <p:txBody>
          <a:bodyPr wrap="square" lIns="0" tIns="0" rIns="0" bIns="0" rtlCol="0" anchor="ctr"/>
          <a:lstStyle/>
          <a:p>
            <a:pPr indent="0" marL="0">
              <a:buNone/>
            </a:pPr>
            <a:r>
              <a:rPr lang="en-US" sz="1800" i="1" dirty="0">
                <a:solidFill>
                  <a:srgbClr val="B8C4C2"/>
                </a:solidFill>
                <a:latin typeface="Lexend Deca" pitchFamily="34" charset="0"/>
                <a:ea typeface="Lexend Deca" pitchFamily="34" charset="-122"/>
                <a:cs typeface="Lexend Deca" pitchFamily="34" charset="-120"/>
              </a:rPr>
              <a:t>Multi-document · Cross-collection · When to use</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1E2B"/>
        </a:solidFill>
      </p:bgPr>
    </p:bg>
    <p:spTree>
      <p:nvGrpSpPr>
        <p:cNvPr id="1" name=""/>
        <p:cNvGrpSpPr/>
        <p:nvPr/>
      </p:nvGrpSpPr>
      <p:grpSpPr>
        <a:xfrm>
          <a:off x="0" y="0"/>
          <a:ext cx="0" cy="0"/>
          <a:chOff x="0" y="0"/>
          <a:chExt cx="0" cy="0"/>
        </a:xfrm>
      </p:grpSpPr>
      <p:sp>
        <p:nvSpPr>
          <p:cNvPr id="2" name="Shape 0"/>
          <p:cNvSpPr/>
          <p:nvPr/>
        </p:nvSpPr>
        <p:spPr>
          <a:xfrm>
            <a:off x="0" y="6656832"/>
            <a:ext cx="12188952" cy="201168"/>
          </a:xfrm>
          <a:prstGeom prst="rect">
            <a:avLst/>
          </a:prstGeom>
          <a:solidFill>
            <a:srgbClr val="00ED64"/>
          </a:solidFill>
          <a:ln w="12700">
            <a:solidFill>
              <a:srgbClr val="00ED64"/>
            </a:solidFill>
            <a:prstDash val="solid"/>
          </a:ln>
        </p:spPr>
      </p:sp>
      <p:sp>
        <p:nvSpPr>
          <p:cNvPr id="3" name="Text 1"/>
          <p:cNvSpPr/>
          <p:nvPr/>
        </p:nvSpPr>
        <p:spPr>
          <a:xfrm>
            <a:off x="566928" y="201168"/>
            <a:ext cx="11055096" cy="594360"/>
          </a:xfrm>
          <a:prstGeom prst="rect">
            <a:avLst/>
          </a:prstGeom>
          <a:noFill/>
          <a:ln/>
        </p:spPr>
        <p:txBody>
          <a:bodyPr wrap="square" lIns="0" tIns="0" rIns="0" bIns="0" rtlCol="0" anchor="ctr"/>
          <a:lstStyle/>
          <a:p>
            <a:pPr indent="0" marL="0">
              <a:buNone/>
            </a:pPr>
            <a:r>
              <a:rPr lang="en-US" sz="3000" b="1" dirty="0">
                <a:solidFill>
                  <a:srgbClr val="FFFFFF"/>
                </a:solidFill>
                <a:latin typeface="Lexend Deca" pitchFamily="34" charset="0"/>
                <a:ea typeface="Lexend Deca" pitchFamily="34" charset="-122"/>
                <a:cs typeface="Lexend Deca" pitchFamily="34" charset="-120"/>
              </a:rPr>
              <a:t>Transactions &amp; ACID — Yes, MongoDB Has Them</a:t>
            </a:r>
            <a:endParaRPr lang="en-US" sz="3000" dirty="0"/>
          </a:p>
        </p:txBody>
      </p:sp>
      <p:sp>
        <p:nvSpPr>
          <p:cNvPr id="4" name="Shape 2"/>
          <p:cNvSpPr/>
          <p:nvPr/>
        </p:nvSpPr>
        <p:spPr>
          <a:xfrm>
            <a:off x="566928" y="822960"/>
            <a:ext cx="1280160" cy="54864"/>
          </a:xfrm>
          <a:prstGeom prst="rect">
            <a:avLst/>
          </a:prstGeom>
          <a:solidFill>
            <a:srgbClr val="00ED64"/>
          </a:solidFill>
          <a:ln w="12700">
            <a:solidFill>
              <a:srgbClr val="00ED64"/>
            </a:solidFill>
            <a:prstDash val="solid"/>
          </a:ln>
        </p:spPr>
      </p:sp>
      <p:sp>
        <p:nvSpPr>
          <p:cNvPr id="5" name="Text 3"/>
          <p:cNvSpPr/>
          <p:nvPr/>
        </p:nvSpPr>
        <p:spPr>
          <a:xfrm>
            <a:off x="566928" y="932688"/>
            <a:ext cx="11055096" cy="475488"/>
          </a:xfrm>
          <a:prstGeom prst="rect">
            <a:avLst/>
          </a:prstGeom>
          <a:noFill/>
          <a:ln/>
        </p:spPr>
        <p:txBody>
          <a:bodyPr wrap="square" lIns="0" tIns="0" rIns="0" bIns="0" rtlCol="0" anchor="ctr"/>
          <a:lstStyle/>
          <a:p>
            <a:pPr indent="0" marL="0">
              <a:buNone/>
            </a:pPr>
            <a:r>
              <a:rPr lang="en-US" sz="1800" b="1" dirty="0">
                <a:solidFill>
                  <a:srgbClr val="00ED64"/>
                </a:solidFill>
                <a:latin typeface="Lexend Deca" pitchFamily="34" charset="0"/>
                <a:ea typeface="Lexend Deca" pitchFamily="34" charset="-122"/>
                <a:cs typeface="Lexend Deca" pitchFamily="34" charset="-120"/>
              </a:rPr>
              <a:t>Multi-document ACID transactions available since MongoDB 4.0  (2018)</a:t>
            </a:r>
            <a:endParaRPr lang="en-US" sz="1800" dirty="0"/>
          </a:p>
        </p:txBody>
      </p:sp>
      <p:sp>
        <p:nvSpPr>
          <p:cNvPr id="6" name="Shape 4"/>
          <p:cNvSpPr/>
          <p:nvPr/>
        </p:nvSpPr>
        <p:spPr>
          <a:xfrm>
            <a:off x="566928" y="1508760"/>
            <a:ext cx="6400800" cy="5029200"/>
          </a:xfrm>
          <a:prstGeom prst="rect">
            <a:avLst/>
          </a:prstGeom>
          <a:solidFill>
            <a:srgbClr val="011520"/>
          </a:solidFill>
          <a:ln w="15240">
            <a:solidFill>
              <a:srgbClr val="00ED64"/>
            </a:solidFill>
            <a:prstDash val="solid"/>
          </a:ln>
          <a:effectLst>
            <a:outerShdw sx="100000" sy="100000" kx="0" ky="0" algn="bl" rotWithShape="0" blurRad="127000" dist="38100" dir="8100000">
              <a:srgbClr val="000000">
                <a:alpha val="28000"/>
              </a:srgbClr>
            </a:outerShdw>
          </a:effectLst>
        </p:spPr>
      </p:sp>
      <p:sp>
        <p:nvSpPr>
          <p:cNvPr id="7" name="Text 5"/>
          <p:cNvSpPr/>
          <p:nvPr/>
        </p:nvSpPr>
        <p:spPr>
          <a:xfrm>
            <a:off x="704088" y="1627632"/>
            <a:ext cx="6126480" cy="4791456"/>
          </a:xfrm>
          <a:prstGeom prst="rect">
            <a:avLst/>
          </a:prstGeom>
          <a:noFill/>
          <a:ln/>
        </p:spPr>
        <p:txBody>
          <a:bodyPr wrap="square" lIns="0" tIns="0" rIns="0" bIns="0" rtlCol="0" anchor="t"/>
          <a:lstStyle/>
          <a:p>
            <a:pPr indent="0" marL="0">
              <a:buNone/>
            </a:pPr>
            <a:r>
              <a:rPr lang="en-US" sz="1100" dirty="0">
                <a:solidFill>
                  <a:srgbClr val="00ED64"/>
                </a:solidFill>
                <a:latin typeface="Source Code Pro" pitchFamily="34" charset="0"/>
                <a:ea typeface="Source Code Pro" pitchFamily="34" charset="-122"/>
                <a:cs typeface="Source Code Pro" pitchFamily="34" charset="-120"/>
              </a:rPr>
              <a:t>const session = client.startSession();</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session.startTransaction();</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try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1. Deduct inventory</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await inventory.updateOne(</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sku:"A1" }, { $inc:{ qty:-2 } }, { session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2. Create order</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await orders.insertOne(</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customerId, items, total }, { session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3. Write audit log</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await auditLog.insertOne(</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action:"order_placed", ts:new Date() }, { session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await session.commitTransaction();</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catch (err)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await session.abortTransaction();</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finally { session.endSession(); }</a:t>
            </a:r>
            <a:endParaRPr lang="en-US" sz="1100" dirty="0"/>
          </a:p>
        </p:txBody>
      </p:sp>
      <p:sp>
        <p:nvSpPr>
          <p:cNvPr id="8" name="Shape 6"/>
          <p:cNvSpPr/>
          <p:nvPr/>
        </p:nvSpPr>
        <p:spPr>
          <a:xfrm>
            <a:off x="7424928" y="1508760"/>
            <a:ext cx="4754880" cy="1143000"/>
          </a:xfrm>
          <a:prstGeom prst="rect">
            <a:avLst/>
          </a:prstGeom>
          <a:solidFill>
            <a:srgbClr val="023430"/>
          </a:solidFill>
          <a:ln w="12700">
            <a:solidFill>
              <a:srgbClr val="023A50"/>
            </a:solidFill>
            <a:prstDash val="solid"/>
          </a:ln>
        </p:spPr>
      </p:sp>
      <p:sp>
        <p:nvSpPr>
          <p:cNvPr id="9" name="Shape 7"/>
          <p:cNvSpPr/>
          <p:nvPr/>
        </p:nvSpPr>
        <p:spPr>
          <a:xfrm>
            <a:off x="7424928" y="1508760"/>
            <a:ext cx="109728" cy="1143000"/>
          </a:xfrm>
          <a:prstGeom prst="rect">
            <a:avLst/>
          </a:prstGeom>
          <a:solidFill>
            <a:srgbClr val="00ED64"/>
          </a:solidFill>
          <a:ln w="12700">
            <a:solidFill>
              <a:srgbClr val="00ED64"/>
            </a:solidFill>
            <a:prstDash val="solid"/>
          </a:ln>
        </p:spPr>
      </p:sp>
      <p:sp>
        <p:nvSpPr>
          <p:cNvPr id="10" name="Text 8"/>
          <p:cNvSpPr/>
          <p:nvPr/>
        </p:nvSpPr>
        <p:spPr>
          <a:xfrm>
            <a:off x="7653528" y="1581912"/>
            <a:ext cx="4462272" cy="438912"/>
          </a:xfrm>
          <a:prstGeom prst="rect">
            <a:avLst/>
          </a:prstGeom>
          <a:noFill/>
          <a:ln/>
        </p:spPr>
        <p:txBody>
          <a:bodyPr wrap="square" lIns="0" tIns="0" rIns="0" bIns="0" rtlCol="0" anchor="ctr"/>
          <a:lstStyle/>
          <a:p>
            <a:pPr indent="0" marL="0">
              <a:buNone/>
            </a:pPr>
            <a:r>
              <a:rPr lang="en-US" sz="1600" b="1" dirty="0">
                <a:solidFill>
                  <a:srgbClr val="00ED64"/>
                </a:solidFill>
                <a:latin typeface="Lexend Deca" pitchFamily="34" charset="0"/>
                <a:ea typeface="Lexend Deca" pitchFamily="34" charset="-122"/>
                <a:cs typeface="Lexend Deca" pitchFamily="34" charset="-120"/>
              </a:rPr>
              <a:t>ACID compliant</a:t>
            </a:r>
            <a:endParaRPr lang="en-US" sz="1600" dirty="0"/>
          </a:p>
        </p:txBody>
      </p:sp>
      <p:sp>
        <p:nvSpPr>
          <p:cNvPr id="11" name="Text 9"/>
          <p:cNvSpPr/>
          <p:nvPr/>
        </p:nvSpPr>
        <p:spPr>
          <a:xfrm>
            <a:off x="7653528" y="2039112"/>
            <a:ext cx="4462272" cy="530352"/>
          </a:xfrm>
          <a:prstGeom prst="rect">
            <a:avLst/>
          </a:prstGeom>
          <a:noFill/>
          <a:ln/>
        </p:spPr>
        <p:txBody>
          <a:bodyPr wrap="square" lIns="0" tIns="0" rIns="0" bIns="0" rtlCol="0" anchor="ctr"/>
          <a:lstStyle/>
          <a:p>
            <a:pPr indent="0" marL="0">
              <a:buNone/>
            </a:pPr>
            <a:r>
              <a:rPr lang="en-US" sz="1300" dirty="0">
                <a:solidFill>
                  <a:srgbClr val="FFFFFF"/>
                </a:solidFill>
                <a:latin typeface="Lexend Deca" pitchFamily="34" charset="0"/>
                <a:ea typeface="Lexend Deca" pitchFamily="34" charset="-122"/>
                <a:cs typeface="Lexend Deca" pitchFamily="34" charset="-120"/>
              </a:rPr>
              <a:t>Atomicity, Consistency, Isolation, Durability — same guarantees as PostgreSQL</a:t>
            </a:r>
            <a:endParaRPr lang="en-US" sz="1300" dirty="0"/>
          </a:p>
        </p:txBody>
      </p:sp>
      <p:sp>
        <p:nvSpPr>
          <p:cNvPr id="12" name="Shape 10"/>
          <p:cNvSpPr/>
          <p:nvPr/>
        </p:nvSpPr>
        <p:spPr>
          <a:xfrm>
            <a:off x="7424928" y="2770632"/>
            <a:ext cx="4754880" cy="1143000"/>
          </a:xfrm>
          <a:prstGeom prst="rect">
            <a:avLst/>
          </a:prstGeom>
          <a:solidFill>
            <a:srgbClr val="023430"/>
          </a:solidFill>
          <a:ln w="12700">
            <a:solidFill>
              <a:srgbClr val="023A50"/>
            </a:solidFill>
            <a:prstDash val="solid"/>
          </a:ln>
        </p:spPr>
      </p:sp>
      <p:sp>
        <p:nvSpPr>
          <p:cNvPr id="13" name="Shape 11"/>
          <p:cNvSpPr/>
          <p:nvPr/>
        </p:nvSpPr>
        <p:spPr>
          <a:xfrm>
            <a:off x="7424928" y="2770632"/>
            <a:ext cx="109728" cy="1143000"/>
          </a:xfrm>
          <a:prstGeom prst="rect">
            <a:avLst/>
          </a:prstGeom>
          <a:solidFill>
            <a:srgbClr val="00ED64"/>
          </a:solidFill>
          <a:ln w="12700">
            <a:solidFill>
              <a:srgbClr val="00ED64"/>
            </a:solidFill>
            <a:prstDash val="solid"/>
          </a:ln>
        </p:spPr>
      </p:sp>
      <p:sp>
        <p:nvSpPr>
          <p:cNvPr id="14" name="Text 12"/>
          <p:cNvSpPr/>
          <p:nvPr/>
        </p:nvSpPr>
        <p:spPr>
          <a:xfrm>
            <a:off x="7653528" y="2843784"/>
            <a:ext cx="4462272" cy="438912"/>
          </a:xfrm>
          <a:prstGeom prst="rect">
            <a:avLst/>
          </a:prstGeom>
          <a:noFill/>
          <a:ln/>
        </p:spPr>
        <p:txBody>
          <a:bodyPr wrap="square" lIns="0" tIns="0" rIns="0" bIns="0" rtlCol="0" anchor="ctr"/>
          <a:lstStyle/>
          <a:p>
            <a:pPr indent="0" marL="0">
              <a:buNone/>
            </a:pPr>
            <a:r>
              <a:rPr lang="en-US" sz="1600" b="1" dirty="0">
                <a:solidFill>
                  <a:srgbClr val="00ED64"/>
                </a:solidFill>
                <a:latin typeface="Lexend Deca" pitchFamily="34" charset="0"/>
                <a:ea typeface="Lexend Deca" pitchFamily="34" charset="-122"/>
                <a:cs typeface="Lexend Deca" pitchFamily="34" charset="-120"/>
              </a:rPr>
              <a:t>Use sparingly</a:t>
            </a:r>
            <a:endParaRPr lang="en-US" sz="1600" dirty="0"/>
          </a:p>
        </p:txBody>
      </p:sp>
      <p:sp>
        <p:nvSpPr>
          <p:cNvPr id="15" name="Text 13"/>
          <p:cNvSpPr/>
          <p:nvPr/>
        </p:nvSpPr>
        <p:spPr>
          <a:xfrm>
            <a:off x="7653528" y="3300984"/>
            <a:ext cx="4462272" cy="530352"/>
          </a:xfrm>
          <a:prstGeom prst="rect">
            <a:avLst/>
          </a:prstGeom>
          <a:noFill/>
          <a:ln/>
        </p:spPr>
        <p:txBody>
          <a:bodyPr wrap="square" lIns="0" tIns="0" rIns="0" bIns="0" rtlCol="0" anchor="ctr"/>
          <a:lstStyle/>
          <a:p>
            <a:pPr indent="0" marL="0">
              <a:buNone/>
            </a:pPr>
            <a:r>
              <a:rPr lang="en-US" sz="1300" dirty="0">
                <a:solidFill>
                  <a:srgbClr val="FFFFFF"/>
                </a:solidFill>
                <a:latin typeface="Lexend Deca" pitchFamily="34" charset="0"/>
                <a:ea typeface="Lexend Deca" pitchFamily="34" charset="-122"/>
                <a:cs typeface="Lexend Deca" pitchFamily="34" charset="-120"/>
              </a:rPr>
              <a:t>Good embedding often eliminates the need. Transactions have overhead.</a:t>
            </a:r>
            <a:endParaRPr lang="en-US" sz="1300" dirty="0"/>
          </a:p>
        </p:txBody>
      </p:sp>
      <p:sp>
        <p:nvSpPr>
          <p:cNvPr id="16" name="Shape 14"/>
          <p:cNvSpPr/>
          <p:nvPr/>
        </p:nvSpPr>
        <p:spPr>
          <a:xfrm>
            <a:off x="7424928" y="4032504"/>
            <a:ext cx="4754880" cy="1143000"/>
          </a:xfrm>
          <a:prstGeom prst="rect">
            <a:avLst/>
          </a:prstGeom>
          <a:solidFill>
            <a:srgbClr val="023430"/>
          </a:solidFill>
          <a:ln w="12700">
            <a:solidFill>
              <a:srgbClr val="023A50"/>
            </a:solidFill>
            <a:prstDash val="solid"/>
          </a:ln>
        </p:spPr>
      </p:sp>
      <p:sp>
        <p:nvSpPr>
          <p:cNvPr id="17" name="Shape 15"/>
          <p:cNvSpPr/>
          <p:nvPr/>
        </p:nvSpPr>
        <p:spPr>
          <a:xfrm>
            <a:off x="7424928" y="4032504"/>
            <a:ext cx="109728" cy="1143000"/>
          </a:xfrm>
          <a:prstGeom prst="rect">
            <a:avLst/>
          </a:prstGeom>
          <a:solidFill>
            <a:srgbClr val="00ED64"/>
          </a:solidFill>
          <a:ln w="12700">
            <a:solidFill>
              <a:srgbClr val="00ED64"/>
            </a:solidFill>
            <a:prstDash val="solid"/>
          </a:ln>
        </p:spPr>
      </p:sp>
      <p:sp>
        <p:nvSpPr>
          <p:cNvPr id="18" name="Text 16"/>
          <p:cNvSpPr/>
          <p:nvPr/>
        </p:nvSpPr>
        <p:spPr>
          <a:xfrm>
            <a:off x="7653528" y="4105656"/>
            <a:ext cx="4462272" cy="438912"/>
          </a:xfrm>
          <a:prstGeom prst="rect">
            <a:avLst/>
          </a:prstGeom>
          <a:noFill/>
          <a:ln/>
        </p:spPr>
        <p:txBody>
          <a:bodyPr wrap="square" lIns="0" tIns="0" rIns="0" bIns="0" rtlCol="0" anchor="ctr"/>
          <a:lstStyle/>
          <a:p>
            <a:pPr indent="0" marL="0">
              <a:buNone/>
            </a:pPr>
            <a:r>
              <a:rPr lang="en-US" sz="1600" b="1" dirty="0">
                <a:solidFill>
                  <a:srgbClr val="00ED64"/>
                </a:solidFill>
                <a:latin typeface="Lexend Deca" pitchFamily="34" charset="0"/>
                <a:ea typeface="Lexend Deca" pitchFamily="34" charset="-122"/>
                <a:cs typeface="Lexend Deca" pitchFamily="34" charset="-120"/>
              </a:rPr>
              <a:t>Cross-collection</a:t>
            </a:r>
            <a:endParaRPr lang="en-US" sz="1600" dirty="0"/>
          </a:p>
        </p:txBody>
      </p:sp>
      <p:sp>
        <p:nvSpPr>
          <p:cNvPr id="19" name="Text 17"/>
          <p:cNvSpPr/>
          <p:nvPr/>
        </p:nvSpPr>
        <p:spPr>
          <a:xfrm>
            <a:off x="7653528" y="4562856"/>
            <a:ext cx="4462272" cy="530352"/>
          </a:xfrm>
          <a:prstGeom prst="rect">
            <a:avLst/>
          </a:prstGeom>
          <a:noFill/>
          <a:ln/>
        </p:spPr>
        <p:txBody>
          <a:bodyPr wrap="square" lIns="0" tIns="0" rIns="0" bIns="0" rtlCol="0" anchor="ctr"/>
          <a:lstStyle/>
          <a:p>
            <a:pPr indent="0" marL="0">
              <a:buNone/>
            </a:pPr>
            <a:r>
              <a:rPr lang="en-US" sz="1300" dirty="0">
                <a:solidFill>
                  <a:srgbClr val="FFFFFF"/>
                </a:solidFill>
                <a:latin typeface="Lexend Deca" pitchFamily="34" charset="0"/>
                <a:ea typeface="Lexend Deca" pitchFamily="34" charset="-122"/>
                <a:cs typeface="Lexend Deca" pitchFamily="34" charset="-120"/>
              </a:rPr>
              <a:t>Update orders + inventory + auditLog in one atomic operation</a:t>
            </a:r>
            <a:endParaRPr lang="en-US" sz="1300" dirty="0"/>
          </a:p>
        </p:txBody>
      </p:sp>
      <p:sp>
        <p:nvSpPr>
          <p:cNvPr id="20" name="Shape 18"/>
          <p:cNvSpPr/>
          <p:nvPr/>
        </p:nvSpPr>
        <p:spPr>
          <a:xfrm>
            <a:off x="7424928" y="5294376"/>
            <a:ext cx="4754880" cy="1143000"/>
          </a:xfrm>
          <a:prstGeom prst="rect">
            <a:avLst/>
          </a:prstGeom>
          <a:solidFill>
            <a:srgbClr val="023430"/>
          </a:solidFill>
          <a:ln w="12700">
            <a:solidFill>
              <a:srgbClr val="023A50"/>
            </a:solidFill>
            <a:prstDash val="solid"/>
          </a:ln>
        </p:spPr>
      </p:sp>
      <p:sp>
        <p:nvSpPr>
          <p:cNvPr id="21" name="Shape 19"/>
          <p:cNvSpPr/>
          <p:nvPr/>
        </p:nvSpPr>
        <p:spPr>
          <a:xfrm>
            <a:off x="7424928" y="5294376"/>
            <a:ext cx="109728" cy="1143000"/>
          </a:xfrm>
          <a:prstGeom prst="rect">
            <a:avLst/>
          </a:prstGeom>
          <a:solidFill>
            <a:srgbClr val="00ED64"/>
          </a:solidFill>
          <a:ln w="12700">
            <a:solidFill>
              <a:srgbClr val="00ED64"/>
            </a:solidFill>
            <a:prstDash val="solid"/>
          </a:ln>
        </p:spPr>
      </p:sp>
      <p:sp>
        <p:nvSpPr>
          <p:cNvPr id="22" name="Text 20"/>
          <p:cNvSpPr/>
          <p:nvPr/>
        </p:nvSpPr>
        <p:spPr>
          <a:xfrm>
            <a:off x="7653528" y="5367528"/>
            <a:ext cx="4462272" cy="438912"/>
          </a:xfrm>
          <a:prstGeom prst="rect">
            <a:avLst/>
          </a:prstGeom>
          <a:noFill/>
          <a:ln/>
        </p:spPr>
        <p:txBody>
          <a:bodyPr wrap="square" lIns="0" tIns="0" rIns="0" bIns="0" rtlCol="0" anchor="ctr"/>
          <a:lstStyle/>
          <a:p>
            <a:pPr indent="0" marL="0">
              <a:buNone/>
            </a:pPr>
            <a:r>
              <a:rPr lang="en-US" sz="1600" b="1" dirty="0">
                <a:solidFill>
                  <a:srgbClr val="00ED64"/>
                </a:solidFill>
                <a:latin typeface="Lexend Deca" pitchFamily="34" charset="0"/>
                <a:ea typeface="Lexend Deca" pitchFamily="34" charset="-122"/>
                <a:cs typeface="Lexend Deca" pitchFamily="34" charset="-120"/>
              </a:rPr>
              <a:t>Replica Set req.</a:t>
            </a:r>
            <a:endParaRPr lang="en-US" sz="1600" dirty="0"/>
          </a:p>
        </p:txBody>
      </p:sp>
      <p:sp>
        <p:nvSpPr>
          <p:cNvPr id="23" name="Text 21"/>
          <p:cNvSpPr/>
          <p:nvPr/>
        </p:nvSpPr>
        <p:spPr>
          <a:xfrm>
            <a:off x="7653528" y="5824728"/>
            <a:ext cx="4462272" cy="530352"/>
          </a:xfrm>
          <a:prstGeom prst="rect">
            <a:avLst/>
          </a:prstGeom>
          <a:noFill/>
          <a:ln/>
        </p:spPr>
        <p:txBody>
          <a:bodyPr wrap="square" lIns="0" tIns="0" rIns="0" bIns="0" rtlCol="0" anchor="ctr"/>
          <a:lstStyle/>
          <a:p>
            <a:pPr indent="0" marL="0">
              <a:buNone/>
            </a:pPr>
            <a:r>
              <a:rPr lang="en-US" sz="1300" dirty="0">
                <a:solidFill>
                  <a:srgbClr val="FFFFFF"/>
                </a:solidFill>
                <a:latin typeface="Lexend Deca" pitchFamily="34" charset="0"/>
                <a:ea typeface="Lexend Deca" pitchFamily="34" charset="-122"/>
                <a:cs typeface="Lexend Deca" pitchFamily="34" charset="-120"/>
              </a:rPr>
              <a:t>Need at least 1-node replica set. Atlas always has this.</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1E2B"/>
        </a:solidFill>
      </p:bgPr>
    </p:bg>
    <p:spTree>
      <p:nvGrpSpPr>
        <p:cNvPr id="1" name=""/>
        <p:cNvGrpSpPr/>
        <p:nvPr/>
      </p:nvGrpSpPr>
      <p:grpSpPr>
        <a:xfrm>
          <a:off x="0" y="0"/>
          <a:ext cx="0" cy="0"/>
          <a:chOff x="0" y="0"/>
          <a:chExt cx="0" cy="0"/>
        </a:xfrm>
      </p:grpSpPr>
      <p:sp>
        <p:nvSpPr>
          <p:cNvPr id="2" name="Shape 0"/>
          <p:cNvSpPr/>
          <p:nvPr/>
        </p:nvSpPr>
        <p:spPr>
          <a:xfrm>
            <a:off x="0" y="6656832"/>
            <a:ext cx="12188952" cy="201168"/>
          </a:xfrm>
          <a:prstGeom prst="rect">
            <a:avLst/>
          </a:prstGeom>
          <a:solidFill>
            <a:srgbClr val="00ED64"/>
          </a:solidFill>
          <a:ln w="12700">
            <a:solidFill>
              <a:srgbClr val="00ED64"/>
            </a:solidFill>
            <a:prstDash val="solid"/>
          </a:ln>
        </p:spPr>
      </p:sp>
      <p:sp>
        <p:nvSpPr>
          <p:cNvPr id="3" name="Shape 1"/>
          <p:cNvSpPr/>
          <p:nvPr/>
        </p:nvSpPr>
        <p:spPr>
          <a:xfrm>
            <a:off x="0" y="0"/>
            <a:ext cx="502920" cy="6858000"/>
          </a:xfrm>
          <a:prstGeom prst="rect">
            <a:avLst/>
          </a:prstGeom>
          <a:solidFill>
            <a:srgbClr val="00ED64"/>
          </a:solidFill>
          <a:ln w="12700">
            <a:solidFill>
              <a:srgbClr val="00ED64"/>
            </a:solidFill>
            <a:prstDash val="solid"/>
          </a:ln>
        </p:spPr>
      </p:sp>
      <p:sp>
        <p:nvSpPr>
          <p:cNvPr id="4" name="Shape 2"/>
          <p:cNvSpPr/>
          <p:nvPr/>
        </p:nvSpPr>
        <p:spPr>
          <a:xfrm>
            <a:off x="8686800" y="-914400"/>
            <a:ext cx="5486400" cy="5486400"/>
          </a:xfrm>
          <a:prstGeom prst="ellipse">
            <a:avLst/>
          </a:prstGeom>
          <a:solidFill>
            <a:srgbClr val="023430">
              <a:alpha val="60000"/>
            </a:srgbClr>
          </a:solidFill>
          <a:ln w="12700">
            <a:solidFill>
              <a:srgbClr val="023430"/>
            </a:solidFill>
            <a:prstDash val="solid"/>
          </a:ln>
        </p:spPr>
      </p:sp>
      <p:sp>
        <p:nvSpPr>
          <p:cNvPr id="5" name="Text 3"/>
          <p:cNvSpPr/>
          <p:nvPr/>
        </p:nvSpPr>
        <p:spPr>
          <a:xfrm>
            <a:off x="822960" y="1645920"/>
            <a:ext cx="2286000" cy="2011680"/>
          </a:xfrm>
          <a:prstGeom prst="rect">
            <a:avLst/>
          </a:prstGeom>
          <a:noFill/>
          <a:ln/>
        </p:spPr>
        <p:txBody>
          <a:bodyPr wrap="square" lIns="0" tIns="0" rIns="0" bIns="0" rtlCol="0" anchor="ctr"/>
          <a:lstStyle/>
          <a:p>
            <a:pPr indent="0" marL="0">
              <a:buNone/>
            </a:pPr>
            <a:r>
              <a:rPr lang="en-US" sz="12000" b="1" dirty="0">
                <a:solidFill>
                  <a:srgbClr val="00ED64">
                    <a:alpha val="80000"/>
                  </a:srgbClr>
                </a:solidFill>
                <a:latin typeface="Lexend Deca" pitchFamily="34" charset="0"/>
                <a:ea typeface="Lexend Deca" pitchFamily="34" charset="-122"/>
                <a:cs typeface="Lexend Deca" pitchFamily="34" charset="-120"/>
              </a:rPr>
              <a:t>05</a:t>
            </a:r>
            <a:endParaRPr lang="en-US" sz="12000" dirty="0"/>
          </a:p>
        </p:txBody>
      </p:sp>
      <p:sp>
        <p:nvSpPr>
          <p:cNvPr id="6" name="Text 4"/>
          <p:cNvSpPr/>
          <p:nvPr/>
        </p:nvSpPr>
        <p:spPr>
          <a:xfrm>
            <a:off x="822960" y="3749040"/>
            <a:ext cx="9144000" cy="1097280"/>
          </a:xfrm>
          <a:prstGeom prst="rect">
            <a:avLst/>
          </a:prstGeom>
          <a:noFill/>
          <a:ln/>
        </p:spPr>
        <p:txBody>
          <a:bodyPr wrap="square" lIns="0" tIns="0" rIns="0" bIns="0" rtlCol="0" anchor="ctr"/>
          <a:lstStyle/>
          <a:p>
            <a:pPr indent="0" marL="0">
              <a:buNone/>
            </a:pPr>
            <a:r>
              <a:rPr lang="en-US" sz="4800" b="1" dirty="0">
                <a:solidFill>
                  <a:srgbClr val="FFFFFF"/>
                </a:solidFill>
                <a:latin typeface="Lexend Deca" pitchFamily="34" charset="0"/>
                <a:ea typeface="Lexend Deca" pitchFamily="34" charset="-122"/>
                <a:cs typeface="Lexend Deca" pitchFamily="34" charset="-120"/>
              </a:rPr>
              <a:t>Developer Experience</a:t>
            </a:r>
            <a:endParaRPr lang="en-US" sz="4800" dirty="0"/>
          </a:p>
        </p:txBody>
      </p:sp>
      <p:sp>
        <p:nvSpPr>
          <p:cNvPr id="7" name="Text 5"/>
          <p:cNvSpPr/>
          <p:nvPr/>
        </p:nvSpPr>
        <p:spPr>
          <a:xfrm>
            <a:off x="822960" y="4937760"/>
            <a:ext cx="8229600" cy="640080"/>
          </a:xfrm>
          <a:prstGeom prst="rect">
            <a:avLst/>
          </a:prstGeom>
          <a:noFill/>
          <a:ln/>
        </p:spPr>
        <p:txBody>
          <a:bodyPr wrap="square" lIns="0" tIns="0" rIns="0" bIns="0" rtlCol="0" anchor="ctr"/>
          <a:lstStyle/>
          <a:p>
            <a:pPr indent="0" marL="0">
              <a:buNone/>
            </a:pPr>
            <a:r>
              <a:rPr lang="en-US" sz="1800" i="1" dirty="0">
                <a:solidFill>
                  <a:srgbClr val="B8C4C2"/>
                </a:solidFill>
                <a:latin typeface="Lexend Deca" pitchFamily="34" charset="0"/>
                <a:ea typeface="Lexend Deca" pitchFamily="34" charset="-122"/>
                <a:cs typeface="Lexend Deca" pitchFamily="34" charset="-120"/>
              </a:rPr>
              <a:t>Compass · Atlas · Change Streams · Node.js Driver</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1E2B"/>
        </a:solidFill>
      </p:bgPr>
    </p:bg>
    <p:spTree>
      <p:nvGrpSpPr>
        <p:cNvPr id="1" name=""/>
        <p:cNvGrpSpPr/>
        <p:nvPr/>
      </p:nvGrpSpPr>
      <p:grpSpPr>
        <a:xfrm>
          <a:off x="0" y="0"/>
          <a:ext cx="0" cy="0"/>
          <a:chOff x="0" y="0"/>
          <a:chExt cx="0" cy="0"/>
        </a:xfrm>
      </p:grpSpPr>
      <p:sp>
        <p:nvSpPr>
          <p:cNvPr id="2" name="Shape 0"/>
          <p:cNvSpPr/>
          <p:nvPr/>
        </p:nvSpPr>
        <p:spPr>
          <a:xfrm>
            <a:off x="0" y="6656832"/>
            <a:ext cx="12188952" cy="201168"/>
          </a:xfrm>
          <a:prstGeom prst="rect">
            <a:avLst/>
          </a:prstGeom>
          <a:solidFill>
            <a:srgbClr val="00ED64"/>
          </a:solidFill>
          <a:ln w="12700">
            <a:solidFill>
              <a:srgbClr val="00ED64"/>
            </a:solidFill>
            <a:prstDash val="solid"/>
          </a:ln>
        </p:spPr>
      </p:sp>
      <p:sp>
        <p:nvSpPr>
          <p:cNvPr id="3" name="Text 1"/>
          <p:cNvSpPr/>
          <p:nvPr/>
        </p:nvSpPr>
        <p:spPr>
          <a:xfrm>
            <a:off x="566928" y="201168"/>
            <a:ext cx="11055096" cy="594360"/>
          </a:xfrm>
          <a:prstGeom prst="rect">
            <a:avLst/>
          </a:prstGeom>
          <a:noFill/>
          <a:ln/>
        </p:spPr>
        <p:txBody>
          <a:bodyPr wrap="square" lIns="0" tIns="0" rIns="0" bIns="0" rtlCol="0" anchor="ctr"/>
          <a:lstStyle/>
          <a:p>
            <a:pPr indent="0" marL="0">
              <a:buNone/>
            </a:pPr>
            <a:r>
              <a:rPr lang="en-US" sz="3000" b="1" dirty="0">
                <a:solidFill>
                  <a:srgbClr val="FFFFFF"/>
                </a:solidFill>
                <a:latin typeface="Lexend Deca" pitchFamily="34" charset="0"/>
                <a:ea typeface="Lexend Deca" pitchFamily="34" charset="-122"/>
                <a:cs typeface="Lexend Deca" pitchFamily="34" charset="-120"/>
              </a:rPr>
              <a:t>Developer Experience</a:t>
            </a:r>
            <a:endParaRPr lang="en-US" sz="3000" dirty="0"/>
          </a:p>
        </p:txBody>
      </p:sp>
      <p:sp>
        <p:nvSpPr>
          <p:cNvPr id="4" name="Shape 2"/>
          <p:cNvSpPr/>
          <p:nvPr/>
        </p:nvSpPr>
        <p:spPr>
          <a:xfrm>
            <a:off x="566928" y="822960"/>
            <a:ext cx="1280160" cy="54864"/>
          </a:xfrm>
          <a:prstGeom prst="rect">
            <a:avLst/>
          </a:prstGeom>
          <a:solidFill>
            <a:srgbClr val="00ED64"/>
          </a:solidFill>
          <a:ln w="12700">
            <a:solidFill>
              <a:srgbClr val="00ED64"/>
            </a:solidFill>
            <a:prstDash val="solid"/>
          </a:ln>
        </p:spPr>
      </p:sp>
      <p:sp>
        <p:nvSpPr>
          <p:cNvPr id="5" name="Shape 3"/>
          <p:cNvSpPr/>
          <p:nvPr/>
        </p:nvSpPr>
        <p:spPr>
          <a:xfrm>
            <a:off x="566928" y="960120"/>
            <a:ext cx="5623560" cy="1691640"/>
          </a:xfrm>
          <a:prstGeom prst="rect">
            <a:avLst/>
          </a:prstGeom>
          <a:solidFill>
            <a:srgbClr val="023430"/>
          </a:solidFill>
          <a:ln w="19050">
            <a:solidFill>
              <a:srgbClr val="00ED64"/>
            </a:solidFill>
            <a:prstDash val="solid"/>
          </a:ln>
          <a:effectLst>
            <a:outerShdw sx="100000" sy="100000" kx="0" ky="0" algn="bl" rotWithShape="0" blurRad="127000" dist="38100" dir="8100000">
              <a:srgbClr val="000000">
                <a:alpha val="28000"/>
              </a:srgbClr>
            </a:outerShdw>
          </a:effectLst>
        </p:spPr>
      </p:sp>
      <p:sp>
        <p:nvSpPr>
          <p:cNvPr id="6" name="Shape 4"/>
          <p:cNvSpPr/>
          <p:nvPr/>
        </p:nvSpPr>
        <p:spPr>
          <a:xfrm>
            <a:off x="566928" y="960120"/>
            <a:ext cx="5623560" cy="128016"/>
          </a:xfrm>
          <a:prstGeom prst="rect">
            <a:avLst/>
          </a:prstGeom>
          <a:solidFill>
            <a:srgbClr val="00ED64"/>
          </a:solidFill>
          <a:ln w="12700">
            <a:solidFill>
              <a:srgbClr val="00ED64"/>
            </a:solidFill>
            <a:prstDash val="solid"/>
          </a:ln>
        </p:spPr>
      </p:sp>
      <p:sp>
        <p:nvSpPr>
          <p:cNvPr id="7" name="Text 5"/>
          <p:cNvSpPr/>
          <p:nvPr/>
        </p:nvSpPr>
        <p:spPr>
          <a:xfrm>
            <a:off x="749808" y="1161288"/>
            <a:ext cx="5303520" cy="530352"/>
          </a:xfrm>
          <a:prstGeom prst="rect">
            <a:avLst/>
          </a:prstGeom>
          <a:noFill/>
          <a:ln/>
        </p:spPr>
        <p:txBody>
          <a:bodyPr wrap="square" lIns="0" tIns="0" rIns="0" bIns="0" rtlCol="0" anchor="ctr"/>
          <a:lstStyle/>
          <a:p>
            <a:pPr indent="0" marL="0">
              <a:buNone/>
            </a:pPr>
            <a:r>
              <a:rPr lang="en-US" sz="2000" b="1" dirty="0">
                <a:solidFill>
                  <a:srgbClr val="FFFFFF"/>
                </a:solidFill>
                <a:latin typeface="Lexend Deca" pitchFamily="34" charset="0"/>
                <a:ea typeface="Lexend Deca" pitchFamily="34" charset="-122"/>
                <a:cs typeface="Lexend Deca" pitchFamily="34" charset="-120"/>
              </a:rPr>
              <a:t>Compass GUI</a:t>
            </a:r>
            <a:endParaRPr lang="en-US" sz="2000" dirty="0"/>
          </a:p>
        </p:txBody>
      </p:sp>
      <p:sp>
        <p:nvSpPr>
          <p:cNvPr id="8" name="Text 6"/>
          <p:cNvSpPr/>
          <p:nvPr/>
        </p:nvSpPr>
        <p:spPr>
          <a:xfrm>
            <a:off x="749808" y="1737360"/>
            <a:ext cx="5303520" cy="804672"/>
          </a:xfrm>
          <a:prstGeom prst="rect">
            <a:avLst/>
          </a:prstGeom>
          <a:noFill/>
          <a:ln/>
        </p:spPr>
        <p:txBody>
          <a:bodyPr wrap="square" lIns="0" tIns="0" rIns="0" bIns="0" rtlCol="0" anchor="ctr"/>
          <a:lstStyle/>
          <a:p>
            <a:pPr indent="0" marL="0">
              <a:buNone/>
            </a:pPr>
            <a:r>
              <a:rPr lang="en-US" sz="1400" dirty="0">
                <a:solidFill>
                  <a:srgbClr val="B8C4C2"/>
                </a:solidFill>
                <a:latin typeface="Lexend Deca" pitchFamily="34" charset="0"/>
                <a:ea typeface="Lexend Deca" pitchFamily="34" charset="-122"/>
                <a:cs typeface="Lexend Deca" pitchFamily="34" charset="-120"/>
              </a:rPr>
              <a:t>Visual query builder, aggregation pipeline preview, explain plan tree — your SSMS/pgAdmin equivalent</a:t>
            </a:r>
            <a:endParaRPr lang="en-US" sz="1400" dirty="0"/>
          </a:p>
        </p:txBody>
      </p:sp>
      <p:sp>
        <p:nvSpPr>
          <p:cNvPr id="9" name="Shape 7"/>
          <p:cNvSpPr/>
          <p:nvPr/>
        </p:nvSpPr>
        <p:spPr>
          <a:xfrm>
            <a:off x="6419088" y="960120"/>
            <a:ext cx="5623560" cy="1691640"/>
          </a:xfrm>
          <a:prstGeom prst="rect">
            <a:avLst/>
          </a:prstGeom>
          <a:solidFill>
            <a:srgbClr val="023430"/>
          </a:solidFill>
          <a:ln w="19050">
            <a:solidFill>
              <a:srgbClr val="00ED64"/>
            </a:solidFill>
            <a:prstDash val="solid"/>
          </a:ln>
          <a:effectLst>
            <a:outerShdw sx="100000" sy="100000" kx="0" ky="0" algn="bl" rotWithShape="0" blurRad="127000" dist="38100" dir="8100000">
              <a:srgbClr val="000000">
                <a:alpha val="28000"/>
              </a:srgbClr>
            </a:outerShdw>
          </a:effectLst>
        </p:spPr>
      </p:sp>
      <p:sp>
        <p:nvSpPr>
          <p:cNvPr id="10" name="Shape 8"/>
          <p:cNvSpPr/>
          <p:nvPr/>
        </p:nvSpPr>
        <p:spPr>
          <a:xfrm>
            <a:off x="6419088" y="960120"/>
            <a:ext cx="5623560" cy="128016"/>
          </a:xfrm>
          <a:prstGeom prst="rect">
            <a:avLst/>
          </a:prstGeom>
          <a:solidFill>
            <a:srgbClr val="00ED64"/>
          </a:solidFill>
          <a:ln w="12700">
            <a:solidFill>
              <a:srgbClr val="00ED64"/>
            </a:solidFill>
            <a:prstDash val="solid"/>
          </a:ln>
        </p:spPr>
      </p:sp>
      <p:sp>
        <p:nvSpPr>
          <p:cNvPr id="11" name="Text 9"/>
          <p:cNvSpPr/>
          <p:nvPr/>
        </p:nvSpPr>
        <p:spPr>
          <a:xfrm>
            <a:off x="6601968" y="1161288"/>
            <a:ext cx="5303520" cy="530352"/>
          </a:xfrm>
          <a:prstGeom prst="rect">
            <a:avLst/>
          </a:prstGeom>
          <a:noFill/>
          <a:ln/>
        </p:spPr>
        <p:txBody>
          <a:bodyPr wrap="square" lIns="0" tIns="0" rIns="0" bIns="0" rtlCol="0" anchor="ctr"/>
          <a:lstStyle/>
          <a:p>
            <a:pPr indent="0" marL="0">
              <a:buNone/>
            </a:pPr>
            <a:r>
              <a:rPr lang="en-US" sz="2000" b="1" dirty="0">
                <a:solidFill>
                  <a:srgbClr val="FFFFFF"/>
                </a:solidFill>
                <a:latin typeface="Lexend Deca" pitchFamily="34" charset="0"/>
                <a:ea typeface="Lexend Deca" pitchFamily="34" charset="-122"/>
                <a:cs typeface="Lexend Deca" pitchFamily="34" charset="-120"/>
              </a:rPr>
              <a:t>Atlas Cloud</a:t>
            </a:r>
            <a:endParaRPr lang="en-US" sz="2000" dirty="0"/>
          </a:p>
        </p:txBody>
      </p:sp>
      <p:sp>
        <p:nvSpPr>
          <p:cNvPr id="12" name="Text 10"/>
          <p:cNvSpPr/>
          <p:nvPr/>
        </p:nvSpPr>
        <p:spPr>
          <a:xfrm>
            <a:off x="6601968" y="1737360"/>
            <a:ext cx="5303520" cy="804672"/>
          </a:xfrm>
          <a:prstGeom prst="rect">
            <a:avLst/>
          </a:prstGeom>
          <a:noFill/>
          <a:ln/>
        </p:spPr>
        <p:txBody>
          <a:bodyPr wrap="square" lIns="0" tIns="0" rIns="0" bIns="0" rtlCol="0" anchor="ctr"/>
          <a:lstStyle/>
          <a:p>
            <a:pPr indent="0" marL="0">
              <a:buNone/>
            </a:pPr>
            <a:r>
              <a:rPr lang="en-US" sz="1400" dirty="0">
                <a:solidFill>
                  <a:srgbClr val="B8C4C2"/>
                </a:solidFill>
                <a:latin typeface="Lexend Deca" pitchFamily="34" charset="0"/>
                <a:ea typeface="Lexend Deca" pitchFamily="34" charset="-122"/>
                <a:cs typeface="Lexend Deca" pitchFamily="34" charset="-120"/>
              </a:rPr>
              <a:t>Managed MongoDB: 2-min setup, Performance Advisor, auto-index suggestions, free 512MB tier</a:t>
            </a:r>
            <a:endParaRPr lang="en-US" sz="1400" dirty="0"/>
          </a:p>
        </p:txBody>
      </p:sp>
      <p:sp>
        <p:nvSpPr>
          <p:cNvPr id="13" name="Shape 11"/>
          <p:cNvSpPr/>
          <p:nvPr/>
        </p:nvSpPr>
        <p:spPr>
          <a:xfrm>
            <a:off x="566928" y="2807208"/>
            <a:ext cx="5623560" cy="1691640"/>
          </a:xfrm>
          <a:prstGeom prst="rect">
            <a:avLst/>
          </a:prstGeom>
          <a:solidFill>
            <a:srgbClr val="023430"/>
          </a:solidFill>
          <a:ln w="19050">
            <a:solidFill>
              <a:srgbClr val="00ED64"/>
            </a:solidFill>
            <a:prstDash val="solid"/>
          </a:ln>
          <a:effectLst>
            <a:outerShdw sx="100000" sy="100000" kx="0" ky="0" algn="bl" rotWithShape="0" blurRad="127000" dist="38100" dir="8100000">
              <a:srgbClr val="000000">
                <a:alpha val="28000"/>
              </a:srgbClr>
            </a:outerShdw>
          </a:effectLst>
        </p:spPr>
      </p:sp>
      <p:sp>
        <p:nvSpPr>
          <p:cNvPr id="14" name="Shape 12"/>
          <p:cNvSpPr/>
          <p:nvPr/>
        </p:nvSpPr>
        <p:spPr>
          <a:xfrm>
            <a:off x="566928" y="2807208"/>
            <a:ext cx="5623560" cy="128016"/>
          </a:xfrm>
          <a:prstGeom prst="rect">
            <a:avLst/>
          </a:prstGeom>
          <a:solidFill>
            <a:srgbClr val="00ED64"/>
          </a:solidFill>
          <a:ln w="12700">
            <a:solidFill>
              <a:srgbClr val="00ED64"/>
            </a:solidFill>
            <a:prstDash val="solid"/>
          </a:ln>
        </p:spPr>
      </p:sp>
      <p:sp>
        <p:nvSpPr>
          <p:cNvPr id="15" name="Text 13"/>
          <p:cNvSpPr/>
          <p:nvPr/>
        </p:nvSpPr>
        <p:spPr>
          <a:xfrm>
            <a:off x="749808" y="3008376"/>
            <a:ext cx="5303520" cy="530352"/>
          </a:xfrm>
          <a:prstGeom prst="rect">
            <a:avLst/>
          </a:prstGeom>
          <a:noFill/>
          <a:ln/>
        </p:spPr>
        <p:txBody>
          <a:bodyPr wrap="square" lIns="0" tIns="0" rIns="0" bIns="0" rtlCol="0" anchor="ctr"/>
          <a:lstStyle/>
          <a:p>
            <a:pPr indent="0" marL="0">
              <a:buNone/>
            </a:pPr>
            <a:r>
              <a:rPr lang="en-US" sz="2000" b="1" dirty="0">
                <a:solidFill>
                  <a:srgbClr val="FFFFFF"/>
                </a:solidFill>
                <a:latin typeface="Lexend Deca" pitchFamily="34" charset="0"/>
                <a:ea typeface="Lexend Deca" pitchFamily="34" charset="-122"/>
                <a:cs typeface="Lexend Deca" pitchFamily="34" charset="-120"/>
              </a:rPr>
              <a:t>Change Streams</a:t>
            </a:r>
            <a:endParaRPr lang="en-US" sz="2000" dirty="0"/>
          </a:p>
        </p:txBody>
      </p:sp>
      <p:sp>
        <p:nvSpPr>
          <p:cNvPr id="16" name="Text 14"/>
          <p:cNvSpPr/>
          <p:nvPr/>
        </p:nvSpPr>
        <p:spPr>
          <a:xfrm>
            <a:off x="749808" y="3584448"/>
            <a:ext cx="5303520" cy="804672"/>
          </a:xfrm>
          <a:prstGeom prst="rect">
            <a:avLst/>
          </a:prstGeom>
          <a:noFill/>
          <a:ln/>
        </p:spPr>
        <p:txBody>
          <a:bodyPr wrap="square" lIns="0" tIns="0" rIns="0" bIns="0" rtlCol="0" anchor="ctr"/>
          <a:lstStyle/>
          <a:p>
            <a:pPr indent="0" marL="0">
              <a:buNone/>
            </a:pPr>
            <a:r>
              <a:rPr lang="en-US" sz="1400" dirty="0">
                <a:solidFill>
                  <a:srgbClr val="B8C4C2"/>
                </a:solidFill>
                <a:latin typeface="Lexend Deca" pitchFamily="34" charset="0"/>
                <a:ea typeface="Lexend Deca" pitchFamily="34" charset="-122"/>
                <a:cs typeface="Lexend Deca" pitchFamily="34" charset="-120"/>
              </a:rPr>
              <a:t>Real-time data change reactions — no polling, no cron. Replaces CDC pipelines for many use cases</a:t>
            </a:r>
            <a:endParaRPr lang="en-US" sz="1400" dirty="0"/>
          </a:p>
        </p:txBody>
      </p:sp>
      <p:sp>
        <p:nvSpPr>
          <p:cNvPr id="17" name="Shape 15"/>
          <p:cNvSpPr/>
          <p:nvPr/>
        </p:nvSpPr>
        <p:spPr>
          <a:xfrm>
            <a:off x="6419088" y="2807208"/>
            <a:ext cx="5623560" cy="1691640"/>
          </a:xfrm>
          <a:prstGeom prst="rect">
            <a:avLst/>
          </a:prstGeom>
          <a:solidFill>
            <a:srgbClr val="023430"/>
          </a:solidFill>
          <a:ln w="19050">
            <a:solidFill>
              <a:srgbClr val="00ED64"/>
            </a:solidFill>
            <a:prstDash val="solid"/>
          </a:ln>
          <a:effectLst>
            <a:outerShdw sx="100000" sy="100000" kx="0" ky="0" algn="bl" rotWithShape="0" blurRad="127000" dist="38100" dir="8100000">
              <a:srgbClr val="000000">
                <a:alpha val="28000"/>
              </a:srgbClr>
            </a:outerShdw>
          </a:effectLst>
        </p:spPr>
      </p:sp>
      <p:sp>
        <p:nvSpPr>
          <p:cNvPr id="18" name="Shape 16"/>
          <p:cNvSpPr/>
          <p:nvPr/>
        </p:nvSpPr>
        <p:spPr>
          <a:xfrm>
            <a:off x="6419088" y="2807208"/>
            <a:ext cx="5623560" cy="128016"/>
          </a:xfrm>
          <a:prstGeom prst="rect">
            <a:avLst/>
          </a:prstGeom>
          <a:solidFill>
            <a:srgbClr val="00ED64"/>
          </a:solidFill>
          <a:ln w="12700">
            <a:solidFill>
              <a:srgbClr val="00ED64"/>
            </a:solidFill>
            <a:prstDash val="solid"/>
          </a:ln>
        </p:spPr>
      </p:sp>
      <p:sp>
        <p:nvSpPr>
          <p:cNvPr id="19" name="Text 17"/>
          <p:cNvSpPr/>
          <p:nvPr/>
        </p:nvSpPr>
        <p:spPr>
          <a:xfrm>
            <a:off x="6601968" y="3008376"/>
            <a:ext cx="5303520" cy="530352"/>
          </a:xfrm>
          <a:prstGeom prst="rect">
            <a:avLst/>
          </a:prstGeom>
          <a:noFill/>
          <a:ln/>
        </p:spPr>
        <p:txBody>
          <a:bodyPr wrap="square" lIns="0" tIns="0" rIns="0" bIns="0" rtlCol="0" anchor="ctr"/>
          <a:lstStyle/>
          <a:p>
            <a:pPr indent="0" marL="0">
              <a:buNone/>
            </a:pPr>
            <a:r>
              <a:rPr lang="en-US" sz="2000" b="1" dirty="0">
                <a:solidFill>
                  <a:srgbClr val="FFFFFF"/>
                </a:solidFill>
                <a:latin typeface="Lexend Deca" pitchFamily="34" charset="0"/>
                <a:ea typeface="Lexend Deca" pitchFamily="34" charset="-122"/>
                <a:cs typeface="Lexend Deca" pitchFamily="34" charset="-120"/>
              </a:rPr>
              <a:t>Node.js Driver</a:t>
            </a:r>
            <a:endParaRPr lang="en-US" sz="2000" dirty="0"/>
          </a:p>
        </p:txBody>
      </p:sp>
      <p:sp>
        <p:nvSpPr>
          <p:cNvPr id="20" name="Text 18"/>
          <p:cNvSpPr/>
          <p:nvPr/>
        </p:nvSpPr>
        <p:spPr>
          <a:xfrm>
            <a:off x="6601968" y="3584448"/>
            <a:ext cx="5303520" cy="804672"/>
          </a:xfrm>
          <a:prstGeom prst="rect">
            <a:avLst/>
          </a:prstGeom>
          <a:noFill/>
          <a:ln/>
        </p:spPr>
        <p:txBody>
          <a:bodyPr wrap="square" lIns="0" tIns="0" rIns="0" bIns="0" rtlCol="0" anchor="ctr"/>
          <a:lstStyle/>
          <a:p>
            <a:pPr indent="0" marL="0">
              <a:buNone/>
            </a:pPr>
            <a:r>
              <a:rPr lang="en-US" sz="1400" dirty="0">
                <a:solidFill>
                  <a:srgbClr val="B8C4C2"/>
                </a:solidFill>
                <a:latin typeface="Lexend Deca" pitchFamily="34" charset="0"/>
                <a:ea typeface="Lexend Deca" pitchFamily="34" charset="-122"/>
                <a:cs typeface="Lexend Deca" pitchFamily="34" charset="-120"/>
              </a:rPr>
              <a:t>Official drivers for Node, Python, Java, Go, .NET. Results are plain objects — no ORM required</a:t>
            </a:r>
            <a:endParaRPr lang="en-US" sz="1400" dirty="0"/>
          </a:p>
        </p:txBody>
      </p:sp>
      <p:sp>
        <p:nvSpPr>
          <p:cNvPr id="21" name="Shape 19"/>
          <p:cNvSpPr/>
          <p:nvPr/>
        </p:nvSpPr>
        <p:spPr>
          <a:xfrm>
            <a:off x="566928" y="4681728"/>
            <a:ext cx="11055096" cy="1508760"/>
          </a:xfrm>
          <a:prstGeom prst="rect">
            <a:avLst/>
          </a:prstGeom>
          <a:solidFill>
            <a:srgbClr val="011520"/>
          </a:solidFill>
          <a:ln w="15240">
            <a:solidFill>
              <a:srgbClr val="00ED64"/>
            </a:solidFill>
            <a:prstDash val="solid"/>
          </a:ln>
          <a:effectLst>
            <a:outerShdw sx="100000" sy="100000" kx="0" ky="0" algn="bl" rotWithShape="0" blurRad="127000" dist="38100" dir="8100000">
              <a:srgbClr val="000000">
                <a:alpha val="28000"/>
              </a:srgbClr>
            </a:outerShdw>
          </a:effectLst>
        </p:spPr>
      </p:sp>
      <p:sp>
        <p:nvSpPr>
          <p:cNvPr id="22" name="Text 20"/>
          <p:cNvSpPr/>
          <p:nvPr/>
        </p:nvSpPr>
        <p:spPr>
          <a:xfrm>
            <a:off x="704088" y="4800600"/>
            <a:ext cx="10780776" cy="1271016"/>
          </a:xfrm>
          <a:prstGeom prst="rect">
            <a:avLst/>
          </a:prstGeom>
          <a:noFill/>
          <a:ln/>
        </p:spPr>
        <p:txBody>
          <a:bodyPr wrap="square" lIns="0" tIns="0" rIns="0" bIns="0" rtlCol="0" anchor="t"/>
          <a:lstStyle/>
          <a:p>
            <a:pPr indent="0" marL="0">
              <a:buNone/>
            </a:pPr>
            <a:r>
              <a:rPr lang="en-US" sz="1100" dirty="0">
                <a:solidFill>
                  <a:srgbClr val="00ED64"/>
                </a:solidFill>
                <a:latin typeface="Source Code Pro" pitchFamily="34" charset="0"/>
                <a:ea typeface="Source Code Pro" pitchFamily="34" charset="-122"/>
                <a:cs typeface="Source Code Pro" pitchFamily="34" charset="-120"/>
              </a:rPr>
              <a:t>// Node.js — async/await, results are plain JS objects</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const users = await db.collection("users")</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.find({ age: { $gt: 30 }, active: true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.sort({ name: 1 }).limit(20)</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.project({ name:1, email:1, _id:0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.toArray();</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01E2B"/>
        </a:solidFill>
      </p:bgPr>
    </p:bg>
    <p:spTree>
      <p:nvGrpSpPr>
        <p:cNvPr id="1" name=""/>
        <p:cNvGrpSpPr/>
        <p:nvPr/>
      </p:nvGrpSpPr>
      <p:grpSpPr>
        <a:xfrm>
          <a:off x="0" y="0"/>
          <a:ext cx="0" cy="0"/>
          <a:chOff x="0" y="0"/>
          <a:chExt cx="0" cy="0"/>
        </a:xfrm>
      </p:grpSpPr>
      <p:sp>
        <p:nvSpPr>
          <p:cNvPr id="2" name="Shape 0"/>
          <p:cNvSpPr/>
          <p:nvPr/>
        </p:nvSpPr>
        <p:spPr>
          <a:xfrm>
            <a:off x="0" y="6656832"/>
            <a:ext cx="12188952" cy="201168"/>
          </a:xfrm>
          <a:prstGeom prst="rect">
            <a:avLst/>
          </a:prstGeom>
          <a:solidFill>
            <a:srgbClr val="00ED64"/>
          </a:solidFill>
          <a:ln w="12700">
            <a:solidFill>
              <a:srgbClr val="00ED64"/>
            </a:solidFill>
            <a:prstDash val="solid"/>
          </a:ln>
        </p:spPr>
      </p:sp>
      <p:sp>
        <p:nvSpPr>
          <p:cNvPr id="3" name="Text 1"/>
          <p:cNvSpPr/>
          <p:nvPr/>
        </p:nvSpPr>
        <p:spPr>
          <a:xfrm>
            <a:off x="566928" y="201168"/>
            <a:ext cx="11055096" cy="594360"/>
          </a:xfrm>
          <a:prstGeom prst="rect">
            <a:avLst/>
          </a:prstGeom>
          <a:noFill/>
          <a:ln/>
        </p:spPr>
        <p:txBody>
          <a:bodyPr wrap="square" lIns="0" tIns="0" rIns="0" bIns="0" rtlCol="0" anchor="ctr"/>
          <a:lstStyle/>
          <a:p>
            <a:pPr indent="0" marL="0">
              <a:buNone/>
            </a:pPr>
            <a:r>
              <a:rPr lang="en-US" sz="3000" b="1" dirty="0">
                <a:solidFill>
                  <a:srgbClr val="FFFFFF"/>
                </a:solidFill>
                <a:latin typeface="Lexend Deca" pitchFamily="34" charset="0"/>
                <a:ea typeface="Lexend Deca" pitchFamily="34" charset="-122"/>
                <a:cs typeface="Lexend Deca" pitchFamily="34" charset="-120"/>
              </a:rPr>
              <a:t>Migration Path — Relational → MongoDB</a:t>
            </a:r>
            <a:endParaRPr lang="en-US" sz="3000" dirty="0"/>
          </a:p>
        </p:txBody>
      </p:sp>
      <p:sp>
        <p:nvSpPr>
          <p:cNvPr id="4" name="Shape 2"/>
          <p:cNvSpPr/>
          <p:nvPr/>
        </p:nvSpPr>
        <p:spPr>
          <a:xfrm>
            <a:off x="566928" y="822960"/>
            <a:ext cx="1280160" cy="54864"/>
          </a:xfrm>
          <a:prstGeom prst="rect">
            <a:avLst/>
          </a:prstGeom>
          <a:solidFill>
            <a:srgbClr val="00ED64"/>
          </a:solidFill>
          <a:ln w="12700">
            <a:solidFill>
              <a:srgbClr val="00ED64"/>
            </a:solidFill>
            <a:prstDash val="solid"/>
          </a:ln>
        </p:spPr>
      </p:sp>
      <p:sp>
        <p:nvSpPr>
          <p:cNvPr id="5" name="Shape 3"/>
          <p:cNvSpPr/>
          <p:nvPr/>
        </p:nvSpPr>
        <p:spPr>
          <a:xfrm>
            <a:off x="566928" y="960120"/>
            <a:ext cx="2084832" cy="749808"/>
          </a:xfrm>
          <a:prstGeom prst="rect">
            <a:avLst/>
          </a:prstGeom>
          <a:solidFill>
            <a:srgbClr val="00ED64"/>
          </a:solidFill>
          <a:ln w="12700">
            <a:solidFill>
              <a:srgbClr val="00ED64"/>
            </a:solidFill>
            <a:prstDash val="solid"/>
          </a:ln>
        </p:spPr>
      </p:sp>
      <p:sp>
        <p:nvSpPr>
          <p:cNvPr id="6" name="Text 4"/>
          <p:cNvSpPr/>
          <p:nvPr/>
        </p:nvSpPr>
        <p:spPr>
          <a:xfrm>
            <a:off x="566928" y="960120"/>
            <a:ext cx="530352" cy="749808"/>
          </a:xfrm>
          <a:prstGeom prst="rect">
            <a:avLst/>
          </a:prstGeom>
          <a:noFill/>
          <a:ln/>
        </p:spPr>
        <p:txBody>
          <a:bodyPr wrap="square" lIns="0" tIns="0" rIns="0" bIns="0" rtlCol="0" anchor="ctr"/>
          <a:lstStyle/>
          <a:p>
            <a:pPr algn="ctr" indent="0" marL="0">
              <a:buNone/>
            </a:pPr>
            <a:r>
              <a:rPr lang="en-US" sz="2800" b="1" dirty="0">
                <a:solidFill>
                  <a:srgbClr val="001E2B"/>
                </a:solidFill>
                <a:latin typeface="Lexend Deca" pitchFamily="34" charset="0"/>
                <a:ea typeface="Lexend Deca" pitchFamily="34" charset="-122"/>
                <a:cs typeface="Lexend Deca" pitchFamily="34" charset="-120"/>
              </a:rPr>
              <a:t>1</a:t>
            </a:r>
            <a:endParaRPr lang="en-US" sz="2800" dirty="0"/>
          </a:p>
        </p:txBody>
      </p:sp>
      <p:sp>
        <p:nvSpPr>
          <p:cNvPr id="7" name="Text 5"/>
          <p:cNvSpPr/>
          <p:nvPr/>
        </p:nvSpPr>
        <p:spPr>
          <a:xfrm>
            <a:off x="1097280" y="960120"/>
            <a:ext cx="1554480" cy="749808"/>
          </a:xfrm>
          <a:prstGeom prst="rect">
            <a:avLst/>
          </a:prstGeom>
          <a:noFill/>
          <a:ln/>
        </p:spPr>
        <p:txBody>
          <a:bodyPr wrap="square" lIns="0" tIns="0" rIns="0" bIns="0" rtlCol="0" anchor="ctr"/>
          <a:lstStyle/>
          <a:p>
            <a:pPr indent="0" marL="0">
              <a:buNone/>
            </a:pPr>
            <a:r>
              <a:rPr lang="en-US" sz="1800" b="1" dirty="0">
                <a:solidFill>
                  <a:srgbClr val="001E2B"/>
                </a:solidFill>
                <a:latin typeface="Lexend Deca" pitchFamily="34" charset="0"/>
                <a:ea typeface="Lexend Deca" pitchFamily="34" charset="-122"/>
                <a:cs typeface="Lexend Deca" pitchFamily="34" charset="-120"/>
              </a:rPr>
              <a:t>Analyze</a:t>
            </a:r>
            <a:endParaRPr lang="en-US" sz="1800" dirty="0"/>
          </a:p>
        </p:txBody>
      </p:sp>
      <p:sp>
        <p:nvSpPr>
          <p:cNvPr id="8" name="Shape 6"/>
          <p:cNvSpPr/>
          <p:nvPr/>
        </p:nvSpPr>
        <p:spPr>
          <a:xfrm>
            <a:off x="566928" y="1728216"/>
            <a:ext cx="2084832" cy="4206240"/>
          </a:xfrm>
          <a:prstGeom prst="rect">
            <a:avLst/>
          </a:prstGeom>
          <a:solidFill>
            <a:srgbClr val="023430"/>
          </a:solidFill>
          <a:ln w="12700">
            <a:solidFill>
              <a:srgbClr val="023A50"/>
            </a:solidFill>
            <a:prstDash val="solid"/>
          </a:ln>
        </p:spPr>
      </p:sp>
      <p:sp>
        <p:nvSpPr>
          <p:cNvPr id="9" name="Text 7"/>
          <p:cNvSpPr/>
          <p:nvPr/>
        </p:nvSpPr>
        <p:spPr>
          <a:xfrm>
            <a:off x="704088" y="1847088"/>
            <a:ext cx="1810512" cy="3931920"/>
          </a:xfrm>
          <a:prstGeom prst="rect">
            <a:avLst/>
          </a:prstGeom>
          <a:noFill/>
          <a:ln/>
        </p:spPr>
        <p:txBody>
          <a:bodyPr wrap="square" lIns="0" tIns="0" rIns="0" bIns="0" rtlCol="0" anchor="t"/>
          <a:lstStyle/>
          <a:p>
            <a:pPr indent="0" marL="0">
              <a:buNone/>
            </a:pPr>
            <a:r>
              <a:rPr lang="en-US" sz="1400" dirty="0">
                <a:solidFill>
                  <a:srgbClr val="FFFFFF"/>
                </a:solidFill>
                <a:latin typeface="Lexend Deca" pitchFamily="34" charset="0"/>
                <a:ea typeface="Lexend Deca" pitchFamily="34" charset="-122"/>
                <a:cs typeface="Lexend Deca" pitchFamily="34" charset="-120"/>
              </a:rPr>
              <a:t>Map access patterns. What does the app actually query? Design for reads, not normalization.</a:t>
            </a:r>
            <a:endParaRPr lang="en-US" sz="1400" dirty="0"/>
          </a:p>
        </p:txBody>
      </p:sp>
      <p:sp>
        <p:nvSpPr>
          <p:cNvPr id="10" name="Text 8"/>
          <p:cNvSpPr/>
          <p:nvPr/>
        </p:nvSpPr>
        <p:spPr>
          <a:xfrm>
            <a:off x="2651760" y="1115568"/>
            <a:ext cx="128016" cy="438912"/>
          </a:xfrm>
          <a:prstGeom prst="rect">
            <a:avLst/>
          </a:prstGeom>
          <a:noFill/>
          <a:ln/>
        </p:spPr>
        <p:txBody>
          <a:bodyPr wrap="square" lIns="0" tIns="0" rIns="0" bIns="0" rtlCol="0" anchor="ctr"/>
          <a:lstStyle/>
          <a:p>
            <a:pPr algn="ctr" indent="0" marL="0">
              <a:buNone/>
            </a:pPr>
            <a:r>
              <a:rPr lang="en-US" sz="1800" dirty="0">
                <a:solidFill>
                  <a:srgbClr val="00ED64"/>
                </a:solidFill>
              </a:rPr>
              <a:t>→</a:t>
            </a:r>
            <a:endParaRPr lang="en-US" sz="1800" dirty="0"/>
          </a:p>
        </p:txBody>
      </p:sp>
      <p:sp>
        <p:nvSpPr>
          <p:cNvPr id="11" name="Shape 9"/>
          <p:cNvSpPr/>
          <p:nvPr/>
        </p:nvSpPr>
        <p:spPr>
          <a:xfrm>
            <a:off x="2779776" y="960120"/>
            <a:ext cx="2084832" cy="749808"/>
          </a:xfrm>
          <a:prstGeom prst="rect">
            <a:avLst/>
          </a:prstGeom>
          <a:solidFill>
            <a:srgbClr val="00ED64"/>
          </a:solidFill>
          <a:ln w="12700">
            <a:solidFill>
              <a:srgbClr val="00ED64"/>
            </a:solidFill>
            <a:prstDash val="solid"/>
          </a:ln>
        </p:spPr>
      </p:sp>
      <p:sp>
        <p:nvSpPr>
          <p:cNvPr id="12" name="Text 10"/>
          <p:cNvSpPr/>
          <p:nvPr/>
        </p:nvSpPr>
        <p:spPr>
          <a:xfrm>
            <a:off x="2779776" y="960120"/>
            <a:ext cx="530352" cy="749808"/>
          </a:xfrm>
          <a:prstGeom prst="rect">
            <a:avLst/>
          </a:prstGeom>
          <a:noFill/>
          <a:ln/>
        </p:spPr>
        <p:txBody>
          <a:bodyPr wrap="square" lIns="0" tIns="0" rIns="0" bIns="0" rtlCol="0" anchor="ctr"/>
          <a:lstStyle/>
          <a:p>
            <a:pPr algn="ctr" indent="0" marL="0">
              <a:buNone/>
            </a:pPr>
            <a:r>
              <a:rPr lang="en-US" sz="2800" b="1" dirty="0">
                <a:solidFill>
                  <a:srgbClr val="001E2B"/>
                </a:solidFill>
                <a:latin typeface="Lexend Deca" pitchFamily="34" charset="0"/>
                <a:ea typeface="Lexend Deca" pitchFamily="34" charset="-122"/>
                <a:cs typeface="Lexend Deca" pitchFamily="34" charset="-120"/>
              </a:rPr>
              <a:t>2</a:t>
            </a:r>
            <a:endParaRPr lang="en-US" sz="2800" dirty="0"/>
          </a:p>
        </p:txBody>
      </p:sp>
      <p:sp>
        <p:nvSpPr>
          <p:cNvPr id="13" name="Text 11"/>
          <p:cNvSpPr/>
          <p:nvPr/>
        </p:nvSpPr>
        <p:spPr>
          <a:xfrm>
            <a:off x="3310128" y="960120"/>
            <a:ext cx="1554480" cy="749808"/>
          </a:xfrm>
          <a:prstGeom prst="rect">
            <a:avLst/>
          </a:prstGeom>
          <a:noFill/>
          <a:ln/>
        </p:spPr>
        <p:txBody>
          <a:bodyPr wrap="square" lIns="0" tIns="0" rIns="0" bIns="0" rtlCol="0" anchor="ctr"/>
          <a:lstStyle/>
          <a:p>
            <a:pPr indent="0" marL="0">
              <a:buNone/>
            </a:pPr>
            <a:r>
              <a:rPr lang="en-US" sz="1800" b="1" dirty="0">
                <a:solidFill>
                  <a:srgbClr val="001E2B"/>
                </a:solidFill>
                <a:latin typeface="Lexend Deca" pitchFamily="34" charset="0"/>
                <a:ea typeface="Lexend Deca" pitchFamily="34" charset="-122"/>
                <a:cs typeface="Lexend Deca" pitchFamily="34" charset="-120"/>
              </a:rPr>
              <a:t>Redesign</a:t>
            </a:r>
            <a:endParaRPr lang="en-US" sz="1800" dirty="0"/>
          </a:p>
        </p:txBody>
      </p:sp>
      <p:sp>
        <p:nvSpPr>
          <p:cNvPr id="14" name="Shape 12"/>
          <p:cNvSpPr/>
          <p:nvPr/>
        </p:nvSpPr>
        <p:spPr>
          <a:xfrm>
            <a:off x="2779776" y="1728216"/>
            <a:ext cx="2084832" cy="4206240"/>
          </a:xfrm>
          <a:prstGeom prst="rect">
            <a:avLst/>
          </a:prstGeom>
          <a:solidFill>
            <a:srgbClr val="023430"/>
          </a:solidFill>
          <a:ln w="12700">
            <a:solidFill>
              <a:srgbClr val="023A50"/>
            </a:solidFill>
            <a:prstDash val="solid"/>
          </a:ln>
        </p:spPr>
      </p:sp>
      <p:sp>
        <p:nvSpPr>
          <p:cNvPr id="15" name="Text 13"/>
          <p:cNvSpPr/>
          <p:nvPr/>
        </p:nvSpPr>
        <p:spPr>
          <a:xfrm>
            <a:off x="2916936" y="1847088"/>
            <a:ext cx="1810512" cy="3931920"/>
          </a:xfrm>
          <a:prstGeom prst="rect">
            <a:avLst/>
          </a:prstGeom>
          <a:noFill/>
          <a:ln/>
        </p:spPr>
        <p:txBody>
          <a:bodyPr wrap="square" lIns="0" tIns="0" rIns="0" bIns="0" rtlCol="0" anchor="t"/>
          <a:lstStyle/>
          <a:p>
            <a:pPr indent="0" marL="0">
              <a:buNone/>
            </a:pPr>
            <a:r>
              <a:rPr lang="en-US" sz="1400" dirty="0">
                <a:solidFill>
                  <a:srgbClr val="FFFFFF"/>
                </a:solidFill>
                <a:latin typeface="Lexend Deca" pitchFamily="34" charset="0"/>
                <a:ea typeface="Lexend Deca" pitchFamily="34" charset="-122"/>
                <a:cs typeface="Lexend Deca" pitchFamily="34" charset="-120"/>
              </a:rPr>
              <a:t>Embed vs reference per collection. Do NOT map tables 1:1. Redesign for your queries.</a:t>
            </a:r>
            <a:endParaRPr lang="en-US" sz="1400" dirty="0"/>
          </a:p>
        </p:txBody>
      </p:sp>
      <p:sp>
        <p:nvSpPr>
          <p:cNvPr id="16" name="Text 14"/>
          <p:cNvSpPr/>
          <p:nvPr/>
        </p:nvSpPr>
        <p:spPr>
          <a:xfrm>
            <a:off x="4864608" y="1115568"/>
            <a:ext cx="128016" cy="438912"/>
          </a:xfrm>
          <a:prstGeom prst="rect">
            <a:avLst/>
          </a:prstGeom>
          <a:noFill/>
          <a:ln/>
        </p:spPr>
        <p:txBody>
          <a:bodyPr wrap="square" lIns="0" tIns="0" rIns="0" bIns="0" rtlCol="0" anchor="ctr"/>
          <a:lstStyle/>
          <a:p>
            <a:pPr algn="ctr" indent="0" marL="0">
              <a:buNone/>
            </a:pPr>
            <a:r>
              <a:rPr lang="en-US" sz="1800" dirty="0">
                <a:solidFill>
                  <a:srgbClr val="00ED64"/>
                </a:solidFill>
              </a:rPr>
              <a:t>→</a:t>
            </a:r>
            <a:endParaRPr lang="en-US" sz="1800" dirty="0"/>
          </a:p>
        </p:txBody>
      </p:sp>
      <p:sp>
        <p:nvSpPr>
          <p:cNvPr id="17" name="Shape 15"/>
          <p:cNvSpPr/>
          <p:nvPr/>
        </p:nvSpPr>
        <p:spPr>
          <a:xfrm>
            <a:off x="4992624" y="960120"/>
            <a:ext cx="2084832" cy="749808"/>
          </a:xfrm>
          <a:prstGeom prst="rect">
            <a:avLst/>
          </a:prstGeom>
          <a:solidFill>
            <a:srgbClr val="00ED64"/>
          </a:solidFill>
          <a:ln w="12700">
            <a:solidFill>
              <a:srgbClr val="00ED64"/>
            </a:solidFill>
            <a:prstDash val="solid"/>
          </a:ln>
        </p:spPr>
      </p:sp>
      <p:sp>
        <p:nvSpPr>
          <p:cNvPr id="18" name="Text 16"/>
          <p:cNvSpPr/>
          <p:nvPr/>
        </p:nvSpPr>
        <p:spPr>
          <a:xfrm>
            <a:off x="4992624" y="960120"/>
            <a:ext cx="530352" cy="749808"/>
          </a:xfrm>
          <a:prstGeom prst="rect">
            <a:avLst/>
          </a:prstGeom>
          <a:noFill/>
          <a:ln/>
        </p:spPr>
        <p:txBody>
          <a:bodyPr wrap="square" lIns="0" tIns="0" rIns="0" bIns="0" rtlCol="0" anchor="ctr"/>
          <a:lstStyle/>
          <a:p>
            <a:pPr algn="ctr" indent="0" marL="0">
              <a:buNone/>
            </a:pPr>
            <a:r>
              <a:rPr lang="en-US" sz="2800" b="1" dirty="0">
                <a:solidFill>
                  <a:srgbClr val="001E2B"/>
                </a:solidFill>
                <a:latin typeface="Lexend Deca" pitchFamily="34" charset="0"/>
                <a:ea typeface="Lexend Deca" pitchFamily="34" charset="-122"/>
                <a:cs typeface="Lexend Deca" pitchFamily="34" charset="-120"/>
              </a:rPr>
              <a:t>3</a:t>
            </a:r>
            <a:endParaRPr lang="en-US" sz="2800" dirty="0"/>
          </a:p>
        </p:txBody>
      </p:sp>
      <p:sp>
        <p:nvSpPr>
          <p:cNvPr id="19" name="Text 17"/>
          <p:cNvSpPr/>
          <p:nvPr/>
        </p:nvSpPr>
        <p:spPr>
          <a:xfrm>
            <a:off x="5522976" y="960120"/>
            <a:ext cx="1554480" cy="749808"/>
          </a:xfrm>
          <a:prstGeom prst="rect">
            <a:avLst/>
          </a:prstGeom>
          <a:noFill/>
          <a:ln/>
        </p:spPr>
        <p:txBody>
          <a:bodyPr wrap="square" lIns="0" tIns="0" rIns="0" bIns="0" rtlCol="0" anchor="ctr"/>
          <a:lstStyle/>
          <a:p>
            <a:pPr indent="0" marL="0">
              <a:buNone/>
            </a:pPr>
            <a:r>
              <a:rPr lang="en-US" sz="1800" b="1" dirty="0">
                <a:solidFill>
                  <a:srgbClr val="001E2B"/>
                </a:solidFill>
                <a:latin typeface="Lexend Deca" pitchFamily="34" charset="0"/>
                <a:ea typeface="Lexend Deca" pitchFamily="34" charset="-122"/>
                <a:cs typeface="Lexend Deca" pitchFamily="34" charset="-120"/>
              </a:rPr>
              <a:t>Migrate</a:t>
            </a:r>
            <a:endParaRPr lang="en-US" sz="1800" dirty="0"/>
          </a:p>
        </p:txBody>
      </p:sp>
      <p:sp>
        <p:nvSpPr>
          <p:cNvPr id="20" name="Shape 18"/>
          <p:cNvSpPr/>
          <p:nvPr/>
        </p:nvSpPr>
        <p:spPr>
          <a:xfrm>
            <a:off x="4992624" y="1728216"/>
            <a:ext cx="2084832" cy="4206240"/>
          </a:xfrm>
          <a:prstGeom prst="rect">
            <a:avLst/>
          </a:prstGeom>
          <a:solidFill>
            <a:srgbClr val="023430"/>
          </a:solidFill>
          <a:ln w="12700">
            <a:solidFill>
              <a:srgbClr val="023A50"/>
            </a:solidFill>
            <a:prstDash val="solid"/>
          </a:ln>
        </p:spPr>
      </p:sp>
      <p:sp>
        <p:nvSpPr>
          <p:cNvPr id="21" name="Text 19"/>
          <p:cNvSpPr/>
          <p:nvPr/>
        </p:nvSpPr>
        <p:spPr>
          <a:xfrm>
            <a:off x="5129784" y="1847088"/>
            <a:ext cx="1810512" cy="3931920"/>
          </a:xfrm>
          <a:prstGeom prst="rect">
            <a:avLst/>
          </a:prstGeom>
          <a:noFill/>
          <a:ln/>
        </p:spPr>
        <p:txBody>
          <a:bodyPr wrap="square" lIns="0" tIns="0" rIns="0" bIns="0" rtlCol="0" anchor="t"/>
          <a:lstStyle/>
          <a:p>
            <a:pPr indent="0" marL="0">
              <a:buNone/>
            </a:pPr>
            <a:r>
              <a:rPr lang="en-US" sz="1400" dirty="0">
                <a:solidFill>
                  <a:srgbClr val="FFFFFF"/>
                </a:solidFill>
                <a:latin typeface="Lexend Deca" pitchFamily="34" charset="0"/>
                <a:ea typeface="Lexend Deca" pitchFamily="34" charset="-122"/>
                <a:cs typeface="Lexend Deca" pitchFamily="34" charset="-120"/>
              </a:rPr>
              <a:t>ETL: SQL SELECT → insertMany. Or use Atlas Live Migration / AWS DMS.</a:t>
            </a:r>
            <a:endParaRPr lang="en-US" sz="1400" dirty="0"/>
          </a:p>
        </p:txBody>
      </p:sp>
      <p:sp>
        <p:nvSpPr>
          <p:cNvPr id="22" name="Text 20"/>
          <p:cNvSpPr/>
          <p:nvPr/>
        </p:nvSpPr>
        <p:spPr>
          <a:xfrm>
            <a:off x="7077456" y="1115568"/>
            <a:ext cx="128016" cy="438912"/>
          </a:xfrm>
          <a:prstGeom prst="rect">
            <a:avLst/>
          </a:prstGeom>
          <a:noFill/>
          <a:ln/>
        </p:spPr>
        <p:txBody>
          <a:bodyPr wrap="square" lIns="0" tIns="0" rIns="0" bIns="0" rtlCol="0" anchor="ctr"/>
          <a:lstStyle/>
          <a:p>
            <a:pPr algn="ctr" indent="0" marL="0">
              <a:buNone/>
            </a:pPr>
            <a:r>
              <a:rPr lang="en-US" sz="1800" dirty="0">
                <a:solidFill>
                  <a:srgbClr val="00ED64"/>
                </a:solidFill>
              </a:rPr>
              <a:t>→</a:t>
            </a:r>
            <a:endParaRPr lang="en-US" sz="1800" dirty="0"/>
          </a:p>
        </p:txBody>
      </p:sp>
      <p:sp>
        <p:nvSpPr>
          <p:cNvPr id="23" name="Shape 21"/>
          <p:cNvSpPr/>
          <p:nvPr/>
        </p:nvSpPr>
        <p:spPr>
          <a:xfrm>
            <a:off x="7205472" y="960120"/>
            <a:ext cx="2084832" cy="749808"/>
          </a:xfrm>
          <a:prstGeom prst="rect">
            <a:avLst/>
          </a:prstGeom>
          <a:solidFill>
            <a:srgbClr val="00ED64"/>
          </a:solidFill>
          <a:ln w="12700">
            <a:solidFill>
              <a:srgbClr val="00ED64"/>
            </a:solidFill>
            <a:prstDash val="solid"/>
          </a:ln>
        </p:spPr>
      </p:sp>
      <p:sp>
        <p:nvSpPr>
          <p:cNvPr id="24" name="Text 22"/>
          <p:cNvSpPr/>
          <p:nvPr/>
        </p:nvSpPr>
        <p:spPr>
          <a:xfrm>
            <a:off x="7205472" y="960120"/>
            <a:ext cx="530352" cy="749808"/>
          </a:xfrm>
          <a:prstGeom prst="rect">
            <a:avLst/>
          </a:prstGeom>
          <a:noFill/>
          <a:ln/>
        </p:spPr>
        <p:txBody>
          <a:bodyPr wrap="square" lIns="0" tIns="0" rIns="0" bIns="0" rtlCol="0" anchor="ctr"/>
          <a:lstStyle/>
          <a:p>
            <a:pPr algn="ctr" indent="0" marL="0">
              <a:buNone/>
            </a:pPr>
            <a:r>
              <a:rPr lang="en-US" sz="2800" b="1" dirty="0">
                <a:solidFill>
                  <a:srgbClr val="001E2B"/>
                </a:solidFill>
                <a:latin typeface="Lexend Deca" pitchFamily="34" charset="0"/>
                <a:ea typeface="Lexend Deca" pitchFamily="34" charset="-122"/>
                <a:cs typeface="Lexend Deca" pitchFamily="34" charset="-120"/>
              </a:rPr>
              <a:t>4</a:t>
            </a:r>
            <a:endParaRPr lang="en-US" sz="2800" dirty="0"/>
          </a:p>
        </p:txBody>
      </p:sp>
      <p:sp>
        <p:nvSpPr>
          <p:cNvPr id="25" name="Text 23"/>
          <p:cNvSpPr/>
          <p:nvPr/>
        </p:nvSpPr>
        <p:spPr>
          <a:xfrm>
            <a:off x="7735824" y="960120"/>
            <a:ext cx="1554480" cy="749808"/>
          </a:xfrm>
          <a:prstGeom prst="rect">
            <a:avLst/>
          </a:prstGeom>
          <a:noFill/>
          <a:ln/>
        </p:spPr>
        <p:txBody>
          <a:bodyPr wrap="square" lIns="0" tIns="0" rIns="0" bIns="0" rtlCol="0" anchor="ctr"/>
          <a:lstStyle/>
          <a:p>
            <a:pPr indent="0" marL="0">
              <a:buNone/>
            </a:pPr>
            <a:r>
              <a:rPr lang="en-US" sz="1800" b="1" dirty="0">
                <a:solidFill>
                  <a:srgbClr val="001E2B"/>
                </a:solidFill>
                <a:latin typeface="Lexend Deca" pitchFamily="34" charset="0"/>
                <a:ea typeface="Lexend Deca" pitchFamily="34" charset="-122"/>
                <a:cs typeface="Lexend Deca" pitchFamily="34" charset="-120"/>
              </a:rPr>
              <a:t>Dual-Write</a:t>
            </a:r>
            <a:endParaRPr lang="en-US" sz="1800" dirty="0"/>
          </a:p>
        </p:txBody>
      </p:sp>
      <p:sp>
        <p:nvSpPr>
          <p:cNvPr id="26" name="Shape 24"/>
          <p:cNvSpPr/>
          <p:nvPr/>
        </p:nvSpPr>
        <p:spPr>
          <a:xfrm>
            <a:off x="7205472" y="1728216"/>
            <a:ext cx="2084832" cy="4206240"/>
          </a:xfrm>
          <a:prstGeom prst="rect">
            <a:avLst/>
          </a:prstGeom>
          <a:solidFill>
            <a:srgbClr val="023430"/>
          </a:solidFill>
          <a:ln w="12700">
            <a:solidFill>
              <a:srgbClr val="023A50"/>
            </a:solidFill>
            <a:prstDash val="solid"/>
          </a:ln>
        </p:spPr>
      </p:sp>
      <p:sp>
        <p:nvSpPr>
          <p:cNvPr id="27" name="Text 25"/>
          <p:cNvSpPr/>
          <p:nvPr/>
        </p:nvSpPr>
        <p:spPr>
          <a:xfrm>
            <a:off x="7342632" y="1847088"/>
            <a:ext cx="1810512" cy="3931920"/>
          </a:xfrm>
          <a:prstGeom prst="rect">
            <a:avLst/>
          </a:prstGeom>
          <a:noFill/>
          <a:ln/>
        </p:spPr>
        <p:txBody>
          <a:bodyPr wrap="square" lIns="0" tIns="0" rIns="0" bIns="0" rtlCol="0" anchor="t"/>
          <a:lstStyle/>
          <a:p>
            <a:pPr indent="0" marL="0">
              <a:buNone/>
            </a:pPr>
            <a:r>
              <a:rPr lang="en-US" sz="1400" dirty="0">
                <a:solidFill>
                  <a:srgbClr val="FFFFFF"/>
                </a:solidFill>
                <a:latin typeface="Lexend Deca" pitchFamily="34" charset="0"/>
                <a:ea typeface="Lexend Deca" pitchFamily="34" charset="-122"/>
                <a:cs typeface="Lexend Deca" pitchFamily="34" charset="-120"/>
              </a:rPr>
              <a:t>Strangler Fig: write to both DBs, shift reads to MongoDB gradually.</a:t>
            </a:r>
            <a:endParaRPr lang="en-US" sz="1400" dirty="0"/>
          </a:p>
        </p:txBody>
      </p:sp>
      <p:sp>
        <p:nvSpPr>
          <p:cNvPr id="28" name="Text 26"/>
          <p:cNvSpPr/>
          <p:nvPr/>
        </p:nvSpPr>
        <p:spPr>
          <a:xfrm>
            <a:off x="9290304" y="1115568"/>
            <a:ext cx="128016" cy="438912"/>
          </a:xfrm>
          <a:prstGeom prst="rect">
            <a:avLst/>
          </a:prstGeom>
          <a:noFill/>
          <a:ln/>
        </p:spPr>
        <p:txBody>
          <a:bodyPr wrap="square" lIns="0" tIns="0" rIns="0" bIns="0" rtlCol="0" anchor="ctr"/>
          <a:lstStyle/>
          <a:p>
            <a:pPr algn="ctr" indent="0" marL="0">
              <a:buNone/>
            </a:pPr>
            <a:r>
              <a:rPr lang="en-US" sz="1800" dirty="0">
                <a:solidFill>
                  <a:srgbClr val="00ED64"/>
                </a:solidFill>
              </a:rPr>
              <a:t>→</a:t>
            </a:r>
            <a:endParaRPr lang="en-US" sz="1800" dirty="0"/>
          </a:p>
        </p:txBody>
      </p:sp>
      <p:sp>
        <p:nvSpPr>
          <p:cNvPr id="29" name="Shape 27"/>
          <p:cNvSpPr/>
          <p:nvPr/>
        </p:nvSpPr>
        <p:spPr>
          <a:xfrm>
            <a:off x="9418320" y="960120"/>
            <a:ext cx="2084832" cy="749808"/>
          </a:xfrm>
          <a:prstGeom prst="rect">
            <a:avLst/>
          </a:prstGeom>
          <a:solidFill>
            <a:srgbClr val="00ED64"/>
          </a:solidFill>
          <a:ln w="12700">
            <a:solidFill>
              <a:srgbClr val="00ED64"/>
            </a:solidFill>
            <a:prstDash val="solid"/>
          </a:ln>
        </p:spPr>
      </p:sp>
      <p:sp>
        <p:nvSpPr>
          <p:cNvPr id="30" name="Text 28"/>
          <p:cNvSpPr/>
          <p:nvPr/>
        </p:nvSpPr>
        <p:spPr>
          <a:xfrm>
            <a:off x="9418320" y="960120"/>
            <a:ext cx="530352" cy="749808"/>
          </a:xfrm>
          <a:prstGeom prst="rect">
            <a:avLst/>
          </a:prstGeom>
          <a:noFill/>
          <a:ln/>
        </p:spPr>
        <p:txBody>
          <a:bodyPr wrap="square" lIns="0" tIns="0" rIns="0" bIns="0" rtlCol="0" anchor="ctr"/>
          <a:lstStyle/>
          <a:p>
            <a:pPr algn="ctr" indent="0" marL="0">
              <a:buNone/>
            </a:pPr>
            <a:r>
              <a:rPr lang="en-US" sz="2800" b="1" dirty="0">
                <a:solidFill>
                  <a:srgbClr val="001E2B"/>
                </a:solidFill>
                <a:latin typeface="Lexend Deca" pitchFamily="34" charset="0"/>
                <a:ea typeface="Lexend Deca" pitchFamily="34" charset="-122"/>
                <a:cs typeface="Lexend Deca" pitchFamily="34" charset="-120"/>
              </a:rPr>
              <a:t>5</a:t>
            </a:r>
            <a:endParaRPr lang="en-US" sz="2800" dirty="0"/>
          </a:p>
        </p:txBody>
      </p:sp>
      <p:sp>
        <p:nvSpPr>
          <p:cNvPr id="31" name="Text 29"/>
          <p:cNvSpPr/>
          <p:nvPr/>
        </p:nvSpPr>
        <p:spPr>
          <a:xfrm>
            <a:off x="9948672" y="960120"/>
            <a:ext cx="1554480" cy="749808"/>
          </a:xfrm>
          <a:prstGeom prst="rect">
            <a:avLst/>
          </a:prstGeom>
          <a:noFill/>
          <a:ln/>
        </p:spPr>
        <p:txBody>
          <a:bodyPr wrap="square" lIns="0" tIns="0" rIns="0" bIns="0" rtlCol="0" anchor="ctr"/>
          <a:lstStyle/>
          <a:p>
            <a:pPr indent="0" marL="0">
              <a:buNone/>
            </a:pPr>
            <a:r>
              <a:rPr lang="en-US" sz="1800" b="1" dirty="0">
                <a:solidFill>
                  <a:srgbClr val="001E2B"/>
                </a:solidFill>
                <a:latin typeface="Lexend Deca" pitchFamily="34" charset="0"/>
                <a:ea typeface="Lexend Deca" pitchFamily="34" charset="-122"/>
                <a:cs typeface="Lexend Deca" pitchFamily="34" charset="-120"/>
              </a:rPr>
              <a:t>Cutover</a:t>
            </a:r>
            <a:endParaRPr lang="en-US" sz="1800" dirty="0"/>
          </a:p>
        </p:txBody>
      </p:sp>
      <p:sp>
        <p:nvSpPr>
          <p:cNvPr id="32" name="Shape 30"/>
          <p:cNvSpPr/>
          <p:nvPr/>
        </p:nvSpPr>
        <p:spPr>
          <a:xfrm>
            <a:off x="9418320" y="1728216"/>
            <a:ext cx="2084832" cy="4206240"/>
          </a:xfrm>
          <a:prstGeom prst="rect">
            <a:avLst/>
          </a:prstGeom>
          <a:solidFill>
            <a:srgbClr val="023430"/>
          </a:solidFill>
          <a:ln w="12700">
            <a:solidFill>
              <a:srgbClr val="023A50"/>
            </a:solidFill>
            <a:prstDash val="solid"/>
          </a:ln>
        </p:spPr>
      </p:sp>
      <p:sp>
        <p:nvSpPr>
          <p:cNvPr id="33" name="Text 31"/>
          <p:cNvSpPr/>
          <p:nvPr/>
        </p:nvSpPr>
        <p:spPr>
          <a:xfrm>
            <a:off x="9555480" y="1847088"/>
            <a:ext cx="1810512" cy="3931920"/>
          </a:xfrm>
          <a:prstGeom prst="rect">
            <a:avLst/>
          </a:prstGeom>
          <a:noFill/>
          <a:ln/>
        </p:spPr>
        <p:txBody>
          <a:bodyPr wrap="square" lIns="0" tIns="0" rIns="0" bIns="0" rtlCol="0" anchor="t"/>
          <a:lstStyle/>
          <a:p>
            <a:pPr indent="0" marL="0">
              <a:buNone/>
            </a:pPr>
            <a:r>
              <a:rPr lang="en-US" sz="1400" dirty="0">
                <a:solidFill>
                  <a:srgbClr val="FFFFFF"/>
                </a:solidFill>
                <a:latin typeface="Lexend Deca" pitchFamily="34" charset="0"/>
                <a:ea typeface="Lexend Deca" pitchFamily="34" charset="-122"/>
                <a:cs typeface="Lexend Deca" pitchFamily="34" charset="-120"/>
              </a:rPr>
              <a:t>Validate data parity, switch traffic, monitor, decommission SQL.</a:t>
            </a:r>
            <a:endParaRPr lang="en-US" sz="1400" dirty="0"/>
          </a:p>
        </p:txBody>
      </p:sp>
      <p:sp>
        <p:nvSpPr>
          <p:cNvPr id="34" name="Text 32"/>
          <p:cNvSpPr/>
          <p:nvPr/>
        </p:nvSpPr>
        <p:spPr>
          <a:xfrm>
            <a:off x="566928" y="6053328"/>
            <a:ext cx="11055096" cy="384048"/>
          </a:xfrm>
          <a:prstGeom prst="rect">
            <a:avLst/>
          </a:prstGeom>
          <a:noFill/>
          <a:ln/>
        </p:spPr>
        <p:txBody>
          <a:bodyPr wrap="square" lIns="0" tIns="0" rIns="0" bIns="0" rtlCol="0" anchor="ctr"/>
          <a:lstStyle/>
          <a:p>
            <a:pPr algn="ctr" indent="0" marL="0">
              <a:buNone/>
            </a:pPr>
            <a:r>
              <a:rPr lang="en-US" sz="1400" dirty="0">
                <a:solidFill>
                  <a:srgbClr val="B8C4C2"/>
                </a:solidFill>
                <a:latin typeface="Lexend Deca" pitchFamily="34" charset="0"/>
                <a:ea typeface="Lexend Deca" pitchFamily="34" charset="-122"/>
                <a:cs typeface="Lexend Deca" pitchFamily="34" charset="-120"/>
              </a:rPr>
              <a:t>Tools: mongodump/mongorestore  ·  Atlas Live Migration  ·  AWS DMS  ·  Custom ETL (Python/Node)</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01E2B"/>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00ED64"/>
          </a:solidFill>
          <a:ln w="12700">
            <a:solidFill>
              <a:srgbClr val="00ED64"/>
            </a:solidFill>
            <a:prstDash val="solid"/>
          </a:ln>
        </p:spPr>
      </p:sp>
      <p:sp>
        <p:nvSpPr>
          <p:cNvPr id="3" name="Shape 1"/>
          <p:cNvSpPr/>
          <p:nvPr/>
        </p:nvSpPr>
        <p:spPr>
          <a:xfrm>
            <a:off x="0" y="6656832"/>
            <a:ext cx="12188952" cy="201168"/>
          </a:xfrm>
          <a:prstGeom prst="rect">
            <a:avLst/>
          </a:prstGeom>
          <a:solidFill>
            <a:srgbClr val="00ED64"/>
          </a:solidFill>
          <a:ln w="12700">
            <a:solidFill>
              <a:srgbClr val="00ED64"/>
            </a:solidFill>
            <a:prstDash val="solid"/>
          </a:ln>
        </p:spPr>
      </p:sp>
      <p:sp>
        <p:nvSpPr>
          <p:cNvPr id="4" name="Text 2"/>
          <p:cNvSpPr/>
          <p:nvPr/>
        </p:nvSpPr>
        <p:spPr>
          <a:xfrm>
            <a:off x="566928" y="347472"/>
            <a:ext cx="11055096" cy="777240"/>
          </a:xfrm>
          <a:prstGeom prst="rect">
            <a:avLst/>
          </a:prstGeom>
          <a:noFill/>
          <a:ln/>
        </p:spPr>
        <p:txBody>
          <a:bodyPr wrap="square" lIns="0" tIns="0" rIns="0" bIns="0" rtlCol="0" anchor="ctr"/>
          <a:lstStyle/>
          <a:p>
            <a:pPr indent="0" marL="0">
              <a:buNone/>
            </a:pPr>
            <a:r>
              <a:rPr lang="en-US" sz="3600" b="1" dirty="0">
                <a:solidFill>
                  <a:srgbClr val="FFFFFF"/>
                </a:solidFill>
                <a:latin typeface="Lexend Deca" pitchFamily="34" charset="0"/>
                <a:ea typeface="Lexend Deca" pitchFamily="34" charset="-122"/>
                <a:cs typeface="Lexend Deca" pitchFamily="34" charset="-120"/>
              </a:rPr>
              <a:t>Resources &amp; Q&amp;A</a:t>
            </a:r>
            <a:endParaRPr lang="en-US" sz="3600" dirty="0"/>
          </a:p>
        </p:txBody>
      </p:sp>
      <p:sp>
        <p:nvSpPr>
          <p:cNvPr id="5" name="Shape 3"/>
          <p:cNvSpPr/>
          <p:nvPr/>
        </p:nvSpPr>
        <p:spPr>
          <a:xfrm>
            <a:off x="566928" y="1298448"/>
            <a:ext cx="5596128" cy="1444752"/>
          </a:xfrm>
          <a:prstGeom prst="rect">
            <a:avLst/>
          </a:prstGeom>
          <a:solidFill>
            <a:srgbClr val="023430"/>
          </a:solidFill>
          <a:ln w="12700">
            <a:solidFill>
              <a:srgbClr val="023A50"/>
            </a:solidFill>
            <a:prstDash val="solid"/>
          </a:ln>
        </p:spPr>
      </p:sp>
      <p:sp>
        <p:nvSpPr>
          <p:cNvPr id="6" name="Shape 4"/>
          <p:cNvSpPr/>
          <p:nvPr/>
        </p:nvSpPr>
        <p:spPr>
          <a:xfrm>
            <a:off x="566928" y="1298448"/>
            <a:ext cx="109728" cy="1444752"/>
          </a:xfrm>
          <a:prstGeom prst="rect">
            <a:avLst/>
          </a:prstGeom>
          <a:solidFill>
            <a:srgbClr val="00ED64"/>
          </a:solidFill>
          <a:ln w="12700">
            <a:solidFill>
              <a:srgbClr val="00ED64"/>
            </a:solidFill>
            <a:prstDash val="solid"/>
          </a:ln>
        </p:spPr>
      </p:sp>
      <p:sp>
        <p:nvSpPr>
          <p:cNvPr id="7" name="Text 5"/>
          <p:cNvSpPr/>
          <p:nvPr/>
        </p:nvSpPr>
        <p:spPr>
          <a:xfrm>
            <a:off x="822960" y="1389888"/>
            <a:ext cx="5212080" cy="457200"/>
          </a:xfrm>
          <a:prstGeom prst="rect">
            <a:avLst/>
          </a:prstGeom>
          <a:noFill/>
          <a:ln/>
        </p:spPr>
        <p:txBody>
          <a:bodyPr wrap="square" lIns="0" tIns="0" rIns="0" bIns="0" rtlCol="0" anchor="ctr"/>
          <a:lstStyle/>
          <a:p>
            <a:pPr indent="0" marL="0">
              <a:buNone/>
            </a:pPr>
            <a:r>
              <a:rPr lang="en-US" sz="1600" b="1" dirty="0">
                <a:solidFill>
                  <a:srgbClr val="00ED64"/>
                </a:solidFill>
                <a:latin typeface="Lexend Deca" pitchFamily="34" charset="0"/>
                <a:ea typeface="Lexend Deca" pitchFamily="34" charset="-122"/>
                <a:cs typeface="Lexend Deca" pitchFamily="34" charset="-120"/>
              </a:rPr>
              <a:t>MongoDB University</a:t>
            </a:r>
            <a:endParaRPr lang="en-US" sz="1600" dirty="0"/>
          </a:p>
        </p:txBody>
      </p:sp>
      <p:sp>
        <p:nvSpPr>
          <p:cNvPr id="8" name="Text 6"/>
          <p:cNvSpPr/>
          <p:nvPr/>
        </p:nvSpPr>
        <p:spPr>
          <a:xfrm>
            <a:off x="822960" y="1892808"/>
            <a:ext cx="5212080" cy="749808"/>
          </a:xfrm>
          <a:prstGeom prst="rect">
            <a:avLst/>
          </a:prstGeom>
          <a:noFill/>
          <a:ln/>
        </p:spPr>
        <p:txBody>
          <a:bodyPr wrap="square" lIns="0" tIns="0" rIns="0" bIns="0" rtlCol="0" anchor="ctr"/>
          <a:lstStyle/>
          <a:p>
            <a:pPr indent="0" marL="0">
              <a:buNone/>
            </a:pPr>
            <a:r>
              <a:rPr lang="en-US" sz="1200" dirty="0">
                <a:solidFill>
                  <a:srgbClr val="B8C4C2"/>
                </a:solidFill>
                <a:latin typeface="Lexend Deca" pitchFamily="34" charset="0"/>
                <a:ea typeface="Lexend Deca" pitchFamily="34" charset="-122"/>
                <a:cs typeface="Lexend Deca" pitchFamily="34" charset="-120"/>
              </a:rPr>
              <a:t>university.mongodb.com  —  Free courses, M001 (intro), M121 (aggregation)</a:t>
            </a:r>
            <a:endParaRPr lang="en-US" sz="1200" dirty="0"/>
          </a:p>
        </p:txBody>
      </p:sp>
      <p:sp>
        <p:nvSpPr>
          <p:cNvPr id="9" name="Shape 7"/>
          <p:cNvSpPr/>
          <p:nvPr/>
        </p:nvSpPr>
        <p:spPr>
          <a:xfrm>
            <a:off x="6400800" y="1298448"/>
            <a:ext cx="5596128" cy="1444752"/>
          </a:xfrm>
          <a:prstGeom prst="rect">
            <a:avLst/>
          </a:prstGeom>
          <a:solidFill>
            <a:srgbClr val="023430"/>
          </a:solidFill>
          <a:ln w="12700">
            <a:solidFill>
              <a:srgbClr val="023A50"/>
            </a:solidFill>
            <a:prstDash val="solid"/>
          </a:ln>
        </p:spPr>
      </p:sp>
      <p:sp>
        <p:nvSpPr>
          <p:cNvPr id="10" name="Shape 8"/>
          <p:cNvSpPr/>
          <p:nvPr/>
        </p:nvSpPr>
        <p:spPr>
          <a:xfrm>
            <a:off x="6400800" y="1298448"/>
            <a:ext cx="109728" cy="1444752"/>
          </a:xfrm>
          <a:prstGeom prst="rect">
            <a:avLst/>
          </a:prstGeom>
          <a:solidFill>
            <a:srgbClr val="00ED64"/>
          </a:solidFill>
          <a:ln w="12700">
            <a:solidFill>
              <a:srgbClr val="00ED64"/>
            </a:solidFill>
            <a:prstDash val="solid"/>
          </a:ln>
        </p:spPr>
      </p:sp>
      <p:sp>
        <p:nvSpPr>
          <p:cNvPr id="11" name="Text 9"/>
          <p:cNvSpPr/>
          <p:nvPr/>
        </p:nvSpPr>
        <p:spPr>
          <a:xfrm>
            <a:off x="6656832" y="1389888"/>
            <a:ext cx="5212080" cy="457200"/>
          </a:xfrm>
          <a:prstGeom prst="rect">
            <a:avLst/>
          </a:prstGeom>
          <a:noFill/>
          <a:ln/>
        </p:spPr>
        <p:txBody>
          <a:bodyPr wrap="square" lIns="0" tIns="0" rIns="0" bIns="0" rtlCol="0" anchor="ctr"/>
          <a:lstStyle/>
          <a:p>
            <a:pPr indent="0" marL="0">
              <a:buNone/>
            </a:pPr>
            <a:r>
              <a:rPr lang="en-US" sz="1600" b="1" dirty="0">
                <a:solidFill>
                  <a:srgbClr val="00ED64"/>
                </a:solidFill>
                <a:latin typeface="Lexend Deca" pitchFamily="34" charset="0"/>
                <a:ea typeface="Lexend Deca" pitchFamily="34" charset="-122"/>
                <a:cs typeface="Lexend Deca" pitchFamily="34" charset="-120"/>
              </a:rPr>
              <a:t>Official Docs</a:t>
            </a:r>
            <a:endParaRPr lang="en-US" sz="1600" dirty="0"/>
          </a:p>
        </p:txBody>
      </p:sp>
      <p:sp>
        <p:nvSpPr>
          <p:cNvPr id="12" name="Text 10"/>
          <p:cNvSpPr/>
          <p:nvPr/>
        </p:nvSpPr>
        <p:spPr>
          <a:xfrm>
            <a:off x="6656832" y="1892808"/>
            <a:ext cx="5212080" cy="749808"/>
          </a:xfrm>
          <a:prstGeom prst="rect">
            <a:avLst/>
          </a:prstGeom>
          <a:noFill/>
          <a:ln/>
        </p:spPr>
        <p:txBody>
          <a:bodyPr wrap="square" lIns="0" tIns="0" rIns="0" bIns="0" rtlCol="0" anchor="ctr"/>
          <a:lstStyle/>
          <a:p>
            <a:pPr indent="0" marL="0">
              <a:buNone/>
            </a:pPr>
            <a:r>
              <a:rPr lang="en-US" sz="1200" dirty="0">
                <a:solidFill>
                  <a:srgbClr val="B8C4C2"/>
                </a:solidFill>
                <a:latin typeface="Lexend Deca" pitchFamily="34" charset="0"/>
                <a:ea typeface="Lexend Deca" pitchFamily="34" charset="-122"/>
                <a:cs typeface="Lexend Deca" pitchFamily="34" charset="-120"/>
              </a:rPr>
              <a:t>docs.mongodb.com  —  Operator reference, runnable examples, tutorials</a:t>
            </a:r>
            <a:endParaRPr lang="en-US" sz="1200" dirty="0"/>
          </a:p>
        </p:txBody>
      </p:sp>
      <p:sp>
        <p:nvSpPr>
          <p:cNvPr id="13" name="Shape 11"/>
          <p:cNvSpPr/>
          <p:nvPr/>
        </p:nvSpPr>
        <p:spPr>
          <a:xfrm>
            <a:off x="566928" y="2871216"/>
            <a:ext cx="5596128" cy="1444752"/>
          </a:xfrm>
          <a:prstGeom prst="rect">
            <a:avLst/>
          </a:prstGeom>
          <a:solidFill>
            <a:srgbClr val="023430"/>
          </a:solidFill>
          <a:ln w="12700">
            <a:solidFill>
              <a:srgbClr val="023A50"/>
            </a:solidFill>
            <a:prstDash val="solid"/>
          </a:ln>
        </p:spPr>
      </p:sp>
      <p:sp>
        <p:nvSpPr>
          <p:cNvPr id="14" name="Shape 12"/>
          <p:cNvSpPr/>
          <p:nvPr/>
        </p:nvSpPr>
        <p:spPr>
          <a:xfrm>
            <a:off x="566928" y="2871216"/>
            <a:ext cx="109728" cy="1444752"/>
          </a:xfrm>
          <a:prstGeom prst="rect">
            <a:avLst/>
          </a:prstGeom>
          <a:solidFill>
            <a:srgbClr val="00ED64"/>
          </a:solidFill>
          <a:ln w="12700">
            <a:solidFill>
              <a:srgbClr val="00ED64"/>
            </a:solidFill>
            <a:prstDash val="solid"/>
          </a:ln>
        </p:spPr>
      </p:sp>
      <p:sp>
        <p:nvSpPr>
          <p:cNvPr id="15" name="Text 13"/>
          <p:cNvSpPr/>
          <p:nvPr/>
        </p:nvSpPr>
        <p:spPr>
          <a:xfrm>
            <a:off x="822960" y="2962656"/>
            <a:ext cx="5212080" cy="457200"/>
          </a:xfrm>
          <a:prstGeom prst="rect">
            <a:avLst/>
          </a:prstGeom>
          <a:noFill/>
          <a:ln/>
        </p:spPr>
        <p:txBody>
          <a:bodyPr wrap="square" lIns="0" tIns="0" rIns="0" bIns="0" rtlCol="0" anchor="ctr"/>
          <a:lstStyle/>
          <a:p>
            <a:pPr indent="0" marL="0">
              <a:buNone/>
            </a:pPr>
            <a:r>
              <a:rPr lang="en-US" sz="1600" b="1" dirty="0">
                <a:solidFill>
                  <a:srgbClr val="00ED64"/>
                </a:solidFill>
                <a:latin typeface="Lexend Deca" pitchFamily="34" charset="0"/>
                <a:ea typeface="Lexend Deca" pitchFamily="34" charset="-122"/>
                <a:cs typeface="Lexend Deca" pitchFamily="34" charset="-120"/>
              </a:rPr>
              <a:t>MongoDB Compass</a:t>
            </a:r>
            <a:endParaRPr lang="en-US" sz="1600" dirty="0"/>
          </a:p>
        </p:txBody>
      </p:sp>
      <p:sp>
        <p:nvSpPr>
          <p:cNvPr id="16" name="Text 14"/>
          <p:cNvSpPr/>
          <p:nvPr/>
        </p:nvSpPr>
        <p:spPr>
          <a:xfrm>
            <a:off x="822960" y="3465576"/>
            <a:ext cx="5212080" cy="749808"/>
          </a:xfrm>
          <a:prstGeom prst="rect">
            <a:avLst/>
          </a:prstGeom>
          <a:noFill/>
          <a:ln/>
        </p:spPr>
        <p:txBody>
          <a:bodyPr wrap="square" lIns="0" tIns="0" rIns="0" bIns="0" rtlCol="0" anchor="ctr"/>
          <a:lstStyle/>
          <a:p>
            <a:pPr indent="0" marL="0">
              <a:buNone/>
            </a:pPr>
            <a:r>
              <a:rPr lang="en-US" sz="1200" dirty="0">
                <a:solidFill>
                  <a:srgbClr val="B8C4C2"/>
                </a:solidFill>
                <a:latin typeface="Lexend Deca" pitchFamily="34" charset="0"/>
                <a:ea typeface="Lexend Deca" pitchFamily="34" charset="-122"/>
                <a:cs typeface="Lexend Deca" pitchFamily="34" charset="-120"/>
              </a:rPr>
              <a:t>mongodb.com/products/compass  —  Free GUI, visual aggregation builder</a:t>
            </a:r>
            <a:endParaRPr lang="en-US" sz="1200" dirty="0"/>
          </a:p>
        </p:txBody>
      </p:sp>
      <p:sp>
        <p:nvSpPr>
          <p:cNvPr id="17" name="Shape 15"/>
          <p:cNvSpPr/>
          <p:nvPr/>
        </p:nvSpPr>
        <p:spPr>
          <a:xfrm>
            <a:off x="6400800" y="2871216"/>
            <a:ext cx="5596128" cy="1444752"/>
          </a:xfrm>
          <a:prstGeom prst="rect">
            <a:avLst/>
          </a:prstGeom>
          <a:solidFill>
            <a:srgbClr val="023430"/>
          </a:solidFill>
          <a:ln w="12700">
            <a:solidFill>
              <a:srgbClr val="023A50"/>
            </a:solidFill>
            <a:prstDash val="solid"/>
          </a:ln>
        </p:spPr>
      </p:sp>
      <p:sp>
        <p:nvSpPr>
          <p:cNvPr id="18" name="Shape 16"/>
          <p:cNvSpPr/>
          <p:nvPr/>
        </p:nvSpPr>
        <p:spPr>
          <a:xfrm>
            <a:off x="6400800" y="2871216"/>
            <a:ext cx="109728" cy="1444752"/>
          </a:xfrm>
          <a:prstGeom prst="rect">
            <a:avLst/>
          </a:prstGeom>
          <a:solidFill>
            <a:srgbClr val="00ED64"/>
          </a:solidFill>
          <a:ln w="12700">
            <a:solidFill>
              <a:srgbClr val="00ED64"/>
            </a:solidFill>
            <a:prstDash val="solid"/>
          </a:ln>
        </p:spPr>
      </p:sp>
      <p:sp>
        <p:nvSpPr>
          <p:cNvPr id="19" name="Text 17"/>
          <p:cNvSpPr/>
          <p:nvPr/>
        </p:nvSpPr>
        <p:spPr>
          <a:xfrm>
            <a:off x="6656832" y="2962656"/>
            <a:ext cx="5212080" cy="457200"/>
          </a:xfrm>
          <a:prstGeom prst="rect">
            <a:avLst/>
          </a:prstGeom>
          <a:noFill/>
          <a:ln/>
        </p:spPr>
        <p:txBody>
          <a:bodyPr wrap="square" lIns="0" tIns="0" rIns="0" bIns="0" rtlCol="0" anchor="ctr"/>
          <a:lstStyle/>
          <a:p>
            <a:pPr indent="0" marL="0">
              <a:buNone/>
            </a:pPr>
            <a:r>
              <a:rPr lang="en-US" sz="1600" b="1" dirty="0">
                <a:solidFill>
                  <a:srgbClr val="00ED64"/>
                </a:solidFill>
                <a:latin typeface="Lexend Deca" pitchFamily="34" charset="0"/>
                <a:ea typeface="Lexend Deca" pitchFamily="34" charset="-122"/>
                <a:cs typeface="Lexend Deca" pitchFamily="34" charset="-120"/>
              </a:rPr>
              <a:t>Atlas Free Tier</a:t>
            </a:r>
            <a:endParaRPr lang="en-US" sz="1600" dirty="0"/>
          </a:p>
        </p:txBody>
      </p:sp>
      <p:sp>
        <p:nvSpPr>
          <p:cNvPr id="20" name="Text 18"/>
          <p:cNvSpPr/>
          <p:nvPr/>
        </p:nvSpPr>
        <p:spPr>
          <a:xfrm>
            <a:off x="6656832" y="3465576"/>
            <a:ext cx="5212080" cy="749808"/>
          </a:xfrm>
          <a:prstGeom prst="rect">
            <a:avLst/>
          </a:prstGeom>
          <a:noFill/>
          <a:ln/>
        </p:spPr>
        <p:txBody>
          <a:bodyPr wrap="square" lIns="0" tIns="0" rIns="0" bIns="0" rtlCol="0" anchor="ctr"/>
          <a:lstStyle/>
          <a:p>
            <a:pPr indent="0" marL="0">
              <a:buNone/>
            </a:pPr>
            <a:r>
              <a:rPr lang="en-US" sz="1200" dirty="0">
                <a:solidFill>
                  <a:srgbClr val="B8C4C2"/>
                </a:solidFill>
                <a:latin typeface="Lexend Deca" pitchFamily="34" charset="0"/>
                <a:ea typeface="Lexend Deca" pitchFamily="34" charset="-122"/>
                <a:cs typeface="Lexend Deca" pitchFamily="34" charset="-120"/>
              </a:rPr>
              <a:t>mongodb.com/atlas  —  512 MB free, sample data pre-loaded, no credit card</a:t>
            </a:r>
            <a:endParaRPr lang="en-US" sz="1200" dirty="0"/>
          </a:p>
        </p:txBody>
      </p:sp>
      <p:sp>
        <p:nvSpPr>
          <p:cNvPr id="21" name="Shape 19"/>
          <p:cNvSpPr/>
          <p:nvPr/>
        </p:nvSpPr>
        <p:spPr>
          <a:xfrm>
            <a:off x="566928" y="4443984"/>
            <a:ext cx="5596128" cy="1444752"/>
          </a:xfrm>
          <a:prstGeom prst="rect">
            <a:avLst/>
          </a:prstGeom>
          <a:solidFill>
            <a:srgbClr val="023430"/>
          </a:solidFill>
          <a:ln w="12700">
            <a:solidFill>
              <a:srgbClr val="023A50"/>
            </a:solidFill>
            <a:prstDash val="solid"/>
          </a:ln>
        </p:spPr>
      </p:sp>
      <p:sp>
        <p:nvSpPr>
          <p:cNvPr id="22" name="Shape 20"/>
          <p:cNvSpPr/>
          <p:nvPr/>
        </p:nvSpPr>
        <p:spPr>
          <a:xfrm>
            <a:off x="566928" y="4443984"/>
            <a:ext cx="109728" cy="1444752"/>
          </a:xfrm>
          <a:prstGeom prst="rect">
            <a:avLst/>
          </a:prstGeom>
          <a:solidFill>
            <a:srgbClr val="00ED64"/>
          </a:solidFill>
          <a:ln w="12700">
            <a:solidFill>
              <a:srgbClr val="00ED64"/>
            </a:solidFill>
            <a:prstDash val="solid"/>
          </a:ln>
        </p:spPr>
      </p:sp>
      <p:sp>
        <p:nvSpPr>
          <p:cNvPr id="23" name="Text 21"/>
          <p:cNvSpPr/>
          <p:nvPr/>
        </p:nvSpPr>
        <p:spPr>
          <a:xfrm>
            <a:off x="822960" y="4535424"/>
            <a:ext cx="5212080" cy="457200"/>
          </a:xfrm>
          <a:prstGeom prst="rect">
            <a:avLst/>
          </a:prstGeom>
          <a:noFill/>
          <a:ln/>
        </p:spPr>
        <p:txBody>
          <a:bodyPr wrap="square" lIns="0" tIns="0" rIns="0" bIns="0" rtlCol="0" anchor="ctr"/>
          <a:lstStyle/>
          <a:p>
            <a:pPr indent="0" marL="0">
              <a:buNone/>
            </a:pPr>
            <a:r>
              <a:rPr lang="en-US" sz="1600" b="1" dirty="0">
                <a:solidFill>
                  <a:srgbClr val="00ED64"/>
                </a:solidFill>
                <a:latin typeface="Lexend Deca" pitchFamily="34" charset="0"/>
                <a:ea typeface="Lexend Deca" pitchFamily="34" charset="-122"/>
                <a:cs typeface="Lexend Deca" pitchFamily="34" charset="-120"/>
              </a:rPr>
              <a:t>Schema Design Patterns</a:t>
            </a:r>
            <a:endParaRPr lang="en-US" sz="1600" dirty="0"/>
          </a:p>
        </p:txBody>
      </p:sp>
      <p:sp>
        <p:nvSpPr>
          <p:cNvPr id="24" name="Text 22"/>
          <p:cNvSpPr/>
          <p:nvPr/>
        </p:nvSpPr>
        <p:spPr>
          <a:xfrm>
            <a:off x="822960" y="5038344"/>
            <a:ext cx="5212080" cy="749808"/>
          </a:xfrm>
          <a:prstGeom prst="rect">
            <a:avLst/>
          </a:prstGeom>
          <a:noFill/>
          <a:ln/>
        </p:spPr>
        <p:txBody>
          <a:bodyPr wrap="square" lIns="0" tIns="0" rIns="0" bIns="0" rtlCol="0" anchor="ctr"/>
          <a:lstStyle/>
          <a:p>
            <a:pPr indent="0" marL="0">
              <a:buNone/>
            </a:pPr>
            <a:r>
              <a:rPr lang="en-US" sz="1200" dirty="0">
                <a:solidFill>
                  <a:srgbClr val="B8C4C2"/>
                </a:solidFill>
                <a:latin typeface="Lexend Deca" pitchFamily="34" charset="0"/>
                <a:ea typeface="Lexend Deca" pitchFamily="34" charset="-122"/>
                <a:cs typeface="Lexend Deca" pitchFamily="34" charset="-120"/>
              </a:rPr>
              <a:t>mongodb.com/developer  —  Bucket, Computed, Extended Reference patterns</a:t>
            </a:r>
            <a:endParaRPr lang="en-US" sz="1200" dirty="0"/>
          </a:p>
        </p:txBody>
      </p:sp>
      <p:sp>
        <p:nvSpPr>
          <p:cNvPr id="25" name="Shape 23"/>
          <p:cNvSpPr/>
          <p:nvPr/>
        </p:nvSpPr>
        <p:spPr>
          <a:xfrm>
            <a:off x="6400800" y="4443984"/>
            <a:ext cx="5596128" cy="1444752"/>
          </a:xfrm>
          <a:prstGeom prst="rect">
            <a:avLst/>
          </a:prstGeom>
          <a:solidFill>
            <a:srgbClr val="023430"/>
          </a:solidFill>
          <a:ln w="12700">
            <a:solidFill>
              <a:srgbClr val="023A50"/>
            </a:solidFill>
            <a:prstDash val="solid"/>
          </a:ln>
        </p:spPr>
      </p:sp>
      <p:sp>
        <p:nvSpPr>
          <p:cNvPr id="26" name="Shape 24"/>
          <p:cNvSpPr/>
          <p:nvPr/>
        </p:nvSpPr>
        <p:spPr>
          <a:xfrm>
            <a:off x="6400800" y="4443984"/>
            <a:ext cx="109728" cy="1444752"/>
          </a:xfrm>
          <a:prstGeom prst="rect">
            <a:avLst/>
          </a:prstGeom>
          <a:solidFill>
            <a:srgbClr val="00ED64"/>
          </a:solidFill>
          <a:ln w="12700">
            <a:solidFill>
              <a:srgbClr val="00ED64"/>
            </a:solidFill>
            <a:prstDash val="solid"/>
          </a:ln>
        </p:spPr>
      </p:sp>
      <p:sp>
        <p:nvSpPr>
          <p:cNvPr id="27" name="Text 25"/>
          <p:cNvSpPr/>
          <p:nvPr/>
        </p:nvSpPr>
        <p:spPr>
          <a:xfrm>
            <a:off x="6656832" y="4535424"/>
            <a:ext cx="5212080" cy="457200"/>
          </a:xfrm>
          <a:prstGeom prst="rect">
            <a:avLst/>
          </a:prstGeom>
          <a:noFill/>
          <a:ln/>
        </p:spPr>
        <p:txBody>
          <a:bodyPr wrap="square" lIns="0" tIns="0" rIns="0" bIns="0" rtlCol="0" anchor="ctr"/>
          <a:lstStyle/>
          <a:p>
            <a:pPr indent="0" marL="0">
              <a:buNone/>
            </a:pPr>
            <a:r>
              <a:rPr lang="en-US" sz="1600" b="1" dirty="0">
                <a:solidFill>
                  <a:srgbClr val="00ED64"/>
                </a:solidFill>
                <a:latin typeface="Lexend Deca" pitchFamily="34" charset="0"/>
                <a:ea typeface="Lexend Deca" pitchFamily="34" charset="-122"/>
                <a:cs typeface="Lexend Deca" pitchFamily="34" charset="-120"/>
              </a:rPr>
              <a:t>Node.js Quick Start</a:t>
            </a:r>
            <a:endParaRPr lang="en-US" sz="1600" dirty="0"/>
          </a:p>
        </p:txBody>
      </p:sp>
      <p:sp>
        <p:nvSpPr>
          <p:cNvPr id="28" name="Text 26"/>
          <p:cNvSpPr/>
          <p:nvPr/>
        </p:nvSpPr>
        <p:spPr>
          <a:xfrm>
            <a:off x="6656832" y="5038344"/>
            <a:ext cx="5212080" cy="749808"/>
          </a:xfrm>
          <a:prstGeom prst="rect">
            <a:avLst/>
          </a:prstGeom>
          <a:noFill/>
          <a:ln/>
        </p:spPr>
        <p:txBody>
          <a:bodyPr wrap="square" lIns="0" tIns="0" rIns="0" bIns="0" rtlCol="0" anchor="ctr"/>
          <a:lstStyle/>
          <a:p>
            <a:pPr indent="0" marL="0">
              <a:buNone/>
            </a:pPr>
            <a:r>
              <a:rPr lang="en-US" sz="1200" dirty="0">
                <a:solidFill>
                  <a:srgbClr val="B8C4C2"/>
                </a:solidFill>
                <a:latin typeface="Lexend Deca" pitchFamily="34" charset="0"/>
                <a:ea typeface="Lexend Deca" pitchFamily="34" charset="-122"/>
                <a:cs typeface="Lexend Deca" pitchFamily="34" charset="-120"/>
              </a:rPr>
              <a:t>mongodb.com/docs/drivers/node  —  5-minute guide, TypeScript support</a:t>
            </a:r>
            <a:endParaRPr lang="en-US" sz="1200" dirty="0"/>
          </a:p>
        </p:txBody>
      </p:sp>
      <p:sp>
        <p:nvSpPr>
          <p:cNvPr id="29" name="Text 27"/>
          <p:cNvSpPr/>
          <p:nvPr/>
        </p:nvSpPr>
        <p:spPr>
          <a:xfrm>
            <a:off x="566928" y="6144768"/>
            <a:ext cx="11055096" cy="411480"/>
          </a:xfrm>
          <a:prstGeom prst="rect">
            <a:avLst/>
          </a:prstGeom>
          <a:noFill/>
          <a:ln/>
        </p:spPr>
        <p:txBody>
          <a:bodyPr wrap="square" lIns="0" tIns="0" rIns="0" bIns="0" rtlCol="0" anchor="ctr"/>
          <a:lstStyle/>
          <a:p>
            <a:pPr algn="ctr" indent="0" marL="0">
              <a:buNone/>
            </a:pPr>
            <a:r>
              <a:rPr lang="en-US" sz="1800" b="1" dirty="0">
                <a:solidFill>
                  <a:srgbClr val="00ED64"/>
                </a:solidFill>
                <a:latin typeface="Lexend Deca" pitchFamily="34" charset="0"/>
                <a:ea typeface="Lexend Deca" pitchFamily="34" charset="-122"/>
                <a:cs typeface="Lexend Deca" pitchFamily="34" charset="-120"/>
              </a:rPr>
              <a:t>Thank you!  Start with Atlas Free Tier today — your first cluster is live in 2 minutes.</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11520"/>
        </a:solidFill>
      </p:bgPr>
    </p:bg>
    <p:spTree>
      <p:nvGrpSpPr>
        <p:cNvPr id="1" name=""/>
        <p:cNvGrpSpPr/>
        <p:nvPr/>
      </p:nvGrpSpPr>
      <p:grpSpPr>
        <a:xfrm>
          <a:off x="0" y="0"/>
          <a:ext cx="0" cy="0"/>
          <a:chOff x="0" y="0"/>
          <a:chExt cx="0" cy="0"/>
        </a:xfrm>
      </p:grpSpPr>
      <p:sp>
        <p:nvSpPr>
          <p:cNvPr id="2" name="Shape 0"/>
          <p:cNvSpPr/>
          <p:nvPr/>
        </p:nvSpPr>
        <p:spPr>
          <a:xfrm>
            <a:off x="0" y="0"/>
            <a:ext cx="640080" cy="6858000"/>
          </a:xfrm>
          <a:prstGeom prst="rect">
            <a:avLst/>
          </a:prstGeom>
          <a:solidFill>
            <a:srgbClr val="00ED64"/>
          </a:solidFill>
          <a:ln w="12700">
            <a:solidFill>
              <a:srgbClr val="00ED64"/>
            </a:solidFill>
            <a:prstDash val="solid"/>
          </a:ln>
        </p:spPr>
      </p:sp>
      <p:sp>
        <p:nvSpPr>
          <p:cNvPr id="3" name="Shape 1"/>
          <p:cNvSpPr/>
          <p:nvPr/>
        </p:nvSpPr>
        <p:spPr>
          <a:xfrm>
            <a:off x="7772400" y="-1371600"/>
            <a:ext cx="6858000" cy="6858000"/>
          </a:xfrm>
          <a:prstGeom prst="ellipse">
            <a:avLst/>
          </a:prstGeom>
          <a:solidFill>
            <a:srgbClr val="023430">
              <a:alpha val="60000"/>
            </a:srgbClr>
          </a:solidFill>
          <a:ln w="12700">
            <a:solidFill>
              <a:srgbClr val="023430"/>
            </a:solidFill>
            <a:prstDash val="solid"/>
          </a:ln>
        </p:spPr>
      </p:sp>
      <p:sp>
        <p:nvSpPr>
          <p:cNvPr id="4" name="Text 2"/>
          <p:cNvSpPr/>
          <p:nvPr/>
        </p:nvSpPr>
        <p:spPr>
          <a:xfrm>
            <a:off x="1005840" y="822960"/>
            <a:ext cx="10058400" cy="4114800"/>
          </a:xfrm>
          <a:prstGeom prst="rect">
            <a:avLst/>
          </a:prstGeom>
          <a:noFill/>
          <a:ln/>
        </p:spPr>
        <p:txBody>
          <a:bodyPr wrap="square" rtlCol="0" anchor="ctr"/>
          <a:lstStyle/>
          <a:p>
            <a:pPr indent="0" marL="0">
              <a:buNone/>
            </a:pPr>
            <a:r>
              <a:rPr lang="en-US" sz="10000" b="1" dirty="0">
                <a:solidFill>
                  <a:srgbClr val="FFFFFF"/>
                </a:solidFill>
                <a:latin typeface="Lexend Deca" pitchFamily="34" charset="0"/>
                <a:ea typeface="Lexend Deca" pitchFamily="34" charset="-122"/>
                <a:cs typeface="Lexend Deca" pitchFamily="34" charset="-120"/>
              </a:rPr>
              <a:t>LIVE</a:t>
            </a:r>
            <a:endParaRPr lang="en-US" sz="10000" dirty="0"/>
          </a:p>
          <a:p>
            <a:pPr indent="0" marL="0">
              <a:buNone/>
            </a:pPr>
            <a:r>
              <a:rPr lang="en-US" sz="10000" b="1" dirty="0">
                <a:solidFill>
                  <a:srgbClr val="FFFFFF"/>
                </a:solidFill>
                <a:latin typeface="Lexend Deca" pitchFamily="34" charset="0"/>
                <a:ea typeface="Lexend Deca" pitchFamily="34" charset="-122"/>
                <a:cs typeface="Lexend Deca" pitchFamily="34" charset="-120"/>
              </a:rPr>
              <a:t>DEMO</a:t>
            </a:r>
            <a:endParaRPr lang="en-US" sz="10000" dirty="0"/>
          </a:p>
        </p:txBody>
      </p:sp>
      <p:sp>
        <p:nvSpPr>
          <p:cNvPr id="5" name="Text 3"/>
          <p:cNvSpPr/>
          <p:nvPr/>
        </p:nvSpPr>
        <p:spPr>
          <a:xfrm>
            <a:off x="1005840" y="5166360"/>
            <a:ext cx="9144000" cy="685800"/>
          </a:xfrm>
          <a:prstGeom prst="rect">
            <a:avLst/>
          </a:prstGeom>
          <a:noFill/>
          <a:ln/>
        </p:spPr>
        <p:txBody>
          <a:bodyPr wrap="square" rtlCol="0" anchor="ctr"/>
          <a:lstStyle/>
          <a:p>
            <a:pPr indent="0" marL="0">
              <a:buNone/>
            </a:pPr>
            <a:r>
              <a:rPr lang="en-US" sz="2200" i="1" dirty="0">
                <a:solidFill>
                  <a:srgbClr val="00ED64"/>
                </a:solidFill>
                <a:latin typeface="Lexend Deca" pitchFamily="34" charset="0"/>
                <a:ea typeface="Lexend Deca" pitchFamily="34" charset="-122"/>
                <a:cs typeface="Lexend Deca" pitchFamily="34" charset="-120"/>
              </a:rPr>
              <a:t>Hands-on queries — follow along in Compass or mongosh</a:t>
            </a:r>
            <a:endParaRPr lang="en-US" sz="2200" dirty="0"/>
          </a:p>
        </p:txBody>
      </p:sp>
      <p:sp>
        <p:nvSpPr>
          <p:cNvPr id="6" name="Shape 4"/>
          <p:cNvSpPr/>
          <p:nvPr/>
        </p:nvSpPr>
        <p:spPr>
          <a:xfrm>
            <a:off x="0" y="6656832"/>
            <a:ext cx="12188952" cy="201168"/>
          </a:xfrm>
          <a:prstGeom prst="rect">
            <a:avLst/>
          </a:prstGeom>
          <a:solidFill>
            <a:srgbClr val="00ED64"/>
          </a:solidFill>
          <a:ln w="12700">
            <a:solidFill>
              <a:srgbClr val="00ED64"/>
            </a:solidFill>
            <a:prstDash val="solid"/>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01E2B"/>
        </a:solidFill>
      </p:bgPr>
    </p:bg>
    <p:spTree>
      <p:nvGrpSpPr>
        <p:cNvPr id="1" name=""/>
        <p:cNvGrpSpPr/>
        <p:nvPr/>
      </p:nvGrpSpPr>
      <p:grpSpPr>
        <a:xfrm>
          <a:off x="0" y="0"/>
          <a:ext cx="0" cy="0"/>
          <a:chOff x="0" y="0"/>
          <a:chExt cx="0" cy="0"/>
        </a:xfrm>
      </p:grpSpPr>
      <p:sp>
        <p:nvSpPr>
          <p:cNvPr id="2" name="Shape 0"/>
          <p:cNvSpPr/>
          <p:nvPr/>
        </p:nvSpPr>
        <p:spPr>
          <a:xfrm>
            <a:off x="0" y="6656832"/>
            <a:ext cx="12188952" cy="201168"/>
          </a:xfrm>
          <a:prstGeom prst="rect">
            <a:avLst/>
          </a:prstGeom>
          <a:solidFill>
            <a:srgbClr val="00ED64"/>
          </a:solidFill>
          <a:ln w="12700">
            <a:solidFill>
              <a:srgbClr val="00ED64"/>
            </a:solidFill>
            <a:prstDash val="solid"/>
          </a:ln>
        </p:spPr>
      </p:sp>
      <p:sp>
        <p:nvSpPr>
          <p:cNvPr id="3" name="Text 1"/>
          <p:cNvSpPr/>
          <p:nvPr/>
        </p:nvSpPr>
        <p:spPr>
          <a:xfrm>
            <a:off x="566928" y="201168"/>
            <a:ext cx="11055096" cy="594360"/>
          </a:xfrm>
          <a:prstGeom prst="rect">
            <a:avLst/>
          </a:prstGeom>
          <a:noFill/>
          <a:ln/>
        </p:spPr>
        <p:txBody>
          <a:bodyPr wrap="square" lIns="0" tIns="0" rIns="0" bIns="0" rtlCol="0" anchor="ctr"/>
          <a:lstStyle/>
          <a:p>
            <a:pPr indent="0" marL="0">
              <a:buNone/>
            </a:pPr>
            <a:r>
              <a:rPr lang="en-US" sz="3000" b="1" dirty="0">
                <a:solidFill>
                  <a:srgbClr val="FFFFFF"/>
                </a:solidFill>
                <a:latin typeface="Lexend Deca" pitchFamily="34" charset="0"/>
                <a:ea typeface="Lexend Deca" pitchFamily="34" charset="-122"/>
                <a:cs typeface="Lexend Deca" pitchFamily="34" charset="-120"/>
              </a:rPr>
              <a:t>Demo 1 — Sample Dataset Setup</a:t>
            </a:r>
            <a:endParaRPr lang="en-US" sz="3000" dirty="0"/>
          </a:p>
        </p:txBody>
      </p:sp>
      <p:sp>
        <p:nvSpPr>
          <p:cNvPr id="4" name="Shape 2"/>
          <p:cNvSpPr/>
          <p:nvPr/>
        </p:nvSpPr>
        <p:spPr>
          <a:xfrm>
            <a:off x="566928" y="822960"/>
            <a:ext cx="1280160" cy="54864"/>
          </a:xfrm>
          <a:prstGeom prst="rect">
            <a:avLst/>
          </a:prstGeom>
          <a:solidFill>
            <a:srgbClr val="00ED64"/>
          </a:solidFill>
          <a:ln w="12700">
            <a:solidFill>
              <a:srgbClr val="00ED64"/>
            </a:solidFill>
            <a:prstDash val="solid"/>
          </a:ln>
        </p:spPr>
      </p:sp>
      <p:sp>
        <p:nvSpPr>
          <p:cNvPr id="5" name="Text 3"/>
          <p:cNvSpPr/>
          <p:nvPr/>
        </p:nvSpPr>
        <p:spPr>
          <a:xfrm>
            <a:off x="566928" y="914400"/>
            <a:ext cx="11055096" cy="411480"/>
          </a:xfrm>
          <a:prstGeom prst="rect">
            <a:avLst/>
          </a:prstGeom>
          <a:noFill/>
          <a:ln/>
        </p:spPr>
        <p:txBody>
          <a:bodyPr wrap="square" lIns="0" tIns="0" rIns="0" bIns="0" rtlCol="0" anchor="ctr"/>
          <a:lstStyle/>
          <a:p>
            <a:pPr indent="0" marL="0">
              <a:buNone/>
            </a:pPr>
            <a:r>
              <a:rPr lang="en-US" sz="1600" dirty="0">
                <a:solidFill>
                  <a:srgbClr val="B8C4C2"/>
                </a:solidFill>
                <a:latin typeface="Lexend Deca" pitchFamily="34" charset="0"/>
                <a:ea typeface="Lexend Deca" pitchFamily="34" charset="-122"/>
                <a:cs typeface="Lexend Deca" pitchFamily="34" charset="-120"/>
              </a:rPr>
              <a:t>Load the e-commerce dataset (same entities from the scenario):</a:t>
            </a:r>
            <a:endParaRPr lang="en-US" sz="1600" dirty="0"/>
          </a:p>
        </p:txBody>
      </p:sp>
      <p:sp>
        <p:nvSpPr>
          <p:cNvPr id="6" name="Shape 4"/>
          <p:cNvSpPr/>
          <p:nvPr/>
        </p:nvSpPr>
        <p:spPr>
          <a:xfrm>
            <a:off x="566928" y="1417320"/>
            <a:ext cx="11055096" cy="5120640"/>
          </a:xfrm>
          <a:prstGeom prst="rect">
            <a:avLst/>
          </a:prstGeom>
          <a:solidFill>
            <a:srgbClr val="011520"/>
          </a:solidFill>
          <a:ln w="15240">
            <a:solidFill>
              <a:srgbClr val="00ED64"/>
            </a:solidFill>
            <a:prstDash val="solid"/>
          </a:ln>
          <a:effectLst>
            <a:outerShdw sx="100000" sy="100000" kx="0" ky="0" algn="bl" rotWithShape="0" blurRad="127000" dist="38100" dir="8100000">
              <a:srgbClr val="000000">
                <a:alpha val="28000"/>
              </a:srgbClr>
            </a:outerShdw>
          </a:effectLst>
        </p:spPr>
      </p:sp>
      <p:sp>
        <p:nvSpPr>
          <p:cNvPr id="7" name="Text 5"/>
          <p:cNvSpPr/>
          <p:nvPr/>
        </p:nvSpPr>
        <p:spPr>
          <a:xfrm>
            <a:off x="704088" y="1536192"/>
            <a:ext cx="10780776" cy="4882896"/>
          </a:xfrm>
          <a:prstGeom prst="rect">
            <a:avLst/>
          </a:prstGeom>
          <a:noFill/>
          <a:ln/>
        </p:spPr>
        <p:txBody>
          <a:bodyPr wrap="square" lIns="0" tIns="0" rIns="0" bIns="0" rtlCol="0" anchor="t"/>
          <a:lstStyle/>
          <a:p>
            <a:pPr indent="0" marL="0">
              <a:buNone/>
            </a:pPr>
            <a:r>
              <a:rPr lang="en-US" sz="1100" dirty="0">
                <a:solidFill>
                  <a:srgbClr val="00ED64"/>
                </a:solidFill>
                <a:latin typeface="Source Code Pro" pitchFamily="34" charset="0"/>
                <a:ea typeface="Source Code Pro" pitchFamily="34" charset="-122"/>
                <a:cs typeface="Source Code Pro" pitchFamily="34" charset="-120"/>
              </a:rPr>
              <a:t>use shop</a:t>
            </a:r>
            <a:endParaRPr lang="en-US" sz="1100" dirty="0"/>
          </a:p>
          <a:p>
            <a:pPr indent="0" marL="0">
              <a:buNone/>
            </a:pP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db.customers.insertMany([</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_id: ObjectId("cust001"), name:"Alice Chen",  region:"APAC", tier:"gold"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_id: ObjectId("cust002"), name:"Bob Patel",   region:"EMEA", tier:"silver"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_id: ObjectId("cust003"), name:"Carol Smith", region:"AMER", tier:"gold"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_id: ObjectId("cust004"), name:"David Kim",   region:"APAC", tier:"bronze"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a:t>
            </a:r>
            <a:endParaRPr lang="en-US" sz="1100" dirty="0"/>
          </a:p>
          <a:p>
            <a:pPr indent="0" marL="0">
              <a:buNone/>
            </a:pP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Orders with embedded line items — no order_items table needed!</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db.orders.insertMany([</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_id:ObjectId("ord001"), custId:ObjectId("cust001"), status:"completed",</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amount:340.00, createdAt:new Date("2024-01-15"),</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items:[{ sku:"A1", qty:2, price:120 }, { sku:"B3", qty:1, price:100 }]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_id:ObjectId("ord002"), custId:ObjectId("cust002"), status:"completed",</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amount:89.50,  createdAt:new Date("2024-02-20"),</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items:[{ sku:"C5", qty:3, price:29.83 }]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_id:ObjectId("ord003"), custId:ObjectId("cust001"), status:"pending",</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amount:215.00, createdAt:new Date("2024-03-01"),</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items:[{ sku:"A1", qty:1, price:120 }, { sku:"D7", qty:1, price:95 }]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_id:ObjectId("ord004"), custId:ObjectId("cust003"), status:"completed",</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amount:560.00, createdAt:new Date("2024-03-10"),</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items:[{ sku:"E2", qty:4, price:140 }]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_id:ObjectId("ord005"), custId:ObjectId("cust004"), status:"completed",</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amount:45.00,  createdAt:new Date("2024-04-05"),</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items:[{ sku:"C5", qty:1, price:45  }]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01E2B"/>
        </a:solidFill>
      </p:bgPr>
    </p:bg>
    <p:spTree>
      <p:nvGrpSpPr>
        <p:cNvPr id="1" name=""/>
        <p:cNvGrpSpPr/>
        <p:nvPr/>
      </p:nvGrpSpPr>
      <p:grpSpPr>
        <a:xfrm>
          <a:off x="0" y="0"/>
          <a:ext cx="0" cy="0"/>
          <a:chOff x="0" y="0"/>
          <a:chExt cx="0" cy="0"/>
        </a:xfrm>
      </p:grpSpPr>
      <p:sp>
        <p:nvSpPr>
          <p:cNvPr id="2" name="Shape 0"/>
          <p:cNvSpPr/>
          <p:nvPr/>
        </p:nvSpPr>
        <p:spPr>
          <a:xfrm>
            <a:off x="0" y="6656832"/>
            <a:ext cx="12188952" cy="201168"/>
          </a:xfrm>
          <a:prstGeom prst="rect">
            <a:avLst/>
          </a:prstGeom>
          <a:solidFill>
            <a:srgbClr val="00ED64"/>
          </a:solidFill>
          <a:ln w="12700">
            <a:solidFill>
              <a:srgbClr val="00ED64"/>
            </a:solidFill>
            <a:prstDash val="solid"/>
          </a:ln>
        </p:spPr>
      </p:sp>
      <p:sp>
        <p:nvSpPr>
          <p:cNvPr id="3" name="Text 1"/>
          <p:cNvSpPr/>
          <p:nvPr/>
        </p:nvSpPr>
        <p:spPr>
          <a:xfrm>
            <a:off x="566928" y="201168"/>
            <a:ext cx="11055096" cy="594360"/>
          </a:xfrm>
          <a:prstGeom prst="rect">
            <a:avLst/>
          </a:prstGeom>
          <a:noFill/>
          <a:ln/>
        </p:spPr>
        <p:txBody>
          <a:bodyPr wrap="square" lIns="0" tIns="0" rIns="0" bIns="0" rtlCol="0" anchor="ctr"/>
          <a:lstStyle/>
          <a:p>
            <a:pPr indent="0" marL="0">
              <a:buNone/>
            </a:pPr>
            <a:r>
              <a:rPr lang="en-US" sz="3000" b="1" dirty="0">
                <a:solidFill>
                  <a:srgbClr val="FFFFFF"/>
                </a:solidFill>
                <a:latin typeface="Lexend Deca" pitchFamily="34" charset="0"/>
                <a:ea typeface="Lexend Deca" pitchFamily="34" charset="-122"/>
                <a:cs typeface="Lexend Deca" pitchFamily="34" charset="-120"/>
              </a:rPr>
              <a:t>Demo 2 — CRUD Operations</a:t>
            </a:r>
            <a:endParaRPr lang="en-US" sz="3000" dirty="0"/>
          </a:p>
        </p:txBody>
      </p:sp>
      <p:sp>
        <p:nvSpPr>
          <p:cNvPr id="4" name="Shape 2"/>
          <p:cNvSpPr/>
          <p:nvPr/>
        </p:nvSpPr>
        <p:spPr>
          <a:xfrm>
            <a:off x="566928" y="822960"/>
            <a:ext cx="1280160" cy="54864"/>
          </a:xfrm>
          <a:prstGeom prst="rect">
            <a:avLst/>
          </a:prstGeom>
          <a:solidFill>
            <a:srgbClr val="00ED64"/>
          </a:solidFill>
          <a:ln w="12700">
            <a:solidFill>
              <a:srgbClr val="00ED64"/>
            </a:solidFill>
            <a:prstDash val="solid"/>
          </a:ln>
        </p:spPr>
      </p:sp>
      <p:sp>
        <p:nvSpPr>
          <p:cNvPr id="5" name="Shape 3"/>
          <p:cNvSpPr/>
          <p:nvPr/>
        </p:nvSpPr>
        <p:spPr>
          <a:xfrm>
            <a:off x="566928" y="960120"/>
            <a:ext cx="11055096" cy="5577840"/>
          </a:xfrm>
          <a:prstGeom prst="rect">
            <a:avLst/>
          </a:prstGeom>
          <a:solidFill>
            <a:srgbClr val="011520"/>
          </a:solidFill>
          <a:ln w="15240">
            <a:solidFill>
              <a:srgbClr val="00ED64"/>
            </a:solidFill>
            <a:prstDash val="solid"/>
          </a:ln>
          <a:effectLst>
            <a:outerShdw sx="100000" sy="100000" kx="0" ky="0" algn="bl" rotWithShape="0" blurRad="127000" dist="38100" dir="8100000">
              <a:srgbClr val="000000">
                <a:alpha val="28000"/>
              </a:srgbClr>
            </a:outerShdw>
          </a:effectLst>
        </p:spPr>
      </p:sp>
      <p:sp>
        <p:nvSpPr>
          <p:cNvPr id="6" name="Text 4"/>
          <p:cNvSpPr/>
          <p:nvPr/>
        </p:nvSpPr>
        <p:spPr>
          <a:xfrm>
            <a:off x="704088" y="1078992"/>
            <a:ext cx="10780776" cy="5340096"/>
          </a:xfrm>
          <a:prstGeom prst="rect">
            <a:avLst/>
          </a:prstGeom>
          <a:noFill/>
          <a:ln/>
        </p:spPr>
        <p:txBody>
          <a:bodyPr wrap="square" lIns="0" tIns="0" rIns="0" bIns="0" rtlCol="0" anchor="t"/>
          <a:lstStyle/>
          <a:p>
            <a:pPr indent="0" marL="0">
              <a:buNone/>
            </a:pPr>
            <a:r>
              <a:rPr lang="en-US" sz="1100" dirty="0">
                <a:solidFill>
                  <a:srgbClr val="00ED64"/>
                </a:solidFill>
                <a:latin typeface="Source Code Pro" pitchFamily="34" charset="0"/>
                <a:ea typeface="Source Code Pro" pitchFamily="34" charset="-122"/>
                <a:cs typeface="Source Code Pro" pitchFamily="34" charset="-120"/>
              </a:rPr>
              <a:t>// READ: completed orders &gt; $100 (filter + projection)</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db.orders.find(</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status:"completed", amount:{ $gt:100 }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_id:0, custId:1, amount:1, status:1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a:t>
            </a:r>
            <a:endParaRPr lang="en-US" sz="1100" dirty="0"/>
          </a:p>
          <a:p>
            <a:pPr indent="0" marL="0">
              <a:buNone/>
            </a:pP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READ: orders containing item sku "A1" (dot-notation on embedded array)</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db.orders.find({ "items.sku": "A1"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SQL equiv: SELECT * FROM orders o JOIN order_items oi ON oi.order_id=o.id WHERE oi.sku='A1'</a:t>
            </a:r>
            <a:endParaRPr lang="en-US" sz="1100" dirty="0"/>
          </a:p>
          <a:p>
            <a:pPr indent="0" marL="0">
              <a:buNone/>
            </a:pP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UPDATE: mark order shipped, add timestamp</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db.orders.updateOne(</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_id: ObjectId("ord003")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$set: { status:"shipped", shippedAt: new Date() }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a:t>
            </a:r>
            <a:endParaRPr lang="en-US" sz="1100" dirty="0"/>
          </a:p>
          <a:p>
            <a:pPr indent="0" marL="0">
              <a:buNone/>
            </a:pP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UPDATE: add tracking to a specific line item (positional $ operator)</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db.orders.updateOne(</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_id:ObjectId("ord003"), "items.sku":"A1"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$set: { "items.$.tracking": "TRK-99021" } }   // $ = matched array element</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a:t>
            </a:r>
            <a:endParaRPr lang="en-US" sz="1100" dirty="0"/>
          </a:p>
          <a:p>
            <a:pPr indent="0" marL="0">
              <a:buNone/>
            </a:pP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DELETE: remove pending orders older than 30 days</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db.orders.deleteMany({</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status:   "pending",</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createdAt:{ $lt: new Date(Date.now() - 30*24*60*60*1000)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01E2B"/>
        </a:solidFill>
      </p:bgPr>
    </p:bg>
    <p:spTree>
      <p:nvGrpSpPr>
        <p:cNvPr id="1" name=""/>
        <p:cNvGrpSpPr/>
        <p:nvPr/>
      </p:nvGrpSpPr>
      <p:grpSpPr>
        <a:xfrm>
          <a:off x="0" y="0"/>
          <a:ext cx="0" cy="0"/>
          <a:chOff x="0" y="0"/>
          <a:chExt cx="0" cy="0"/>
        </a:xfrm>
      </p:grpSpPr>
      <p:sp>
        <p:nvSpPr>
          <p:cNvPr id="2" name="Shape 0"/>
          <p:cNvSpPr/>
          <p:nvPr/>
        </p:nvSpPr>
        <p:spPr>
          <a:xfrm>
            <a:off x="0" y="6656832"/>
            <a:ext cx="12188952" cy="201168"/>
          </a:xfrm>
          <a:prstGeom prst="rect">
            <a:avLst/>
          </a:prstGeom>
          <a:solidFill>
            <a:srgbClr val="00ED64"/>
          </a:solidFill>
          <a:ln w="12700">
            <a:solidFill>
              <a:srgbClr val="00ED64"/>
            </a:solidFill>
            <a:prstDash val="solid"/>
          </a:ln>
        </p:spPr>
      </p:sp>
      <p:sp>
        <p:nvSpPr>
          <p:cNvPr id="3" name="Text 1"/>
          <p:cNvSpPr/>
          <p:nvPr/>
        </p:nvSpPr>
        <p:spPr>
          <a:xfrm>
            <a:off x="566928" y="201168"/>
            <a:ext cx="11055096" cy="594360"/>
          </a:xfrm>
          <a:prstGeom prst="rect">
            <a:avLst/>
          </a:prstGeom>
          <a:noFill/>
          <a:ln/>
        </p:spPr>
        <p:txBody>
          <a:bodyPr wrap="square" lIns="0" tIns="0" rIns="0" bIns="0" rtlCol="0" anchor="ctr"/>
          <a:lstStyle/>
          <a:p>
            <a:pPr indent="0" marL="0">
              <a:buNone/>
            </a:pPr>
            <a:r>
              <a:rPr lang="en-US" sz="3000" b="1" dirty="0">
                <a:solidFill>
                  <a:srgbClr val="FFFFFF"/>
                </a:solidFill>
                <a:latin typeface="Lexend Deca" pitchFamily="34" charset="0"/>
                <a:ea typeface="Lexend Deca" pitchFamily="34" charset="-122"/>
                <a:cs typeface="Lexend Deca" pitchFamily="34" charset="-120"/>
              </a:rPr>
              <a:t>Demo 3 — Aggregation Pipeline (SQL → MongoDB)</a:t>
            </a:r>
            <a:endParaRPr lang="en-US" sz="3000" dirty="0"/>
          </a:p>
        </p:txBody>
      </p:sp>
      <p:sp>
        <p:nvSpPr>
          <p:cNvPr id="4" name="Shape 2"/>
          <p:cNvSpPr/>
          <p:nvPr/>
        </p:nvSpPr>
        <p:spPr>
          <a:xfrm>
            <a:off x="566928" y="822960"/>
            <a:ext cx="1280160" cy="54864"/>
          </a:xfrm>
          <a:prstGeom prst="rect">
            <a:avLst/>
          </a:prstGeom>
          <a:solidFill>
            <a:srgbClr val="00ED64"/>
          </a:solidFill>
          <a:ln w="12700">
            <a:solidFill>
              <a:srgbClr val="00ED64"/>
            </a:solidFill>
            <a:prstDash val="solid"/>
          </a:ln>
        </p:spPr>
      </p:sp>
      <p:sp>
        <p:nvSpPr>
          <p:cNvPr id="5" name="Shape 3"/>
          <p:cNvSpPr/>
          <p:nvPr/>
        </p:nvSpPr>
        <p:spPr>
          <a:xfrm>
            <a:off x="566928" y="960120"/>
            <a:ext cx="11055096" cy="5577840"/>
          </a:xfrm>
          <a:prstGeom prst="rect">
            <a:avLst/>
          </a:prstGeom>
          <a:solidFill>
            <a:srgbClr val="011520"/>
          </a:solidFill>
          <a:ln w="15240">
            <a:solidFill>
              <a:srgbClr val="00ED64"/>
            </a:solidFill>
            <a:prstDash val="solid"/>
          </a:ln>
          <a:effectLst>
            <a:outerShdw sx="100000" sy="100000" kx="0" ky="0" algn="bl" rotWithShape="0" blurRad="127000" dist="38100" dir="8100000">
              <a:srgbClr val="000000">
                <a:alpha val="28000"/>
              </a:srgbClr>
            </a:outerShdw>
          </a:effectLst>
        </p:spPr>
      </p:sp>
      <p:sp>
        <p:nvSpPr>
          <p:cNvPr id="6" name="Text 4"/>
          <p:cNvSpPr/>
          <p:nvPr/>
        </p:nvSpPr>
        <p:spPr>
          <a:xfrm>
            <a:off x="704088" y="1078992"/>
            <a:ext cx="10780776" cy="5340096"/>
          </a:xfrm>
          <a:prstGeom prst="rect">
            <a:avLst/>
          </a:prstGeom>
          <a:noFill/>
          <a:ln/>
        </p:spPr>
        <p:txBody>
          <a:bodyPr wrap="square" lIns="0" tIns="0" rIns="0" bIns="0" rtlCol="0" anchor="t"/>
          <a:lstStyle/>
          <a:p>
            <a:pPr indent="0" marL="0">
              <a:buNone/>
            </a:pPr>
            <a:r>
              <a:rPr lang="en-US" sz="1100" dirty="0">
                <a:solidFill>
                  <a:srgbClr val="00ED64"/>
                </a:solidFill>
                <a:latin typeface="Source Code Pro" pitchFamily="34" charset="0"/>
                <a:ea typeface="Source Code Pro" pitchFamily="34" charset="-122"/>
                <a:cs typeface="Source Code Pro" pitchFamily="34" charset="-120"/>
              </a:rPr>
              <a:t>// SQL equivalent: SELECT c.region, COUNT(*) AS orders, SUM(o.amount) AS revenue</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FROM orders o JOIN customers c ON o.custId=c._id WHERE o.status='completed'</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GROUP BY c.region ORDER BY revenue DESC</a:t>
            </a:r>
            <a:endParaRPr lang="en-US" sz="1100" dirty="0"/>
          </a:p>
          <a:p>
            <a:pPr indent="0" marL="0">
              <a:buNone/>
            </a:pP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db.orders.aggregate([</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$match:   { status: "completed" }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$lookup:  { from:"customers", localField:"custId",</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foreignField:"_id", as:"customer" }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$unwind:  "$customer"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$group:   { _id:"$customer.region",</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totalRevenue:{ $sum:"$amount" }, orderCount:{ $sum:1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avgOrder:{ $avg:"$amount" }, tiers:{ $addToSet:"$customer.tier" } }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$project: { _id:0, region:"$_id", totalRevenue:1, orderCount:1,</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avgOrder:{ $round:["$avgOrder",2] }, tiers:1 }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$sort:    { totalRevenue: -1 }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01E2B"/>
        </a:solidFill>
      </p:bgPr>
    </p:bg>
    <p:spTree>
      <p:nvGrpSpPr>
        <p:cNvPr id="1" name=""/>
        <p:cNvGrpSpPr/>
        <p:nvPr/>
      </p:nvGrpSpPr>
      <p:grpSpPr>
        <a:xfrm>
          <a:off x="0" y="0"/>
          <a:ext cx="0" cy="0"/>
          <a:chOff x="0" y="0"/>
          <a:chExt cx="0" cy="0"/>
        </a:xfrm>
      </p:grpSpPr>
      <p:sp>
        <p:nvSpPr>
          <p:cNvPr id="2" name="Shape 0"/>
          <p:cNvSpPr/>
          <p:nvPr/>
        </p:nvSpPr>
        <p:spPr>
          <a:xfrm>
            <a:off x="0" y="6656832"/>
            <a:ext cx="12188952" cy="201168"/>
          </a:xfrm>
          <a:prstGeom prst="rect">
            <a:avLst/>
          </a:prstGeom>
          <a:solidFill>
            <a:srgbClr val="00ED64"/>
          </a:solidFill>
          <a:ln w="12700">
            <a:solidFill>
              <a:srgbClr val="00ED64"/>
            </a:solidFill>
            <a:prstDash val="solid"/>
          </a:ln>
        </p:spPr>
      </p:sp>
      <p:sp>
        <p:nvSpPr>
          <p:cNvPr id="3" name="Text 1"/>
          <p:cNvSpPr/>
          <p:nvPr/>
        </p:nvSpPr>
        <p:spPr>
          <a:xfrm>
            <a:off x="566928" y="201168"/>
            <a:ext cx="11055096" cy="594360"/>
          </a:xfrm>
          <a:prstGeom prst="rect">
            <a:avLst/>
          </a:prstGeom>
          <a:noFill/>
          <a:ln/>
        </p:spPr>
        <p:txBody>
          <a:bodyPr wrap="square" lIns="0" tIns="0" rIns="0" bIns="0" rtlCol="0" anchor="ctr"/>
          <a:lstStyle/>
          <a:p>
            <a:pPr indent="0" marL="0">
              <a:buNone/>
            </a:pPr>
            <a:r>
              <a:rPr lang="en-US" sz="3000" b="1" dirty="0">
                <a:solidFill>
                  <a:srgbClr val="FFFFFF"/>
                </a:solidFill>
                <a:latin typeface="Lexend Deca" pitchFamily="34" charset="0"/>
                <a:ea typeface="Lexend Deca" pitchFamily="34" charset="-122"/>
                <a:cs typeface="Lexend Deca" pitchFamily="34" charset="-120"/>
              </a:rPr>
              <a:t>Demo 4 — Index Creation &amp; Explain Plan</a:t>
            </a:r>
            <a:endParaRPr lang="en-US" sz="3000" dirty="0"/>
          </a:p>
        </p:txBody>
      </p:sp>
      <p:sp>
        <p:nvSpPr>
          <p:cNvPr id="4" name="Shape 2"/>
          <p:cNvSpPr/>
          <p:nvPr/>
        </p:nvSpPr>
        <p:spPr>
          <a:xfrm>
            <a:off x="566928" y="822960"/>
            <a:ext cx="1280160" cy="54864"/>
          </a:xfrm>
          <a:prstGeom prst="rect">
            <a:avLst/>
          </a:prstGeom>
          <a:solidFill>
            <a:srgbClr val="00ED64"/>
          </a:solidFill>
          <a:ln w="12700">
            <a:solidFill>
              <a:srgbClr val="00ED64"/>
            </a:solidFill>
            <a:prstDash val="solid"/>
          </a:ln>
        </p:spPr>
      </p:sp>
      <p:sp>
        <p:nvSpPr>
          <p:cNvPr id="5" name="Shape 3"/>
          <p:cNvSpPr/>
          <p:nvPr/>
        </p:nvSpPr>
        <p:spPr>
          <a:xfrm>
            <a:off x="566928" y="960120"/>
            <a:ext cx="11055096" cy="5577840"/>
          </a:xfrm>
          <a:prstGeom prst="rect">
            <a:avLst/>
          </a:prstGeom>
          <a:solidFill>
            <a:srgbClr val="011520"/>
          </a:solidFill>
          <a:ln w="15240">
            <a:solidFill>
              <a:srgbClr val="00ED64"/>
            </a:solidFill>
            <a:prstDash val="solid"/>
          </a:ln>
          <a:effectLst>
            <a:outerShdw sx="100000" sy="100000" kx="0" ky="0" algn="bl" rotWithShape="0" blurRad="127000" dist="38100" dir="8100000">
              <a:srgbClr val="000000">
                <a:alpha val="28000"/>
              </a:srgbClr>
            </a:outerShdw>
          </a:effectLst>
        </p:spPr>
      </p:sp>
      <p:sp>
        <p:nvSpPr>
          <p:cNvPr id="6" name="Text 4"/>
          <p:cNvSpPr/>
          <p:nvPr/>
        </p:nvSpPr>
        <p:spPr>
          <a:xfrm>
            <a:off x="704088" y="1078992"/>
            <a:ext cx="10780776" cy="5340096"/>
          </a:xfrm>
          <a:prstGeom prst="rect">
            <a:avLst/>
          </a:prstGeom>
          <a:noFill/>
          <a:ln/>
        </p:spPr>
        <p:txBody>
          <a:bodyPr wrap="square" lIns="0" tIns="0" rIns="0" bIns="0" rtlCol="0" anchor="t"/>
          <a:lstStyle/>
          <a:p>
            <a:pPr indent="0" marL="0">
              <a:buNone/>
            </a:pPr>
            <a:r>
              <a:rPr lang="en-US" sz="1100" dirty="0">
                <a:solidFill>
                  <a:srgbClr val="00ED64"/>
                </a:solidFill>
                <a:latin typeface="Source Code Pro" pitchFamily="34" charset="0"/>
                <a:ea typeface="Source Code Pro" pitchFamily="34" charset="-122"/>
                <a:cs typeface="Source Code Pro" pitchFamily="34" charset="-120"/>
              </a:rPr>
              <a:t>// Step 1: Check existing indexes</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db.orders.getIndexes()  // → only _id index</a:t>
            </a:r>
            <a:endParaRPr lang="en-US" sz="1100" dirty="0"/>
          </a:p>
          <a:p>
            <a:pPr indent="0" marL="0">
              <a:buNone/>
            </a:pP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Step 2: Explain BEFORE index — spot COLLSCAN</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db.orders.explain("executionStats")</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.find({ custId: ObjectId("cust001"), status: "completed"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stage:"COLLSCAN"  totalDocsExamined:5</a:t>
            </a:r>
            <a:endParaRPr lang="en-US" sz="1100" dirty="0"/>
          </a:p>
          <a:p>
            <a:pPr indent="0" marL="0">
              <a:buNone/>
            </a:pP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Step 3: Create compound index (ESR: Equality → Sort → Range)</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db.orders.createIndex(</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custId: 1, status: 1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name: "idx_custId_status"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a:t>
            </a:r>
            <a:endParaRPr lang="en-US" sz="1100" dirty="0"/>
          </a:p>
          <a:p>
            <a:pPr indent="0" marL="0">
              <a:buNone/>
            </a:pP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Step 4: Explain AFTER — confirm IXSCAN</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db.orders.explain("executionStats")</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.find({ custId: ObjectId("cust001"), status: "completed"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stage:"IXSCAN"  indexName:"idx_custId_status"  totalDocsExamined:1</a:t>
            </a:r>
            <a:endParaRPr lang="en-US" sz="1100" dirty="0"/>
          </a:p>
          <a:p>
            <a:pPr indent="0" marL="0">
              <a:buNone/>
            </a:pP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Step 5: TTL index — auto-expire pending orders after 7 days</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db.orders.createIndex(</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createdAt: 1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expireAfterSeconds:604800,</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partialFilterExpression:{ status:"pending" }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a:t>
            </a:r>
            <a:endParaRPr lang="en-US" sz="1100" dirty="0"/>
          </a:p>
          <a:p>
            <a:pPr indent="0" marL="0">
              <a:buNone/>
            </a:pP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Step 6: Text index on customer name</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db.customers.createIndex({ name: "text"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db.customers.find({ $text: { $search: "Alice Chen" } })</a:t>
            </a:r>
            <a:endParaRPr lang="en-US" sz="1100" dirty="0"/>
          </a:p>
          <a:p>
            <a:pPr indent="0" marL="0">
              <a:buNone/>
            </a:pP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Step 7: Sparse index — only where shippedAt exists</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db.orders.createIndex({ shippedAt: 1 }, { sparse: true })</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01E2B"/>
        </a:solidFill>
      </p:bgPr>
    </p:bg>
    <p:spTree>
      <p:nvGrpSpPr>
        <p:cNvPr id="1" name=""/>
        <p:cNvGrpSpPr/>
        <p:nvPr/>
      </p:nvGrpSpPr>
      <p:grpSpPr>
        <a:xfrm>
          <a:off x="0" y="0"/>
          <a:ext cx="0" cy="0"/>
          <a:chOff x="0" y="0"/>
          <a:chExt cx="0" cy="0"/>
        </a:xfrm>
      </p:grpSpPr>
      <p:sp>
        <p:nvSpPr>
          <p:cNvPr id="2" name="Shape 0"/>
          <p:cNvSpPr/>
          <p:nvPr/>
        </p:nvSpPr>
        <p:spPr>
          <a:xfrm>
            <a:off x="0" y="6656832"/>
            <a:ext cx="12188952" cy="201168"/>
          </a:xfrm>
          <a:prstGeom prst="rect">
            <a:avLst/>
          </a:prstGeom>
          <a:solidFill>
            <a:srgbClr val="00ED64"/>
          </a:solidFill>
          <a:ln w="12700">
            <a:solidFill>
              <a:srgbClr val="00ED64"/>
            </a:solidFill>
            <a:prstDash val="solid"/>
          </a:ln>
        </p:spPr>
      </p:sp>
      <p:sp>
        <p:nvSpPr>
          <p:cNvPr id="3" name="Text 1"/>
          <p:cNvSpPr/>
          <p:nvPr/>
        </p:nvSpPr>
        <p:spPr>
          <a:xfrm>
            <a:off x="566928" y="201168"/>
            <a:ext cx="11055096" cy="594360"/>
          </a:xfrm>
          <a:prstGeom prst="rect">
            <a:avLst/>
          </a:prstGeom>
          <a:noFill/>
          <a:ln/>
        </p:spPr>
        <p:txBody>
          <a:bodyPr wrap="square" lIns="0" tIns="0" rIns="0" bIns="0" rtlCol="0" anchor="ctr"/>
          <a:lstStyle/>
          <a:p>
            <a:pPr indent="0" marL="0">
              <a:buNone/>
            </a:pPr>
            <a:r>
              <a:rPr lang="en-US" sz="3000" b="1" dirty="0">
                <a:solidFill>
                  <a:srgbClr val="FFFFFF"/>
                </a:solidFill>
                <a:latin typeface="Lexend Deca" pitchFamily="34" charset="0"/>
                <a:ea typeface="Lexend Deca" pitchFamily="34" charset="-122"/>
                <a:cs typeface="Lexend Deca" pitchFamily="34" charset="-120"/>
              </a:rPr>
              <a:t>Demo 5 — Node.js Application Code</a:t>
            </a:r>
            <a:endParaRPr lang="en-US" sz="3000" dirty="0"/>
          </a:p>
        </p:txBody>
      </p:sp>
      <p:sp>
        <p:nvSpPr>
          <p:cNvPr id="4" name="Shape 2"/>
          <p:cNvSpPr/>
          <p:nvPr/>
        </p:nvSpPr>
        <p:spPr>
          <a:xfrm>
            <a:off x="566928" y="822960"/>
            <a:ext cx="1280160" cy="54864"/>
          </a:xfrm>
          <a:prstGeom prst="rect">
            <a:avLst/>
          </a:prstGeom>
          <a:solidFill>
            <a:srgbClr val="00ED64"/>
          </a:solidFill>
          <a:ln w="12700">
            <a:solidFill>
              <a:srgbClr val="00ED64"/>
            </a:solidFill>
            <a:prstDash val="solid"/>
          </a:ln>
        </p:spPr>
      </p:sp>
      <p:sp>
        <p:nvSpPr>
          <p:cNvPr id="5" name="Shape 3"/>
          <p:cNvSpPr/>
          <p:nvPr/>
        </p:nvSpPr>
        <p:spPr>
          <a:xfrm>
            <a:off x="566928" y="960120"/>
            <a:ext cx="11055096" cy="5577840"/>
          </a:xfrm>
          <a:prstGeom prst="rect">
            <a:avLst/>
          </a:prstGeom>
          <a:solidFill>
            <a:srgbClr val="011520"/>
          </a:solidFill>
          <a:ln w="15240">
            <a:solidFill>
              <a:srgbClr val="00ED64"/>
            </a:solidFill>
            <a:prstDash val="solid"/>
          </a:ln>
          <a:effectLst>
            <a:outerShdw sx="100000" sy="100000" kx="0" ky="0" algn="bl" rotWithShape="0" blurRad="127000" dist="38100" dir="8100000">
              <a:srgbClr val="000000">
                <a:alpha val="28000"/>
              </a:srgbClr>
            </a:outerShdw>
          </a:effectLst>
        </p:spPr>
      </p:sp>
      <p:sp>
        <p:nvSpPr>
          <p:cNvPr id="6" name="Text 4"/>
          <p:cNvSpPr/>
          <p:nvPr/>
        </p:nvSpPr>
        <p:spPr>
          <a:xfrm>
            <a:off x="704088" y="1078992"/>
            <a:ext cx="10780776" cy="5340096"/>
          </a:xfrm>
          <a:prstGeom prst="rect">
            <a:avLst/>
          </a:prstGeom>
          <a:noFill/>
          <a:ln/>
        </p:spPr>
        <p:txBody>
          <a:bodyPr wrap="square" lIns="0" tIns="0" rIns="0" bIns="0" rtlCol="0" anchor="t"/>
          <a:lstStyle/>
          <a:p>
            <a:pPr indent="0" marL="0">
              <a:buNone/>
            </a:pPr>
            <a:r>
              <a:rPr lang="en-US" sz="1100" dirty="0">
                <a:solidFill>
                  <a:srgbClr val="00ED64"/>
                </a:solidFill>
                <a:latin typeface="Source Code Pro" pitchFamily="34" charset="0"/>
                <a:ea typeface="Source Code Pro" pitchFamily="34" charset="-122"/>
                <a:cs typeface="Source Code Pro" pitchFamily="34" charset="-120"/>
              </a:rPr>
              <a:t>const { MongoClient, ObjectId } = require("mongodb");</a:t>
            </a:r>
            <a:endParaRPr lang="en-US" sz="1100" dirty="0"/>
          </a:p>
          <a:p>
            <a:pPr indent="0" marL="0">
              <a:buNone/>
            </a:pP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async function main()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const client = new MongoClient(process.env.MONGO_URI);</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await client.connect();</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const db = client.db("shop");</a:t>
            </a:r>
            <a:endParaRPr lang="en-US" sz="1100" dirty="0"/>
          </a:p>
          <a:p>
            <a:pPr indent="0" marL="0">
              <a:buNone/>
            </a:pP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1. Find completed orders for a customer, sorted by amount</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const orders = await db.collection("orders")</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.find({ custId: new ObjectId("cust001"), status: "completed"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.sort({ amount: -1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.project({ items:1, amount:1, createdAt:1, _id:0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.toArray();</a:t>
            </a:r>
            <a:endParaRPr lang="en-US" sz="1100" dirty="0"/>
          </a:p>
          <a:p>
            <a:pPr indent="0" marL="0">
              <a:buNone/>
            </a:pP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2. Upsert — insert if not exists, update if exists</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await db.collection("customers").updateOne(</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email: "eve@example.com"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$set:{ name:"Eve Adams", region:"AMER", tier:"silver"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$setOnInsert:{ createdAt: new Date() } },  // only on INSERT</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upsert: true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a:t>
            </a:r>
            <a:endParaRPr lang="en-US" sz="1100" dirty="0"/>
          </a:p>
          <a:p>
            <a:pPr indent="0" marL="0">
              <a:buNone/>
            </a:pP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3. Aggregation — revenue by region</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const revenue = await db.collection("orders").aggregate([</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$match:  { status:"completed" }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$lookup: { from:"customers", localField:"custId",</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foreignField:"_id", as:"customer" }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$unwind: "$customer"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$group:  { _id:"$customer.region", total:{ $sum:"$amount" } }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$sort:   { total: -1 }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]).toArray();</a:t>
            </a:r>
            <a:endParaRPr lang="en-US" sz="1100" dirty="0"/>
          </a:p>
          <a:p>
            <a:pPr indent="0" marL="0">
              <a:buNone/>
            </a:pP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4. Change Stream — react to new completed orders in real-time</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const stream = db.collection("orders").watch(</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$match: { "fullDocument.status":"completed" }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fullDocument: "updateLookup"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stream.on("change", e =&gt; console.log("New order:", e.fullDocument.amount));</a:t>
            </a:r>
            <a:endParaRPr lang="en-US" sz="1100" dirty="0"/>
          </a:p>
          <a:p>
            <a:pPr indent="0" marL="0">
              <a:buNone/>
            </a:pP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await client.close();</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main().catch(console.error);</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01E2B"/>
        </a:solidFill>
      </p:bgPr>
    </p:bg>
    <p:spTree>
      <p:nvGrpSpPr>
        <p:cNvPr id="1" name=""/>
        <p:cNvGrpSpPr/>
        <p:nvPr/>
      </p:nvGrpSpPr>
      <p:grpSpPr>
        <a:xfrm>
          <a:off x="0" y="0"/>
          <a:ext cx="0" cy="0"/>
          <a:chOff x="0" y="0"/>
          <a:chExt cx="0" cy="0"/>
        </a:xfrm>
      </p:grpSpPr>
      <p:sp>
        <p:nvSpPr>
          <p:cNvPr id="2" name="Shape 0"/>
          <p:cNvSpPr/>
          <p:nvPr/>
        </p:nvSpPr>
        <p:spPr>
          <a:xfrm>
            <a:off x="0" y="6656832"/>
            <a:ext cx="12188952" cy="201168"/>
          </a:xfrm>
          <a:prstGeom prst="rect">
            <a:avLst/>
          </a:prstGeom>
          <a:solidFill>
            <a:srgbClr val="00ED64"/>
          </a:solidFill>
          <a:ln w="12700">
            <a:solidFill>
              <a:srgbClr val="00ED64"/>
            </a:solidFill>
            <a:prstDash val="solid"/>
          </a:ln>
        </p:spPr>
      </p:sp>
      <p:sp>
        <p:nvSpPr>
          <p:cNvPr id="3" name="Text 1"/>
          <p:cNvSpPr/>
          <p:nvPr/>
        </p:nvSpPr>
        <p:spPr>
          <a:xfrm>
            <a:off x="566928" y="201168"/>
            <a:ext cx="11055096" cy="594360"/>
          </a:xfrm>
          <a:prstGeom prst="rect">
            <a:avLst/>
          </a:prstGeom>
          <a:noFill/>
          <a:ln/>
        </p:spPr>
        <p:txBody>
          <a:bodyPr wrap="square" lIns="0" tIns="0" rIns="0" bIns="0" rtlCol="0" anchor="ctr"/>
          <a:lstStyle/>
          <a:p>
            <a:pPr indent="0" marL="0">
              <a:buNone/>
            </a:pPr>
            <a:r>
              <a:rPr lang="en-US" sz="3000" b="1" dirty="0">
                <a:solidFill>
                  <a:srgbClr val="FFFFFF"/>
                </a:solidFill>
                <a:latin typeface="Lexend Deca" pitchFamily="34" charset="0"/>
                <a:ea typeface="Lexend Deca" pitchFamily="34" charset="-122"/>
                <a:cs typeface="Lexend Deca" pitchFamily="34" charset="-120"/>
              </a:rPr>
              <a:t>Demo 6 — Multi-Document Transaction</a:t>
            </a:r>
            <a:endParaRPr lang="en-US" sz="3000" dirty="0"/>
          </a:p>
        </p:txBody>
      </p:sp>
      <p:sp>
        <p:nvSpPr>
          <p:cNvPr id="4" name="Shape 2"/>
          <p:cNvSpPr/>
          <p:nvPr/>
        </p:nvSpPr>
        <p:spPr>
          <a:xfrm>
            <a:off x="566928" y="822960"/>
            <a:ext cx="1280160" cy="54864"/>
          </a:xfrm>
          <a:prstGeom prst="rect">
            <a:avLst/>
          </a:prstGeom>
          <a:solidFill>
            <a:srgbClr val="00ED64"/>
          </a:solidFill>
          <a:ln w="12700">
            <a:solidFill>
              <a:srgbClr val="00ED64"/>
            </a:solidFill>
            <a:prstDash val="solid"/>
          </a:ln>
        </p:spPr>
      </p:sp>
      <p:sp>
        <p:nvSpPr>
          <p:cNvPr id="5" name="Text 3"/>
          <p:cNvSpPr/>
          <p:nvPr/>
        </p:nvSpPr>
        <p:spPr>
          <a:xfrm>
            <a:off x="566928" y="914400"/>
            <a:ext cx="11055096" cy="420624"/>
          </a:xfrm>
          <a:prstGeom prst="rect">
            <a:avLst/>
          </a:prstGeom>
          <a:noFill/>
          <a:ln/>
        </p:spPr>
        <p:txBody>
          <a:bodyPr wrap="square" lIns="0" tIns="0" rIns="0" bIns="0" rtlCol="0" anchor="ctr"/>
          <a:lstStyle/>
          <a:p>
            <a:pPr indent="0" marL="0">
              <a:buNone/>
            </a:pPr>
            <a:r>
              <a:rPr lang="en-US" sz="1600" dirty="0">
                <a:solidFill>
                  <a:srgbClr val="B8C4C2"/>
                </a:solidFill>
                <a:latin typeface="Lexend Deca" pitchFamily="34" charset="0"/>
                <a:ea typeface="Lexend Deca" pitchFamily="34" charset="-122"/>
                <a:cs typeface="Lexend Deca" pitchFamily="34" charset="-120"/>
              </a:rPr>
              <a:t>Scenario: place an order — atomically deduct inventory, create order, write audit log</a:t>
            </a:r>
            <a:endParaRPr lang="en-US" sz="1600" dirty="0"/>
          </a:p>
        </p:txBody>
      </p:sp>
      <p:sp>
        <p:nvSpPr>
          <p:cNvPr id="6" name="Shape 4"/>
          <p:cNvSpPr/>
          <p:nvPr/>
        </p:nvSpPr>
        <p:spPr>
          <a:xfrm>
            <a:off x="566928" y="1417320"/>
            <a:ext cx="11055096" cy="5120640"/>
          </a:xfrm>
          <a:prstGeom prst="rect">
            <a:avLst/>
          </a:prstGeom>
          <a:solidFill>
            <a:srgbClr val="011520"/>
          </a:solidFill>
          <a:ln w="15240">
            <a:solidFill>
              <a:srgbClr val="00ED64"/>
            </a:solidFill>
            <a:prstDash val="solid"/>
          </a:ln>
          <a:effectLst>
            <a:outerShdw sx="100000" sy="100000" kx="0" ky="0" algn="bl" rotWithShape="0" blurRad="127000" dist="38100" dir="8100000">
              <a:srgbClr val="000000">
                <a:alpha val="28000"/>
              </a:srgbClr>
            </a:outerShdw>
          </a:effectLst>
        </p:spPr>
      </p:sp>
      <p:sp>
        <p:nvSpPr>
          <p:cNvPr id="7" name="Text 5"/>
          <p:cNvSpPr/>
          <p:nvPr/>
        </p:nvSpPr>
        <p:spPr>
          <a:xfrm>
            <a:off x="704088" y="1536192"/>
            <a:ext cx="10780776" cy="4882896"/>
          </a:xfrm>
          <a:prstGeom prst="rect">
            <a:avLst/>
          </a:prstGeom>
          <a:noFill/>
          <a:ln/>
        </p:spPr>
        <p:txBody>
          <a:bodyPr wrap="square" lIns="0" tIns="0" rIns="0" bIns="0" rtlCol="0" anchor="t"/>
          <a:lstStyle/>
          <a:p>
            <a:pPr indent="0" marL="0">
              <a:buNone/>
            </a:pPr>
            <a:r>
              <a:rPr lang="en-US" sz="1100" dirty="0">
                <a:solidFill>
                  <a:srgbClr val="00ED64"/>
                </a:solidFill>
                <a:latin typeface="Source Code Pro" pitchFamily="34" charset="0"/>
                <a:ea typeface="Source Code Pro" pitchFamily="34" charset="-122"/>
                <a:cs typeface="Source Code Pro" pitchFamily="34" charset="-120"/>
              </a:rPr>
              <a:t>db.inventory.insertMany([ { sku:"A1", qty:50 }, { sku:"B3", qty:20 } ])</a:t>
            </a:r>
            <a:endParaRPr lang="en-US" sz="1100" dirty="0"/>
          </a:p>
          <a:p>
            <a:pPr indent="0" marL="0">
              <a:buNone/>
            </a:pP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async function placeOrder(client, custId, items)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const session = client.startSession();</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session.startTransaction({ readConcern:{level:"snapshot"}, writeConcern:{w:"majority"}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try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const db = client.db("shop");</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1. Check &amp; deduct inventory (compare-and-swap)</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for (const item of items)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const res = await db.collection("inventory").updateOne(</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sku:item.sku, qty:{ $gte:item.qty } },  // only if enough stock</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$inc:{ qty:-item.qty } }, { session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if (res.matchedCount === 0) throw new Error(`Insufficient stock: ${item.sku}`);</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2. Create order</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const total = items.reduce((s,i)=&gt;s+i.qty*i.price, 0);</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const orderId = new ObjectId();</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await db.collection("orders").insertOne(</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_id:orderId, custId, items, total, status:"pending", createdAt:new Date() }, { session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3. Audit log</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await db.collection("auditLog").insertOne(</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action:"order_placed", orderId, custId, total, ts:new Date() }, { session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await session.commitTransaction();</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return orderId;</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catch(err)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await session.abortTransaction();  // ALL 3 operations rolled back</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throw err;</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  } finally { session.endSession(); }</a:t>
            </a:r>
            <a:endParaRPr lang="en-US" sz="1100" dirty="0"/>
          </a:p>
          <a:p>
            <a:pPr indent="0" marL="0">
              <a:buNone/>
            </a:pPr>
            <a:r>
              <a:rPr lang="en-US" sz="1100" dirty="0">
                <a:solidFill>
                  <a:srgbClr val="00ED64"/>
                </a:solidFill>
                <a:latin typeface="Source Code Pro" pitchFamily="34" charset="0"/>
                <a:ea typeface="Source Code Pro" pitchFamily="34" charset="-122"/>
                <a:cs typeface="Source Code Pro" pitchFamily="34" charset="-120"/>
              </a:rPr>
              <a: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MongoDB for Relational Developers</dc:title>
  <dc:subject>PptxGenJS Presentation</dc:subject>
  <dc:creator>PptxGenJS</dc:creator>
  <cp:lastModifiedBy>PptxGenJS</cp:lastModifiedBy>
  <cp:revision>1</cp:revision>
  <dcterms:created xsi:type="dcterms:W3CDTF">2026-05-04T07:58:06Z</dcterms:created>
  <dcterms:modified xsi:type="dcterms:W3CDTF">2026-05-04T07:58:06Z</dcterms:modified>
</cp:coreProperties>
</file>